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69" r:id="rId3"/>
    <p:sldId id="283" r:id="rId4"/>
    <p:sldId id="277" r:id="rId5"/>
    <p:sldId id="258" r:id="rId6"/>
    <p:sldId id="259" r:id="rId7"/>
    <p:sldId id="260" r:id="rId8"/>
    <p:sldId id="278" r:id="rId9"/>
    <p:sldId id="286" r:id="rId10"/>
    <p:sldId id="261" r:id="rId11"/>
    <p:sldId id="279" r:id="rId12"/>
    <p:sldId id="280" r:id="rId13"/>
    <p:sldId id="281" r:id="rId14"/>
    <p:sldId id="268" r:id="rId15"/>
    <p:sldId id="282" r:id="rId16"/>
    <p:sldId id="270" r:id="rId17"/>
    <p:sldId id="275" r:id="rId18"/>
    <p:sldId id="271" r:id="rId19"/>
    <p:sldId id="272" r:id="rId20"/>
    <p:sldId id="264" r:id="rId21"/>
    <p:sldId id="284" r:id="rId22"/>
    <p:sldId id="285" r:id="rId23"/>
    <p:sldId id="273" r:id="rId24"/>
    <p:sldId id="267"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81EE640-4DE5-9F10-1189-9AEEBEE2237E}">
          <p14:sldIdLst>
            <p14:sldId id="256"/>
            <p14:sldId id="269"/>
          </p14:sldIdLst>
        </p14:section>
        <p14:section name="Why code" id="{DDFE9582-CC59-63DD-5F81-2456FFF9875A}">
          <p14:sldIdLst>
            <p14:sldId id="283"/>
            <p14:sldId id="277"/>
            <p14:sldId id="258"/>
            <p14:sldId id="259"/>
            <p14:sldId id="260"/>
            <p14:sldId id="278"/>
            <p14:sldId id="286"/>
            <p14:sldId id="261"/>
            <p14:sldId id="279"/>
            <p14:sldId id="280"/>
            <p14:sldId id="281"/>
            <p14:sldId id="268"/>
            <p14:sldId id="282"/>
          </p14:sldIdLst>
        </p14:section>
        <p14:section name="Task 1" id="{A22FB74C-C335-95AA-73DF-6E6628EDA5FF}">
          <p14:sldIdLst>
            <p14:sldId id="270"/>
            <p14:sldId id="275"/>
            <p14:sldId id="271"/>
          </p14:sldIdLst>
        </p14:section>
        <p14:section name="Task 2" id="{9939655A-0143-3D7A-EC23-470BC106190F}">
          <p14:sldIdLst>
            <p14:sldId id="272"/>
            <p14:sldId id="264"/>
            <p14:sldId id="284"/>
            <p14:sldId id="285"/>
          </p14:sldIdLst>
        </p14:section>
        <p14:section name="Close" id="{CD8627E6-3FC5-14FC-89E1-71DD504B2D4C}">
          <p14:sldIdLst>
            <p14:sldId id="273"/>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219" autoAdjust="0"/>
  </p:normalViewPr>
  <p:slideViewPr>
    <p:cSldViewPr snapToGrid="0" snapToObjects="1">
      <p:cViewPr varScale="1">
        <p:scale>
          <a:sx n="93" d="100"/>
          <a:sy n="93" d="100"/>
        </p:scale>
        <p:origin x="11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cked"/>
        <c:varyColors val="0"/>
        <c:ser>
          <c:idx val="0"/>
          <c:order val="0"/>
          <c:tx>
            <c:strRef>
              <c:f>Sheet1!$B$1</c:f>
              <c:strCache>
                <c:ptCount val="1"/>
                <c:pt idx="0">
                  <c:v>Grid</c:v>
                </c:pt>
              </c:strCache>
            </c:strRef>
          </c:tx>
          <c:spPr>
            <a:solidFill>
              <a:srgbClr val="72D9F0"/>
            </a:solidFill>
            <a:effectLst/>
          </c:spP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0.32</c:v>
                </c:pt>
                <c:pt idx="1">
                  <c:v>0.32</c:v>
                </c:pt>
                <c:pt idx="2">
                  <c:v>0.32</c:v>
                </c:pt>
                <c:pt idx="3">
                  <c:v>0.32</c:v>
                </c:pt>
                <c:pt idx="4">
                  <c:v>0.32</c:v>
                </c:pt>
                <c:pt idx="5">
                  <c:v>0.33</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extLst>
            <c:ext xmlns:c16="http://schemas.microsoft.com/office/drawing/2014/chart" uri="{C3380CC4-5D6E-409C-BE32-E72D297353CC}">
              <c16:uniqueId val="{00000000-D5F6-4806-9598-EA2054AECDFA}"/>
            </c:ext>
          </c:extLst>
        </c:ser>
        <c:ser>
          <c:idx val="1"/>
          <c:order val="1"/>
          <c:tx>
            <c:strRef>
              <c:f>Sheet1!$C$1</c:f>
              <c:strCache>
                <c:ptCount val="1"/>
                <c:pt idx="0">
                  <c:v>Solar</c:v>
                </c:pt>
              </c:strCache>
            </c:strRef>
          </c:tx>
          <c:spPr>
            <a:solidFill>
              <a:srgbClr val="FCC642"/>
            </a:solidFill>
            <a:effectLst/>
          </c:spP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Sheet1!$C$2:$C$25</c:f>
              <c:numCache>
                <c:formatCode>General</c:formatCode>
                <c:ptCount val="24"/>
                <c:pt idx="0">
                  <c:v>0</c:v>
                </c:pt>
                <c:pt idx="1">
                  <c:v>0</c:v>
                </c:pt>
                <c:pt idx="2">
                  <c:v>0</c:v>
                </c:pt>
                <c:pt idx="3">
                  <c:v>0</c:v>
                </c:pt>
                <c:pt idx="4">
                  <c:v>0</c:v>
                </c:pt>
                <c:pt idx="5">
                  <c:v>0</c:v>
                </c:pt>
                <c:pt idx="6">
                  <c:v>0.47</c:v>
                </c:pt>
                <c:pt idx="7">
                  <c:v>0.79</c:v>
                </c:pt>
                <c:pt idx="8">
                  <c:v>0.79</c:v>
                </c:pt>
                <c:pt idx="9">
                  <c:v>0.59</c:v>
                </c:pt>
                <c:pt idx="10">
                  <c:v>0.45</c:v>
                </c:pt>
                <c:pt idx="11">
                  <c:v>0.44</c:v>
                </c:pt>
                <c:pt idx="12">
                  <c:v>0.44</c:v>
                </c:pt>
                <c:pt idx="13">
                  <c:v>0.44</c:v>
                </c:pt>
                <c:pt idx="14">
                  <c:v>0.44</c:v>
                </c:pt>
                <c:pt idx="15">
                  <c:v>0.46</c:v>
                </c:pt>
                <c:pt idx="16">
                  <c:v>0.59</c:v>
                </c:pt>
                <c:pt idx="17">
                  <c:v>0.84</c:v>
                </c:pt>
                <c:pt idx="18">
                  <c:v>1.22</c:v>
                </c:pt>
                <c:pt idx="19">
                  <c:v>0.62</c:v>
                </c:pt>
                <c:pt idx="20">
                  <c:v>0</c:v>
                </c:pt>
                <c:pt idx="21">
                  <c:v>0</c:v>
                </c:pt>
                <c:pt idx="22">
                  <c:v>0</c:v>
                </c:pt>
                <c:pt idx="23">
                  <c:v>0</c:v>
                </c:pt>
              </c:numCache>
            </c:numRef>
          </c:val>
          <c:extLst>
            <c:ext xmlns:c16="http://schemas.microsoft.com/office/drawing/2014/chart" uri="{C3380CC4-5D6E-409C-BE32-E72D297353CC}">
              <c16:uniqueId val="{00000001-D5F6-4806-9598-EA2054AECDFA}"/>
            </c:ext>
          </c:extLst>
        </c:ser>
        <c:ser>
          <c:idx val="2"/>
          <c:order val="2"/>
          <c:tx>
            <c:strRef>
              <c:f>Sheet1!$D$1</c:f>
              <c:strCache>
                <c:ptCount val="1"/>
                <c:pt idx="0">
                  <c:v>Battery</c:v>
                </c:pt>
              </c:strCache>
            </c:strRef>
          </c:tx>
          <c:spPr>
            <a:solidFill>
              <a:srgbClr val="A5CF27"/>
            </a:solidFill>
            <a:effectLst/>
          </c:spP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Sheet1!$D$2:$D$25</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7.0000000000000007E-2</c:v>
                </c:pt>
                <c:pt idx="19">
                  <c:v>0.67</c:v>
                </c:pt>
                <c:pt idx="20">
                  <c:v>0.84</c:v>
                </c:pt>
                <c:pt idx="21">
                  <c:v>0.47</c:v>
                </c:pt>
                <c:pt idx="22">
                  <c:v>0.34</c:v>
                </c:pt>
                <c:pt idx="23">
                  <c:v>0.32</c:v>
                </c:pt>
              </c:numCache>
            </c:numRef>
          </c:val>
          <c:extLst>
            <c:ext xmlns:c16="http://schemas.microsoft.com/office/drawing/2014/chart" uri="{C3380CC4-5D6E-409C-BE32-E72D297353CC}">
              <c16:uniqueId val="{00000002-D5F6-4806-9598-EA2054AECDFA}"/>
            </c:ext>
          </c:extLst>
        </c:ser>
        <c:dLbls>
          <c:showLegendKey val="0"/>
          <c:showVal val="0"/>
          <c:showCatName val="0"/>
          <c:showSerName val="0"/>
          <c:showPercent val="0"/>
          <c:showBubbleSize val="0"/>
        </c:dLbls>
        <c:axId val="2094734554"/>
        <c:axId val="2094734552"/>
      </c:area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16191F"/>
        </a:solidFill>
        <a:ln>
          <a:noFill/>
        </a:ln>
        <a:effectLst/>
      </c:spPr>
    </c:plotArea>
    <c:plotVisOnly val="1"/>
    <c:dispBlanksAs val="span"/>
    <c:showDLblsOverMax val="1"/>
  </c:chart>
  <c:spPr>
    <a:solidFill>
      <a:srgbClr val="16191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cked"/>
        <c:varyColors val="0"/>
        <c:ser>
          <c:idx val="0"/>
          <c:order val="0"/>
          <c:tx>
            <c:strRef>
              <c:f>Sheet1!$B$1</c:f>
              <c:strCache>
                <c:ptCount val="1"/>
                <c:pt idx="0">
                  <c:v>Grid import</c:v>
                </c:pt>
              </c:strCache>
            </c:strRef>
          </c:tx>
          <c:spPr>
            <a:solidFill>
              <a:srgbClr val="72D9F0"/>
            </a:solidFill>
            <a:effectLst/>
          </c:spP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0.32</c:v>
                </c:pt>
                <c:pt idx="1">
                  <c:v>0.32</c:v>
                </c:pt>
                <c:pt idx="2">
                  <c:v>0.32</c:v>
                </c:pt>
                <c:pt idx="3">
                  <c:v>0.32</c:v>
                </c:pt>
                <c:pt idx="4">
                  <c:v>0.32</c:v>
                </c:pt>
                <c:pt idx="5">
                  <c:v>0.33</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extLst>
            <c:ext xmlns:c16="http://schemas.microsoft.com/office/drawing/2014/chart" uri="{C3380CC4-5D6E-409C-BE32-E72D297353CC}">
              <c16:uniqueId val="{00000000-70B5-4DD5-8974-36A7C6F29E87}"/>
            </c:ext>
          </c:extLst>
        </c:ser>
        <c:ser>
          <c:idx val="1"/>
          <c:order val="1"/>
          <c:tx>
            <c:strRef>
              <c:f>Sheet1!$C$1</c:f>
              <c:strCache>
                <c:ptCount val="1"/>
                <c:pt idx="0">
                  <c:v>Solar used directly</c:v>
                </c:pt>
              </c:strCache>
            </c:strRef>
          </c:tx>
          <c:spPr>
            <a:solidFill>
              <a:srgbClr val="FCC642"/>
            </a:solidFill>
            <a:effectLst/>
          </c:spP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Sheet1!$C$2:$C$25</c:f>
              <c:numCache>
                <c:formatCode>General</c:formatCode>
                <c:ptCount val="24"/>
                <c:pt idx="0">
                  <c:v>0</c:v>
                </c:pt>
                <c:pt idx="1">
                  <c:v>0</c:v>
                </c:pt>
                <c:pt idx="2">
                  <c:v>0</c:v>
                </c:pt>
                <c:pt idx="3">
                  <c:v>0</c:v>
                </c:pt>
                <c:pt idx="4">
                  <c:v>0</c:v>
                </c:pt>
                <c:pt idx="5">
                  <c:v>0</c:v>
                </c:pt>
                <c:pt idx="6">
                  <c:v>0.47</c:v>
                </c:pt>
                <c:pt idx="7">
                  <c:v>0.79</c:v>
                </c:pt>
                <c:pt idx="8">
                  <c:v>0.79</c:v>
                </c:pt>
                <c:pt idx="9">
                  <c:v>0.59</c:v>
                </c:pt>
                <c:pt idx="10">
                  <c:v>0.45</c:v>
                </c:pt>
                <c:pt idx="11">
                  <c:v>0.44</c:v>
                </c:pt>
                <c:pt idx="12">
                  <c:v>0.44</c:v>
                </c:pt>
                <c:pt idx="13">
                  <c:v>0.44</c:v>
                </c:pt>
                <c:pt idx="14">
                  <c:v>0.44</c:v>
                </c:pt>
                <c:pt idx="15">
                  <c:v>0.46</c:v>
                </c:pt>
                <c:pt idx="16">
                  <c:v>0.59</c:v>
                </c:pt>
                <c:pt idx="17">
                  <c:v>0.84</c:v>
                </c:pt>
                <c:pt idx="18">
                  <c:v>1.22</c:v>
                </c:pt>
                <c:pt idx="19">
                  <c:v>0.62</c:v>
                </c:pt>
                <c:pt idx="20">
                  <c:v>0</c:v>
                </c:pt>
                <c:pt idx="21">
                  <c:v>0</c:v>
                </c:pt>
                <c:pt idx="22">
                  <c:v>0</c:v>
                </c:pt>
                <c:pt idx="23">
                  <c:v>0</c:v>
                </c:pt>
              </c:numCache>
            </c:numRef>
          </c:val>
          <c:extLst>
            <c:ext xmlns:c16="http://schemas.microsoft.com/office/drawing/2014/chart" uri="{C3380CC4-5D6E-409C-BE32-E72D297353CC}">
              <c16:uniqueId val="{00000001-70B5-4DD5-8974-36A7C6F29E87}"/>
            </c:ext>
          </c:extLst>
        </c:ser>
        <c:ser>
          <c:idx val="2"/>
          <c:order val="2"/>
          <c:tx>
            <c:strRef>
              <c:f>Sheet1!$D$1</c:f>
              <c:strCache>
                <c:ptCount val="1"/>
                <c:pt idx="0">
                  <c:v>Battery discharge</c:v>
                </c:pt>
              </c:strCache>
            </c:strRef>
          </c:tx>
          <c:spPr>
            <a:solidFill>
              <a:srgbClr val="A5CF27"/>
            </a:solidFill>
            <a:effectLst/>
          </c:spP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Sheet1!$D$2:$D$25</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7.0000000000000007E-2</c:v>
                </c:pt>
                <c:pt idx="19">
                  <c:v>0.67</c:v>
                </c:pt>
                <c:pt idx="20">
                  <c:v>0.84</c:v>
                </c:pt>
                <c:pt idx="21">
                  <c:v>0.47</c:v>
                </c:pt>
                <c:pt idx="22">
                  <c:v>0.34</c:v>
                </c:pt>
                <c:pt idx="23">
                  <c:v>0.32</c:v>
                </c:pt>
              </c:numCache>
            </c:numRef>
          </c:val>
          <c:extLst>
            <c:ext xmlns:c16="http://schemas.microsoft.com/office/drawing/2014/chart" uri="{C3380CC4-5D6E-409C-BE32-E72D297353CC}">
              <c16:uniqueId val="{00000002-70B5-4DD5-8974-36A7C6F29E87}"/>
            </c:ext>
          </c:extLst>
        </c:ser>
        <c:dLbls>
          <c:showLegendKey val="0"/>
          <c:showVal val="0"/>
          <c:showCatName val="0"/>
          <c:showSerName val="0"/>
          <c:showPercent val="0"/>
          <c:showBubbleSize val="0"/>
        </c:dLbls>
        <c:axId val="2094734554"/>
        <c:axId val="2094734552"/>
      </c:areaChart>
      <c:catAx>
        <c:axId val="2094734554"/>
        <c:scaling>
          <c:orientation val="minMax"/>
        </c:scaling>
        <c:delete val="0"/>
        <c:axPos val="b"/>
        <c:numFmt formatCode="General" sourceLinked="1"/>
        <c:majorTickMark val="out"/>
        <c:minorTickMark val="none"/>
        <c:tickLblPos val="low"/>
        <c:spPr>
          <a:ln w="12700" cap="flat">
            <a:solidFill>
              <a:srgbClr val="3E434E"/>
            </a:solidFill>
            <a:prstDash val="solid"/>
            <a:round/>
          </a:ln>
        </c:spPr>
        <c:txPr>
          <a:bodyPr/>
          <a:lstStyle/>
          <a:p>
            <a:pPr>
              <a:defRPr sz="900" b="0" i="0" u="none" strike="noStrike">
                <a:solidFill>
                  <a:srgbClr val="A9AFBA"/>
                </a:solidFill>
                <a:latin typeface="+mn-lt"/>
              </a:defRPr>
            </a:pPr>
            <a:endParaRPr lang="en-US"/>
          </a:p>
        </c:txPr>
        <c:crossAx val="2094734552"/>
        <c:crosses val="autoZero"/>
        <c:auto val="1"/>
        <c:lblAlgn val="ctr"/>
        <c:lblOffset val="100"/>
        <c:tickLblSkip val="3"/>
        <c:noMultiLvlLbl val="1"/>
      </c:catAx>
      <c:valAx>
        <c:axId val="2094734552"/>
        <c:scaling>
          <c:orientation val="minMax"/>
          <c:max val="2"/>
        </c:scaling>
        <c:delete val="0"/>
        <c:axPos val="l"/>
        <c:majorGridlines>
          <c:spPr>
            <a:ln w="6350" cap="flat">
              <a:solidFill>
                <a:srgbClr val="3E434E"/>
              </a:solidFill>
              <a:prstDash val="solid"/>
              <a:round/>
            </a:ln>
          </c:spPr>
        </c:majorGridlines>
        <c:title>
          <c:tx>
            <c:rich>
              <a:bodyPr/>
              <a:lstStyle/>
              <a:p>
                <a:pPr>
                  <a:defRPr sz="900" b="0" i="0" u="none" strike="noStrike">
                    <a:solidFill>
                      <a:srgbClr val="A9AFBA"/>
                    </a:solidFill>
                    <a:latin typeface="Arial"/>
                  </a:defRPr>
                </a:pPr>
                <a:r>
                  <a:rPr lang="en-GB" sz="900" b="0" i="0" u="none" strike="noStrike">
                    <a:solidFill>
                      <a:srgbClr val="A9AFBA"/>
                    </a:solidFill>
                    <a:latin typeface="Arial"/>
                  </a:rPr>
                  <a:t>kW</a:t>
                </a:r>
              </a:p>
            </c:rich>
          </c:tx>
          <c:overlay val="0"/>
        </c:title>
        <c:numFmt formatCode="0.0" sourceLinked="0"/>
        <c:majorTickMark val="out"/>
        <c:minorTickMark val="none"/>
        <c:tickLblPos val="nextTo"/>
        <c:spPr>
          <a:ln w="12700" cap="flat">
            <a:noFill/>
            <a:prstDash val="solid"/>
            <a:round/>
          </a:ln>
        </c:spPr>
        <c:txPr>
          <a:bodyPr/>
          <a:lstStyle/>
          <a:p>
            <a:pPr>
              <a:defRPr sz="900" b="0" i="0" u="none" strike="noStrike">
                <a:solidFill>
                  <a:srgbClr val="A9AFBA"/>
                </a:solidFill>
                <a:latin typeface="+mn-lt"/>
              </a:defRPr>
            </a:pPr>
            <a:endParaRPr lang="en-US"/>
          </a:p>
        </c:txPr>
        <c:crossAx val="2094734554"/>
        <c:crosses val="autoZero"/>
        <c:crossBetween val="between"/>
        <c:majorUnit val="0.5"/>
      </c:valAx>
      <c:spPr>
        <a:solidFill>
          <a:srgbClr val="2E323B"/>
        </a:solidFill>
        <a:ln>
          <a:noFill/>
        </a:ln>
        <a:effectLst/>
      </c:spPr>
    </c:plotArea>
    <c:legend>
      <c:legendPos val="t"/>
      <c:overlay val="0"/>
      <c:txPr>
        <a:bodyPr/>
        <a:lstStyle/>
        <a:p>
          <a:pPr>
            <a:defRPr sz="900">
              <a:solidFill>
                <a:srgbClr val="E7E7E7"/>
              </a:solidFill>
              <a:latin typeface="+mn-lt"/>
              <a:cs typeface="+mn-lt"/>
            </a:defRPr>
          </a:pPr>
          <a:endParaRPr lang="en-US"/>
        </a:p>
      </c:txPr>
    </c:legend>
    <c:plotVisOnly val="1"/>
    <c:dispBlanksAs val="span"/>
    <c:showDLblsOverMax val="1"/>
  </c:chart>
  <c:spPr>
    <a:solidFill>
      <a:srgbClr val="2E323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5971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Quick hello. I did this same MSc and graduated in 2024.</a:t>
            </a:r>
          </a:p>
          <a:p>
            <a:r>
              <a:rPr dirty="0"/>
              <a:t>Today I work across energy engineering, research and my own company, and Python is in almost everything I do. </a:t>
            </a:r>
            <a:r>
              <a:t>By the end of the session you will have run three small energy models yourselves: a home with solar and a battery, a power system with a carbon price, and rooftop solar on one of this university's own buildings. </a:t>
            </a:r>
            <a:r>
              <a:rPr dirty="0"/>
              <a:t>No coding experience needed.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hour is mostly me: why we code, what an energy model is, the tools and a short live demo, then ten minutes of practice so everyone has JupyterLab or Colab open and the first cell run.</a:t>
            </a:r>
          </a:p>
          <a:p>
            <a:r>
              <a:t>The second hour is yours: three tasks of about fifteen minutes each, in groups of three or four, then the class results, a short quiz and feedback.</a:t>
            </a:r>
          </a:p>
          <a:p>
            <a:r>
              <a:t>Roles: the Modeller runs the notebook, the Reviewer reads each step and checks the method, and the Reporter checks the numbers and fills in the form. In a group of four, the Second reviewer supports the Reviewer. Swap roles after each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5145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An energy system model is a simplified description of how energy is produced, stored, moved and used, written down precisely enough that a computer can calculate with it.</a:t>
            </a:r>
          </a:p>
          <a:p>
            <a:r>
              <a:rPr dirty="0"/>
              <a:t>It answers planning questions: how much solar or storage to build, when each power station runs, what the system costs and what it emits.</a:t>
            </a:r>
          </a:p>
          <a:p>
            <a:r>
              <a:rPr dirty="0"/>
              <a:t>Two families. Simulation applies fixed rules and shows what happens: our battery in Task 1 charges when there is spare solar. </a:t>
            </a:r>
            <a:r>
              <a:rPr dirty="0" err="1"/>
              <a:t>Optimisation</a:t>
            </a:r>
            <a:r>
              <a:rPr dirty="0"/>
              <a:t> searches for the best answer under constraints: in Task 2, </a:t>
            </a:r>
            <a:r>
              <a:rPr dirty="0" err="1"/>
              <a:t>PyPSA</a:t>
            </a:r>
            <a:r>
              <a:rPr dirty="0"/>
              <a:t> finds the cheapest way to meet demand in every hour.</a:t>
            </a:r>
          </a:p>
          <a:p>
            <a:r>
              <a:rPr dirty="0"/>
              <a:t>The same ideas work at every scale, from a single home to the whole European grid.</a:t>
            </a:r>
          </a:p>
          <a:p>
            <a:endParaRPr lang="en-US" b="1" smtClean="0"/>
          </a:p>
          <a:p>
            <a:r>
              <a:rPr b="1" smtClean="0"/>
              <a:t>Key </a:t>
            </a:r>
            <a:r>
              <a:rPr b="1" dirty="0"/>
              <a:t>message: every model simplifies, so always ask which assumptions drive the result</a:t>
            </a:r>
            <a:r>
              <a:rPr dirty="0"/>
              <a:t>.</a:t>
            </a:r>
          </a:p>
          <a:p>
            <a:endParaRPr lang="en-US" b="1" dirty="0" smtClean="0"/>
          </a:p>
          <a:p>
            <a:r>
              <a:rPr b="1" dirty="0" smtClean="0"/>
              <a:t>Point </a:t>
            </a:r>
            <a:r>
              <a:rPr b="1" dirty="0"/>
              <a:t>to the box: </a:t>
            </a:r>
            <a:r>
              <a:rPr dirty="0"/>
              <a:t>data and assumptions go in, the model calculates, and the results answer the planning questions in point 01: how much capacity, when it runs, what it costs and what it emits.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980805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There are many energy modelling tools. Four examples:</a:t>
            </a:r>
          </a:p>
          <a:p>
            <a:r>
              <a:rPr b="1" dirty="0" err="1"/>
              <a:t>PyPSA</a:t>
            </a:r>
            <a:r>
              <a:rPr b="1" dirty="0"/>
              <a:t>, which we use today: </a:t>
            </a:r>
            <a:r>
              <a:rPr dirty="0"/>
              <a:t>Python, open source, for power systems and sector-coupled systems.</a:t>
            </a:r>
          </a:p>
          <a:p>
            <a:r>
              <a:rPr b="1" dirty="0" err="1"/>
              <a:t>oemof</a:t>
            </a:r>
            <a:r>
              <a:rPr b="1" dirty="0"/>
              <a:t>, the Open Energy Modelling Framework: </a:t>
            </a:r>
            <a:r>
              <a:rPr dirty="0"/>
              <a:t>also Python, a flexible toolbox for building energy system models.</a:t>
            </a:r>
          </a:p>
          <a:p>
            <a:r>
              <a:rPr b="1" dirty="0"/>
              <a:t>Calliope: </a:t>
            </a:r>
            <a:r>
              <a:rPr dirty="0"/>
              <a:t>Python, with models described in simple text files, designed for multi-scale studies.</a:t>
            </a:r>
          </a:p>
          <a:p>
            <a:r>
              <a:rPr b="1" dirty="0"/>
              <a:t>PLEXOS: </a:t>
            </a:r>
            <a:r>
              <a:rPr dirty="0"/>
              <a:t>commercial software widely used by utilities and consultancies for market and dispatch studies.</a:t>
            </a:r>
          </a:p>
          <a:p>
            <a:endParaRPr lang="en-US" dirty="0" smtClean="0"/>
          </a:p>
          <a:p>
            <a:r>
              <a:rPr b="1" dirty="0" smtClean="0"/>
              <a:t>Why </a:t>
            </a:r>
            <a:r>
              <a:rPr b="1" dirty="0"/>
              <a:t>open source matters in research: </a:t>
            </a:r>
            <a:r>
              <a:rPr dirty="0"/>
              <a:t>anyone can inspect the code, check the assumptions and reproduce the results. That is good scientific practice, and it is free to learn.</a:t>
            </a:r>
          </a:p>
          <a:p>
            <a:r>
              <a:rPr dirty="0"/>
              <a:t>If asked about TIMES: a long-term planning framework from the IEA's ETSAP </a:t>
            </a:r>
            <a:r>
              <a:rPr dirty="0" err="1"/>
              <a:t>programme</a:t>
            </a:r>
            <a:r>
              <a:rPr dirty="0"/>
              <a:t>, used for national energy strategies.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728638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write code at all, when a spreadsheet can hold a year of data? Ask the room: who has built an energy calculation in Excel? Keep that in mind for the next slide.</a:t>
            </a:r>
          </a:p>
          <a:p>
            <a:r>
              <a:t>The short answer: once thousands of hours meet several assets and many scenarios, code keeps every assumption visible and lets you rerun everything in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 year is 8,760 hours.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Add a few components and a few scenarios and you’re at 350,000 numbers.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Excel can store that, but it can’t reliably </a:t>
            </a:r>
            <a:r>
              <a:rPr lang="en-US" dirty="0" err="1" smtClean="0"/>
              <a:t>optimise</a:t>
            </a:r>
            <a:r>
              <a:rPr lang="en-US" dirty="0" smtClean="0"/>
              <a:t> it: Excel’s built-in Solver is limited to 200 decision variables, and our battery model has thousands.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The bigger point is repeatability. With code you change one line and rerun everything.</a:t>
            </a:r>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smtClean="0"/>
              <a:t>If asked “why not Excel?”:</a:t>
            </a:r>
            <a:r>
              <a:rPr lang="en-US" b="1" dirty="0" smtClean="0"/>
              <a:t> </a:t>
            </a:r>
            <a:r>
              <a:rPr lang="en-US" dirty="0" smtClean="0"/>
              <a:t>fine for quick checks. It’s error-prone at scale, hard to audit, and can’t solve real </a:t>
            </a:r>
            <a:r>
              <a:rPr lang="en-US" dirty="0" err="1" smtClean="0"/>
              <a:t>optimisation</a:t>
            </a:r>
            <a:r>
              <a:rPr lang="en-US" dirty="0" smtClean="0"/>
              <a:t> problems.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a:t>
            </a:r>
            <a:r>
              <a:rPr dirty="0" err="1"/>
              <a:t>PyPSA</a:t>
            </a:r>
            <a:r>
              <a:rPr dirty="0"/>
              <a:t> model follows four steps. Task 2 uses all four; Tasks 1 and 3 use the data and results steps with a simple rule in place of the </a:t>
            </a:r>
            <a:r>
              <a:rPr dirty="0" err="1"/>
              <a:t>optimiser</a:t>
            </a:r>
            <a:r>
              <a:rPr dirty="0"/>
              <a:t>.</a:t>
            </a:r>
          </a:p>
          <a:p>
            <a:r>
              <a:rPr dirty="0"/>
              <a:t>Data comes in as a table, using pandas.</a:t>
            </a:r>
          </a:p>
          <a:p>
            <a:endParaRPr lang="en-US" b="1" dirty="0" smtClean="0"/>
          </a:p>
          <a:p>
            <a:r>
              <a:rPr b="1" dirty="0" smtClean="0"/>
              <a:t>We </a:t>
            </a:r>
            <a:r>
              <a:rPr b="1" dirty="0"/>
              <a:t>describe the system: </a:t>
            </a:r>
            <a:r>
              <a:rPr dirty="0"/>
              <a:t>buses, generators, storage, load. That is </a:t>
            </a:r>
            <a:r>
              <a:rPr dirty="0" err="1"/>
              <a:t>PyPSA</a:t>
            </a:r>
            <a:r>
              <a:rPr dirty="0"/>
              <a:t>.</a:t>
            </a:r>
          </a:p>
          <a:p>
            <a:endParaRPr lang="en-US" dirty="0" smtClean="0"/>
          </a:p>
          <a:p>
            <a:r>
              <a:rPr dirty="0" smtClean="0"/>
              <a:t>A </a:t>
            </a:r>
            <a:r>
              <a:rPr dirty="0"/>
              <a:t>solver finds the cheapest way to meet demand every hour. </a:t>
            </a:r>
            <a:r>
              <a:rPr dirty="0" err="1"/>
              <a:t>HiGHS</a:t>
            </a:r>
            <a:r>
              <a:rPr dirty="0"/>
              <a:t> is a free, open-source solver; </a:t>
            </a:r>
            <a:r>
              <a:rPr dirty="0" err="1"/>
              <a:t>linopy</a:t>
            </a:r>
            <a:r>
              <a:rPr dirty="0"/>
              <a:t> is the layer that writes the </a:t>
            </a:r>
            <a:r>
              <a:rPr dirty="0" err="1"/>
              <a:t>maths</a:t>
            </a:r>
            <a:r>
              <a:rPr dirty="0"/>
              <a:t> for it.</a:t>
            </a:r>
          </a:p>
          <a:p>
            <a:r>
              <a:rPr dirty="0"/>
              <a:t>We get results: who generated what, prices, costs, emissions.</a:t>
            </a:r>
          </a:p>
          <a:p>
            <a:endParaRPr lang="en-US" dirty="0" smtClean="0"/>
          </a:p>
          <a:p>
            <a:pPr rtl="0"/>
            <a:r>
              <a:rPr lang="en-US" b="1" dirty="0" smtClean="0"/>
              <a:t>pandas:</a:t>
            </a:r>
            <a:r>
              <a:rPr lang="en-US" dirty="0" smtClean="0"/>
              <a:t> Python’s standard library for tables and time series. It loads our hourly data, here 8,760 rows of demand and solar, and lets us filter, sum and plot it.</a:t>
            </a:r>
          </a:p>
          <a:p>
            <a:pPr rtl="0"/>
            <a:r>
              <a:rPr lang="en-US" b="1" dirty="0" err="1" smtClean="0"/>
              <a:t>PyPSA</a:t>
            </a:r>
            <a:r>
              <a:rPr lang="en-US" b="1" dirty="0" smtClean="0"/>
              <a:t>:</a:t>
            </a:r>
            <a:r>
              <a:rPr lang="en-US" dirty="0" smtClean="0"/>
              <a:t> describes the energy system as components (buses, generators, storage, loads) and sets up the model from them.</a:t>
            </a:r>
          </a:p>
          <a:p>
            <a:pPr rtl="0"/>
            <a:r>
              <a:rPr lang="en-US" b="1" dirty="0" err="1" smtClean="0"/>
              <a:t>linopy</a:t>
            </a:r>
            <a:r>
              <a:rPr lang="en-US" b="1" dirty="0" smtClean="0"/>
              <a:t>:</a:t>
            </a:r>
            <a:r>
              <a:rPr lang="en-US" dirty="0" smtClean="0"/>
              <a:t> the layer under </a:t>
            </a:r>
            <a:r>
              <a:rPr lang="en-US" dirty="0" err="1" smtClean="0"/>
              <a:t>PyPSA</a:t>
            </a:r>
            <a:r>
              <a:rPr lang="en-US" dirty="0" smtClean="0"/>
              <a:t> that turns the model into a mathematical </a:t>
            </a:r>
            <a:r>
              <a:rPr lang="en-US" dirty="0" err="1" smtClean="0"/>
              <a:t>optimisation</a:t>
            </a:r>
            <a:r>
              <a:rPr lang="en-US" dirty="0" smtClean="0"/>
              <a:t> problem: variables, constraints and a cost to </a:t>
            </a:r>
            <a:r>
              <a:rPr lang="en-US" dirty="0" err="1" smtClean="0"/>
              <a:t>minimise</a:t>
            </a:r>
            <a:r>
              <a:rPr lang="en-US" dirty="0" smtClean="0"/>
              <a:t>.</a:t>
            </a:r>
          </a:p>
          <a:p>
            <a:pPr rtl="0"/>
            <a:r>
              <a:rPr lang="en-US" b="1" dirty="0" err="1" smtClean="0"/>
              <a:t>HiGHS</a:t>
            </a:r>
            <a:r>
              <a:rPr lang="en-US" b="1" dirty="0" smtClean="0"/>
              <a:t>:</a:t>
            </a:r>
            <a:r>
              <a:rPr lang="en-US" dirty="0" smtClean="0"/>
              <a:t> a free, open-source solver developed at the University of Edinburgh. It solves that problem and finds the cheapest way to meet demand in every hour.</a:t>
            </a:r>
          </a:p>
          <a:p>
            <a:pPr rtl="0"/>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smtClean="0"/>
              <a:t>If asked about other tools: </a:t>
            </a:r>
            <a:r>
              <a:rPr lang="en-US" dirty="0" err="1" smtClean="0"/>
              <a:t>oemof</a:t>
            </a:r>
            <a:r>
              <a:rPr lang="en-US" dirty="0" smtClean="0"/>
              <a:t>, Calliope and </a:t>
            </a:r>
            <a:r>
              <a:rPr lang="en-US" dirty="0" err="1" smtClean="0"/>
              <a:t>pandapower</a:t>
            </a:r>
            <a:r>
              <a:rPr lang="en-US" dirty="0" smtClean="0"/>
              <a:t> do similar jobs. </a:t>
            </a:r>
            <a:r>
              <a:rPr lang="en-US" dirty="0" err="1" smtClean="0"/>
              <a:t>PyPSA</a:t>
            </a:r>
            <a:r>
              <a:rPr lang="en-US" smtClean="0"/>
              <a:t> is widely used in research and industry, and it is the one I used in my published paper.</a:t>
            </a:r>
          </a:p>
          <a:p>
            <a:pPr rtl="0"/>
            <a:endParaRPr lang="en-US" dirty="0" smtClean="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PyPSA</a:t>
            </a:r>
            <a:r>
              <a:rPr dirty="0"/>
              <a:t> stands for Python for Power System Analysis. It is open source under the MIT </a:t>
            </a:r>
            <a:r>
              <a:rPr dirty="0" err="1"/>
              <a:t>licence</a:t>
            </a:r>
            <a:r>
              <a:rPr dirty="0"/>
              <a:t>, and is developed by an open community; Open Energy Transition and TU Berlin are among the main contributors.</a:t>
            </a:r>
          </a:p>
          <a:p>
            <a:r>
              <a:rPr dirty="0"/>
              <a:t>The workflow has four steps. Build the network from components: buses are connection points, loads are demand, generators produce, storage shifts energy in time, lines move it between places. Add time series such as hourly demand and weather. Call </a:t>
            </a:r>
            <a:r>
              <a:rPr dirty="0" err="1"/>
              <a:t>n.optimize</a:t>
            </a:r>
            <a:r>
              <a:rPr dirty="0"/>
              <a:t>(), which hands the problem to a solver; we use </a:t>
            </a:r>
            <a:r>
              <a:rPr dirty="0" err="1"/>
              <a:t>HiGHS</a:t>
            </a:r>
            <a:r>
              <a:rPr dirty="0"/>
              <a:t>, which is also free. Then read the results: who generated what, prices, costs and emissions.</a:t>
            </a:r>
          </a:p>
          <a:p>
            <a:endParaRPr lang="en-US" b="1" dirty="0" smtClean="0"/>
          </a:p>
          <a:p>
            <a:r>
              <a:rPr b="1" dirty="0" smtClean="0"/>
              <a:t>Who </a:t>
            </a:r>
            <a:r>
              <a:rPr b="1" dirty="0"/>
              <a:t>uses it: </a:t>
            </a:r>
            <a:r>
              <a:rPr dirty="0"/>
              <a:t>the IEA in its Global Energy and Climate Model, ENTSO-E, grid operators such as Austrian Power Grid, and consultancies and think tanks. For Great Britain there is </a:t>
            </a:r>
            <a:r>
              <a:rPr dirty="0" err="1"/>
              <a:t>PyPSA</a:t>
            </a:r>
            <a:r>
              <a:rPr dirty="0"/>
              <a:t>-GB, published in Energy Strategy Reviews in 2024</a:t>
            </a:r>
            <a:r>
              <a:rPr dirty="0" smtClean="0"/>
              <a:t>.</a:t>
            </a:r>
            <a:endParaRPr lang="en-US" dirty="0" smtClean="0"/>
          </a:p>
          <a:p>
            <a:endParaRPr dirty="0"/>
          </a:p>
          <a:p>
            <a:r>
              <a:rPr b="1" i="1" dirty="0"/>
              <a:t>In Task 2 you will build a small version of exactly this.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930191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What can you actually do with </a:t>
            </a:r>
            <a:r>
              <a:rPr dirty="0" err="1"/>
              <a:t>PyPSA</a:t>
            </a:r>
            <a:r>
              <a:rPr dirty="0"/>
              <a:t>? Four things.</a:t>
            </a:r>
          </a:p>
          <a:p>
            <a:r>
              <a:rPr b="1" dirty="0"/>
              <a:t>Plan: </a:t>
            </a:r>
            <a:r>
              <a:rPr dirty="0"/>
              <a:t>capacity expansion. Give it costs and let the </a:t>
            </a:r>
            <a:r>
              <a:rPr dirty="0" err="1"/>
              <a:t>optimiser</a:t>
            </a:r>
            <a:r>
              <a:rPr dirty="0"/>
              <a:t> decide how much solar, wind, storage and grid to build. This is the question behind most net zero studies.</a:t>
            </a:r>
          </a:p>
          <a:p>
            <a:r>
              <a:rPr b="1" dirty="0"/>
              <a:t>Operate: </a:t>
            </a:r>
            <a:r>
              <a:rPr dirty="0"/>
              <a:t>dispatch. Given what is built, it schedules every generator and battery hour by hour and gives you prices, costs and emissions. Task 2 is a small version of this.</a:t>
            </a:r>
          </a:p>
          <a:p>
            <a:r>
              <a:rPr b="1" dirty="0"/>
              <a:t>Couple: </a:t>
            </a:r>
            <a:r>
              <a:rPr dirty="0"/>
              <a:t>sector coupling. Electricity can be linked to heat, transport and hydrogen, so you can model heat pumps, electric vehicles or </a:t>
            </a:r>
            <a:r>
              <a:rPr dirty="0" err="1"/>
              <a:t>electrolysers</a:t>
            </a:r>
            <a:r>
              <a:rPr dirty="0"/>
              <a:t> in the same system.</a:t>
            </a:r>
          </a:p>
          <a:p>
            <a:r>
              <a:rPr b="1" dirty="0"/>
              <a:t>Scale: </a:t>
            </a:r>
            <a:r>
              <a:rPr dirty="0"/>
              <a:t>you do not need to start from scratch. </a:t>
            </a:r>
            <a:r>
              <a:rPr dirty="0" err="1"/>
              <a:t>PyPSA</a:t>
            </a:r>
            <a:r>
              <a:rPr dirty="0"/>
              <a:t>-GB models Great Britain, </a:t>
            </a:r>
            <a:r>
              <a:rPr dirty="0" err="1"/>
              <a:t>PyPSA-Eur</a:t>
            </a:r>
            <a:r>
              <a:rPr dirty="0"/>
              <a:t> models Europe and </a:t>
            </a:r>
            <a:r>
              <a:rPr dirty="0" err="1"/>
              <a:t>PyPSA</a:t>
            </a:r>
            <a:r>
              <a:rPr dirty="0"/>
              <a:t>-Earth covers countries worldwide, all open source.</a:t>
            </a:r>
          </a:p>
          <a:p>
            <a:r>
              <a:rPr b="1" dirty="0"/>
              <a:t>Dissertation ideas: </a:t>
            </a:r>
            <a:r>
              <a:rPr dirty="0"/>
              <a:t>rooftop solar and batteries for a campus, which you will start in Task 3; heat pumps on a local network; or hydrogen for an industrial site, which is what my own </a:t>
            </a:r>
            <a:r>
              <a:rPr dirty="0" err="1"/>
              <a:t>PyPSA</a:t>
            </a:r>
            <a:r>
              <a:rPr dirty="0"/>
              <a:t> model looks 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59665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smtClean="0"/>
              <a:t>Don’t read every line, just the pattern: create a network, then add the parts one at a time. </a:t>
            </a:r>
          </a:p>
          <a:p>
            <a:pPr rtl="0"/>
            <a:r>
              <a:rPr lang="en-US" dirty="0" smtClean="0"/>
              <a:t>The highlighted line is the clever bit. We don’t tell it the battery size; </a:t>
            </a:r>
            <a:r>
              <a:rPr lang="en-US" dirty="0" err="1" smtClean="0"/>
              <a:t>p_nom_extendable</a:t>
            </a:r>
            <a:r>
              <a:rPr lang="en-US" dirty="0" smtClean="0"/>
              <a:t>=True lets the solver choose the size that </a:t>
            </a:r>
            <a:r>
              <a:rPr lang="en-US" dirty="0" err="1" smtClean="0"/>
              <a:t>minimises</a:t>
            </a:r>
            <a:r>
              <a:rPr lang="en-US" dirty="0" smtClean="0"/>
              <a:t> total cost. That’s the difference between simulating and </a:t>
            </a:r>
            <a:r>
              <a:rPr lang="en-US" dirty="0" err="1" smtClean="0"/>
              <a:t>optimising</a:t>
            </a:r>
            <a:r>
              <a:rPr lang="en-US" dirty="0" smtClean="0"/>
              <a:t>. The costs are illustrative.</a:t>
            </a:r>
          </a:p>
          <a:p>
            <a:pPr rtl="0"/>
            <a:endParaRPr lang="en-US" i="1" dirty="0" smtClean="0"/>
          </a:p>
          <a:p>
            <a:pPr rtl="0"/>
            <a:r>
              <a:rPr lang="en-US" b="1" i="1" dirty="0" smtClean="0"/>
              <a:t>If asked “what’s </a:t>
            </a:r>
            <a:r>
              <a:rPr lang="en-US" b="1" i="1" dirty="0" err="1" smtClean="0"/>
              <a:t>capital_cost</a:t>
            </a:r>
            <a:r>
              <a:rPr lang="en-US" b="1" i="1" dirty="0" smtClean="0"/>
              <a:t>?”:</a:t>
            </a:r>
            <a:r>
              <a:rPr lang="en-US" b="1" dirty="0" smtClean="0"/>
              <a:t> </a:t>
            </a:r>
            <a:r>
              <a:rPr lang="en-US" dirty="0" smtClean="0"/>
              <a:t>the battery’s purchase cost spread over its lifetime, per kW per year.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where you will work today.</a:t>
            </a:r>
          </a:p>
          <a:p>
            <a:endParaRPr lang="en-US" b="1" dirty="0" smtClean="0"/>
          </a:p>
          <a:p>
            <a:r>
              <a:rPr b="1" dirty="0" smtClean="0"/>
              <a:t>To </a:t>
            </a:r>
            <a:r>
              <a:rPr b="1" dirty="0"/>
              <a:t>launch it: </a:t>
            </a:r>
            <a:r>
              <a:rPr dirty="0"/>
              <a:t>open Anaconda Navigator from the software portal, find the </a:t>
            </a:r>
            <a:r>
              <a:rPr dirty="0" err="1"/>
              <a:t>JupyterLab</a:t>
            </a:r>
            <a:r>
              <a:rPr dirty="0"/>
              <a:t> tile and click Launch. It opens in your web browser, but it runs on this computer.</a:t>
            </a:r>
          </a:p>
          <a:p>
            <a:r>
              <a:rPr dirty="0"/>
              <a:t>Point to each part on the screenshot. On the left, the file browser: this is where you open and upload files. The launcher starts a new notebook. Files open in tabs, so you can have the notebook and the data side by side. Top right, the kernel status shows whether Python is busy or idle. The Run and Kernel menus hold the commands we will use most.</a:t>
            </a:r>
          </a:p>
          <a:p>
            <a:r>
              <a:rPr dirty="0"/>
              <a:t>On your own laptop, Google </a:t>
            </a:r>
            <a:r>
              <a:rPr dirty="0" err="1"/>
              <a:t>Colab</a:t>
            </a:r>
            <a:r>
              <a:rPr dirty="0"/>
              <a:t> gives you the same experience in the browser with nothing to install</a:t>
            </a:r>
            <a:r>
              <a:rPr dirty="0" smtClean="0"/>
              <a:t>.</a:t>
            </a:r>
            <a:endParaRPr lang="en-US" dirty="0" smtClean="0"/>
          </a:p>
          <a:p>
            <a:endParaRPr lang="en-US" dirty="0" smtClean="0"/>
          </a:p>
          <a:p>
            <a:pPr rtl="0"/>
            <a:r>
              <a:rPr lang="en-US" b="1" dirty="0" smtClean="0"/>
              <a:t>Kernel: </a:t>
            </a:r>
            <a:r>
              <a:rPr lang="en-US" dirty="0" smtClean="0"/>
              <a:t>It is the Python engine running behind the notebook. When you run a cell, the kernel executes the code and remembers the results, such as variables and loaded data, so later cells can use them.</a:t>
            </a:r>
            <a:r>
              <a:rPr lang="en-US" baseline="0" dirty="0" smtClean="0"/>
              <a:t> </a:t>
            </a:r>
            <a:r>
              <a:rPr lang="en-US" b="1" dirty="0" smtClean="0"/>
              <a:t>Restarting the kernel</a:t>
            </a:r>
            <a:r>
              <a:rPr lang="en-US" dirty="0" smtClean="0"/>
              <a:t> wipes that memory and starts Python fresh. That’s why “Restart Kernel and Run All” fixes most out-of-order problems.</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312337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Google </a:t>
            </a:r>
            <a:r>
              <a:rPr dirty="0" err="1"/>
              <a:t>Colab</a:t>
            </a:r>
            <a:r>
              <a:rPr dirty="0"/>
              <a:t> is the alternative to </a:t>
            </a:r>
            <a:r>
              <a:rPr dirty="0" err="1"/>
              <a:t>JupyterLab</a:t>
            </a:r>
            <a:r>
              <a:rPr dirty="0"/>
              <a:t>: the same notebook, running in your web browser on Google's servers, with nothing to install. You need a Google account.</a:t>
            </a:r>
          </a:p>
          <a:p>
            <a:endParaRPr lang="en-US" b="1" dirty="0" smtClean="0"/>
          </a:p>
          <a:p>
            <a:r>
              <a:rPr b="1" dirty="0" smtClean="0"/>
              <a:t>Two </a:t>
            </a:r>
            <a:r>
              <a:rPr b="1" dirty="0"/>
              <a:t>ways in: </a:t>
            </a:r>
            <a:r>
              <a:rPr dirty="0"/>
              <a:t>the Open in </a:t>
            </a:r>
            <a:r>
              <a:rPr dirty="0" err="1"/>
              <a:t>Colab</a:t>
            </a:r>
            <a:r>
              <a:rPr dirty="0"/>
              <a:t> button in the student folder on GitHub, or go to colab.research.google.com and choose File, then Upload notebook.</a:t>
            </a:r>
          </a:p>
          <a:p>
            <a:r>
              <a:rPr dirty="0"/>
              <a:t>Point to each part on the screenshot. The folder icon on the left shows the files, including the outputs folder. Run a cell with the play button or Shift + Enter. The Runtime menu has Run all and Restart session, the equivalents of the Run and Kernel menus in </a:t>
            </a:r>
            <a:r>
              <a:rPr dirty="0" err="1"/>
              <a:t>JupyterLab</a:t>
            </a:r>
            <a:r>
              <a:rPr dirty="0"/>
              <a:t>. Top right, Connect or the RAM indicator shows the session is running.</a:t>
            </a:r>
          </a:p>
          <a:p>
            <a:r>
              <a:rPr dirty="0"/>
              <a:t>Two warnings. If </a:t>
            </a:r>
            <a:r>
              <a:rPr dirty="0" err="1"/>
              <a:t>Colab</a:t>
            </a:r>
            <a:r>
              <a:rPr dirty="0"/>
              <a:t> says the notebook was not written by Google, click Run anyway. And files in a </a:t>
            </a:r>
            <a:r>
              <a:rPr dirty="0" err="1"/>
              <a:t>Colab</a:t>
            </a:r>
            <a:r>
              <a:rPr dirty="0"/>
              <a:t> session are deleted when it ends, so use File, then Save a copy in Drive, and download the outputs zip from the last cell.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26160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notebook is a document made of cells.</a:t>
            </a:r>
          </a:p>
          <a:p>
            <a:endParaRPr lang="en-US" b="1" dirty="0" smtClean="0"/>
          </a:p>
          <a:p>
            <a:r>
              <a:rPr b="1" dirty="0" smtClean="0"/>
              <a:t>White </a:t>
            </a:r>
            <a:r>
              <a:rPr b="1" dirty="0"/>
              <a:t>cells are text: </a:t>
            </a:r>
            <a:r>
              <a:rPr dirty="0"/>
              <a:t>they explain what the next step does, so read them first. </a:t>
            </a:r>
            <a:endParaRPr lang="en-US" dirty="0" smtClean="0"/>
          </a:p>
          <a:p>
            <a:r>
              <a:rPr b="1" dirty="0" smtClean="0"/>
              <a:t>Grey </a:t>
            </a:r>
            <a:r>
              <a:rPr b="1" dirty="0"/>
              <a:t>cells are code: </a:t>
            </a:r>
            <a:r>
              <a:rPr dirty="0"/>
              <a:t>click one and press Shift + Enter to run it and move to the next.</a:t>
            </a:r>
          </a:p>
          <a:p>
            <a:r>
              <a:rPr dirty="0"/>
              <a:t>While a cell runs, the brackets show a star. When it finishes, a number appears, which records the order in which cells were run. Results, tables and figures appear directly below the cell.</a:t>
            </a:r>
          </a:p>
          <a:p>
            <a:r>
              <a:rPr dirty="0"/>
              <a:t>The most common problem is running cells out of order: a cell can only use what earlier cells created. The fix is Kernel, then Restart Kernel and Run All Cells</a:t>
            </a:r>
            <a:r>
              <a:rPr dirty="0" smtClean="0"/>
              <a:t>.</a:t>
            </a:r>
            <a:endParaRPr lang="en-US" dirty="0" smtClean="0"/>
          </a:p>
          <a:p>
            <a:endParaRPr lang="en-US" dirty="0" smtClean="0"/>
          </a:p>
          <a:p>
            <a:r>
              <a:rPr lang="en-US" dirty="0" smtClean="0"/>
              <a:t>This cell tests your battery rule on four made-up hours, where we already know the right answer: the battery charges, spills to the grid when full, discharges, and finally runs out. If all four lines say PASS, your rule is correct and you can run the full year with confidence.</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723480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five things are all you need for Task 1. A </a:t>
            </a:r>
            <a:r>
              <a:rPr dirty="0" err="1"/>
              <a:t>DataFrame</a:t>
            </a:r>
            <a:r>
              <a:rPr dirty="0"/>
              <a:t> is a table. A variable is a number we keep updating. The for loop goes hour by hour. The if checks whether we have spare solar or a shortfall. Then print the result with its units.</a:t>
            </a:r>
          </a:p>
          <a:p>
            <a:r>
              <a:rPr dirty="0"/>
              <a:t>The two columns in home.csv are </a:t>
            </a:r>
            <a:r>
              <a:rPr dirty="0" err="1"/>
              <a:t>pv_kwh</a:t>
            </a:r>
            <a:r>
              <a:rPr dirty="0"/>
              <a:t> and </a:t>
            </a:r>
            <a:r>
              <a:rPr dirty="0" err="1"/>
              <a:t>demand_kwh</a:t>
            </a:r>
            <a:r>
              <a:rPr dirty="0"/>
              <a:t>, one row per hour</a:t>
            </a:r>
            <a:r>
              <a:rPr dirty="0" smtClean="0"/>
              <a:t>.</a:t>
            </a:r>
            <a:endParaRPr lang="en-US" dirty="0" smtClean="0"/>
          </a:p>
          <a:p>
            <a:endParaRPr lang="en-US" dirty="0" smtClean="0"/>
          </a:p>
          <a:p>
            <a:pPr rtl="0"/>
            <a:r>
              <a:rPr lang="en-US" dirty="0" smtClean="0"/>
              <a:t>This code calculates how much electricity the home buys from the grid in a year without a battery.</a:t>
            </a:r>
          </a:p>
          <a:p>
            <a:pPr rtl="0"/>
            <a:r>
              <a:rPr lang="en-US" dirty="0" err="1" smtClean="0"/>
              <a:t>pd.read_csv</a:t>
            </a:r>
            <a:r>
              <a:rPr lang="en-US" dirty="0" smtClean="0"/>
              <a:t> loads the data into a </a:t>
            </a:r>
            <a:r>
              <a:rPr lang="en-US" dirty="0" err="1" smtClean="0"/>
              <a:t>DataFrame</a:t>
            </a:r>
            <a:r>
              <a:rPr lang="en-US" dirty="0" smtClean="0"/>
              <a:t>, </a:t>
            </a:r>
            <a:r>
              <a:rPr lang="en-US" dirty="0" err="1" smtClean="0"/>
              <a:t>df</a:t>
            </a:r>
            <a:r>
              <a:rPr lang="en-US" dirty="0" smtClean="0"/>
              <a:t>: a table with one row per hour, 8,760 rows. </a:t>
            </a:r>
            <a:r>
              <a:rPr lang="en-US" dirty="0" err="1" smtClean="0"/>
              <a:t>total_import</a:t>
            </a:r>
            <a:r>
              <a:rPr lang="en-US" dirty="0" smtClean="0"/>
              <a:t> is a variable that starts at zero.</a:t>
            </a:r>
          </a:p>
          <a:p>
            <a:pPr rtl="0"/>
            <a:r>
              <a:rPr lang="en-US" b="1" dirty="0" smtClean="0"/>
              <a:t>The for loop runs once per hour: </a:t>
            </a:r>
            <a:r>
              <a:rPr lang="en-US" dirty="0" err="1" smtClean="0"/>
              <a:t>len</a:t>
            </a:r>
            <a:r>
              <a:rPr lang="en-US" dirty="0" smtClean="0"/>
              <a:t>(</a:t>
            </a:r>
            <a:r>
              <a:rPr lang="en-US" dirty="0" err="1" smtClean="0"/>
              <a:t>df</a:t>
            </a:r>
            <a:r>
              <a:rPr lang="en-US" dirty="0" smtClean="0"/>
              <a:t>) is the number of rows, and range counts through them. In each hour, net is solar minus demand; a negative value means a shortfall.</a:t>
            </a:r>
          </a:p>
          <a:p>
            <a:pPr rtl="0"/>
            <a:r>
              <a:rPr lang="en-US" dirty="0" smtClean="0"/>
              <a:t>If net &lt; 0, we add the shortfall to the total. The minus in -net makes it positive, and += means “add to the total”.</a:t>
            </a:r>
          </a:p>
          <a:p>
            <a:pPr rtl="0"/>
            <a:r>
              <a:rPr lang="en-US" dirty="0" smtClean="0"/>
              <a:t>Finally, print and round show the answer with its unit. These five pieces are all you need for Task 1.</a:t>
            </a:r>
          </a:p>
          <a:p>
            <a:endParaRPr lang="en-US" dirty="0" smtClean="0"/>
          </a:p>
          <a:p>
            <a:endParaRPr dirty="0"/>
          </a:p>
          <a:p>
            <a:r>
              <a:rPr b="1" dirty="0"/>
              <a:t>Live demo: </a:t>
            </a:r>
            <a:r>
              <a:rPr dirty="0"/>
              <a:t>load the file, plot a week, then mistype a column name on purpose, for example </a:t>
            </a:r>
            <a:r>
              <a:rPr dirty="0" err="1"/>
              <a:t>demand_kw</a:t>
            </a:r>
            <a:r>
              <a:rPr dirty="0"/>
              <a:t>. Read the error out loud, last line first. Errors are normal; reading them is a skill.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764245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Ten minutes of practice before the tasks.</a:t>
            </a:r>
          </a:p>
          <a:p>
            <a:endParaRPr lang="en-US" dirty="0" smtClean="0"/>
          </a:p>
          <a:p>
            <a:r>
              <a:rPr dirty="0" smtClean="0"/>
              <a:t>First</a:t>
            </a:r>
            <a:r>
              <a:rPr dirty="0"/>
              <a:t>, open </a:t>
            </a:r>
            <a:r>
              <a:rPr dirty="0" err="1"/>
              <a:t>JupyterLab</a:t>
            </a:r>
            <a:r>
              <a:rPr dirty="0"/>
              <a:t> and go to the student folder. Second, open data/home.csv: it opens as a table. Look at the three columns: the time, the solar output and the household demand, one row per hour for a whole year. That is the data behind Task 1.</a:t>
            </a:r>
          </a:p>
          <a:p>
            <a:r>
              <a:rPr dirty="0"/>
              <a:t>Third, open the workshop notebook and run the first code cell. It installs </a:t>
            </a:r>
            <a:r>
              <a:rPr dirty="0" err="1"/>
              <a:t>PyPSA</a:t>
            </a:r>
            <a:r>
              <a:rPr dirty="0"/>
              <a:t>, which takes a minute or two; wait until it prints that </a:t>
            </a:r>
            <a:r>
              <a:rPr dirty="0" err="1"/>
              <a:t>PyPSA</a:t>
            </a:r>
            <a:r>
              <a:rPr dirty="0"/>
              <a:t> is ready.</a:t>
            </a:r>
          </a:p>
          <a:p>
            <a:endParaRPr lang="en-US" dirty="0" smtClean="0"/>
          </a:p>
          <a:p>
            <a:r>
              <a:rPr dirty="0" smtClean="0"/>
              <a:t>Finally</a:t>
            </a:r>
            <a:r>
              <a:rPr dirty="0"/>
              <a:t>, change a number in a code cell, run it again and see the output change, then use Restart Kernel and Run All Cells once, so you know how to start clean.</a:t>
            </a:r>
          </a:p>
          <a:p>
            <a:r>
              <a:rPr dirty="0"/>
              <a:t>By the end, everyone should have the notebook open and the first cell finished.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093974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You're modelling a typical Nottingham home: 4 kW of solar, using PVGIS satellite-based solar data for 2019, and a typical UK demand of 2,500 kWh a year.</a:t>
            </a:r>
          </a:p>
          <a:p>
            <a:r>
              <a:rPr dirty="0"/>
              <a:t>First run the baseline in section 4.2 and note the self-sufficiency rate.</a:t>
            </a:r>
          </a:p>
          <a:p>
            <a:r>
              <a:rPr dirty="0"/>
              <a:t>Then fill the three blanks: charge the battery when there's spare solar, discharge it when there's a shortfall, and buy from the grid whatever is still missing. Run the test in 4.4; all four lines should say PASS.</a:t>
            </a:r>
          </a:p>
          <a:p>
            <a:endParaRPr lang="en-US" dirty="0" smtClean="0"/>
          </a:p>
          <a:p>
            <a:r>
              <a:rPr dirty="0" smtClean="0"/>
              <a:t>Before </a:t>
            </a:r>
            <a:r>
              <a:rPr dirty="0"/>
              <a:t>running 4.5, agree a prediction and put it in the form (question 2). Then type your group number in 4.8 and run your scenario (questions 3 and 4).</a:t>
            </a:r>
          </a:p>
          <a:p>
            <a:endParaRPr lang="en-US" b="1" dirty="0" smtClean="0"/>
          </a:p>
          <a:p>
            <a:r>
              <a:rPr b="1" dirty="0" smtClean="0"/>
              <a:t>Two </a:t>
            </a:r>
            <a:r>
              <a:rPr b="1" dirty="0"/>
              <a:t>terms: </a:t>
            </a:r>
            <a:r>
              <a:rPr dirty="0"/>
              <a:t>self-sufficiency </a:t>
            </a:r>
            <a:r>
              <a:rPr lang="en-US" dirty="0" smtClean="0"/>
              <a:t>or energy</a:t>
            </a:r>
            <a:r>
              <a:rPr lang="en-US" baseline="0" dirty="0" smtClean="0"/>
              <a:t> independence </a:t>
            </a:r>
            <a:r>
              <a:rPr dirty="0" smtClean="0"/>
              <a:t>is </a:t>
            </a:r>
            <a:r>
              <a:rPr dirty="0"/>
              <a:t>how much of the home's demand your own solar covers. Self-consumption is how much of your solar you use rather than export.</a:t>
            </a:r>
          </a:p>
          <a:p>
            <a:endParaRPr lang="en-US" b="1" dirty="0" smtClean="0"/>
          </a:p>
          <a:p>
            <a:r>
              <a:rPr b="1" dirty="0" smtClean="0"/>
              <a:t>Stretch </a:t>
            </a:r>
            <a:r>
              <a:rPr b="1" dirty="0"/>
              <a:t>task: </a:t>
            </a:r>
            <a:r>
              <a:rPr dirty="0"/>
              <a:t>try battery sizes from 0 to 15 kWh and watch the gains shrink.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881343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Task 1 starts, ask each Reporter to scan this code and keep the form open on their phone.</a:t>
            </a:r>
          </a:p>
          <a:p>
            <a:r>
              <a:t>One response per group. The group number in question 1 is the same number they type as MY_GROUP in the notebook.</a:t>
            </a:r>
          </a:p>
          <a:p>
            <a:r>
              <a:t>Questions 2 and 5 are predictions, so they must be answered before running sections 4.5 and 5.4.</a:t>
            </a:r>
          </a:p>
          <a:p>
            <a:r>
              <a:t>Only the group number is required, so a group that runs short of time can still submit. Editing is on, so they can submit after Task 1 and update after Task 2.</a:t>
            </a:r>
          </a:p>
          <a:p>
            <a:r>
              <a:t>Leave this slide on screen while groups work, so late scanners can still reach the form.</a:t>
            </a:r>
          </a:p>
          <a:p>
            <a:r>
              <a:t>There are no form questions for Task 3. We compare those results together at the end.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209868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chart shows one summer day: midday solar is stored and used in the evening, when demand peaks and the sun has gone.</a:t>
            </a:r>
          </a:p>
          <a:p>
            <a:r>
              <a:rPr dirty="0"/>
              <a:t>Over the full year, self-sufficiency rises from 39% with no battery to 79% with the realistic 5 kWh battery, and 80% with the </a:t>
            </a:r>
            <a:r>
              <a:rPr dirty="0" err="1"/>
              <a:t>idealised</a:t>
            </a:r>
            <a:r>
              <a:rPr dirty="0"/>
              <a:t> one. Your numbers should match. If a group is far off, check the blanks and that the test in 4.4 passed</a:t>
            </a:r>
            <a:r>
              <a:rPr dirty="0" smtClean="0"/>
              <a:t>.</a:t>
            </a:r>
            <a:endParaRPr lang="en-US" dirty="0" smtClean="0"/>
          </a:p>
          <a:p>
            <a:endParaRPr dirty="0"/>
          </a:p>
          <a:p>
            <a:r>
              <a:rPr b="1" dirty="0"/>
              <a:t>Why the gains shrink as the battery grows: </a:t>
            </a:r>
            <a:r>
              <a:rPr dirty="0"/>
              <a:t>the first few kWh get used every day. Extra kWh are only useful on the sunniest days, so each one is worth less.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4696248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One line to change: the carbon price.</a:t>
            </a:r>
          </a:p>
          <a:p>
            <a:r>
              <a:rPr dirty="0"/>
              <a:t>First agree a prediction and put it in the form (question 5).</a:t>
            </a:r>
          </a:p>
          <a:p>
            <a:r>
              <a:rPr dirty="0"/>
              <a:t>Run at zero, then at 80. Record the peak-hour price and the CO₂ at 80 (questions 6 and 7), and say which unit sets the price and why.</a:t>
            </a:r>
          </a:p>
          <a:p>
            <a:r>
              <a:rPr dirty="0"/>
              <a:t>Then run your group scenario in section 5.6 (questions 8 and 9) and agree one sentence for question 10.</a:t>
            </a:r>
          </a:p>
          <a:p>
            <a:endParaRPr lang="en-US" b="1" dirty="0" smtClean="0"/>
          </a:p>
          <a:p>
            <a:r>
              <a:rPr b="1" dirty="0" smtClean="0"/>
              <a:t>Stretch </a:t>
            </a:r>
            <a:r>
              <a:rPr b="1" dirty="0"/>
              <a:t>answer: </a:t>
            </a:r>
            <a:r>
              <a:rPr dirty="0"/>
              <a:t>coal and gas swap at about £47/</a:t>
            </a:r>
            <a:r>
              <a:rPr dirty="0" err="1"/>
              <a:t>tCO</a:t>
            </a:r>
            <a:r>
              <a:rPr dirty="0"/>
              <a:t>₂. That's where 35 + 0.9 × price equals 60 + 0.37 × price.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260861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smtClean="0"/>
              <a:t>Power stations line up from cheapest to most expensive to run. The last one needed to meet demand sets the price for everyone.</a:t>
            </a:r>
          </a:p>
          <a:p>
            <a:pPr marL="171450" indent="-171450" rtl="0">
              <a:buFont typeface="Arial" panose="020B0604020202020204" pitchFamily="34" charset="0"/>
              <a:buChar char="•"/>
            </a:pPr>
            <a:r>
              <a:rPr lang="en-US" b="1" dirty="0" smtClean="0"/>
              <a:t>At £0:</a:t>
            </a:r>
            <a:r>
              <a:rPr lang="en-US" dirty="0" smtClean="0"/>
              <a:t> coal is cheaper than gas, so gas is last in line and sets £60/MWh.</a:t>
            </a:r>
          </a:p>
          <a:p>
            <a:pPr marL="171450" indent="-171450" rtl="0">
              <a:buFont typeface="Arial" panose="020B0604020202020204" pitchFamily="34" charset="0"/>
              <a:buChar char="•"/>
            </a:pPr>
            <a:r>
              <a:rPr lang="en-US" b="1" dirty="0" smtClean="0"/>
              <a:t>At £80:</a:t>
            </a:r>
            <a:r>
              <a:rPr lang="en-US" dirty="0" smtClean="0"/>
              <a:t> coal is dirtier (about 0.9 t per MWh versus 0.37 for gas), so it gets hit harder and jumps behind gas. Gas still sets the price, but gas now costs about £90.</a:t>
            </a:r>
          </a:p>
          <a:p>
            <a:pPr marL="171450" indent="-171450" rtl="0">
              <a:buFont typeface="Arial" panose="020B0604020202020204" pitchFamily="34" charset="0"/>
              <a:buChar char="•"/>
            </a:pPr>
            <a:r>
              <a:rPr lang="en-US" b="1" dirty="0" smtClean="0"/>
              <a:t>Emissions in this hour</a:t>
            </a:r>
            <a:r>
              <a:rPr lang="en-US" dirty="0" smtClean="0"/>
              <a:t> drop from about 13,400 t to about 8,100 t, roughly 40% less, because coal no longer runs.</a:t>
            </a:r>
          </a:p>
          <a:p>
            <a:pPr marL="171450" indent="-171450" rtl="0">
              <a:buFont typeface="Arial" panose="020B0604020202020204" pitchFamily="34" charset="0"/>
              <a:buChar char="•"/>
            </a:pPr>
            <a:r>
              <a:rPr lang="en-US" b="1" dirty="0" smtClean="0"/>
              <a:t>Coal note:</a:t>
            </a:r>
            <a:r>
              <a:rPr lang="en-US" dirty="0" smtClean="0"/>
              <a:t> GB closed its last coal plant in 2024. It’s here as a “what-if”, which is how much of Europe still looks.</a:t>
            </a:r>
          </a:p>
          <a:p>
            <a:pPr marL="171450" indent="-171450" rtl="0">
              <a:buFont typeface="Arial" panose="020B0604020202020204" pitchFamily="34" charset="0"/>
              <a:buChar char="•"/>
            </a:pPr>
            <a:endParaRPr lang="en-US" dirty="0" smtClean="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i="1" dirty="0" smtClean="0"/>
              <a:t>If asked about </a:t>
            </a:r>
            <a:r>
              <a:rPr lang="en-US" b="1" i="1" dirty="0" err="1" smtClean="0"/>
              <a:t>tCO</a:t>
            </a:r>
            <a:r>
              <a:rPr lang="en-US" b="1" i="1" dirty="0" smtClean="0"/>
              <a:t>₂ vs </a:t>
            </a:r>
            <a:r>
              <a:rPr lang="en-US" b="1" i="1" dirty="0" err="1" smtClean="0"/>
              <a:t>tCO₂e</a:t>
            </a:r>
            <a:r>
              <a:rPr lang="en-US" b="1" i="1" dirty="0" smtClean="0"/>
              <a:t>:</a:t>
            </a:r>
            <a:r>
              <a:rPr lang="en-US" b="1" dirty="0" smtClean="0"/>
              <a:t> </a:t>
            </a:r>
            <a:r>
              <a:rPr lang="en-US" dirty="0" smtClean="0"/>
              <a:t>for power stations they’re almost identical; we use direct CO₂.</a:t>
            </a:r>
          </a:p>
          <a:p>
            <a:pPr marL="0" indent="0" rtl="0">
              <a:buFont typeface="Arial" panose="020B0604020202020204" pitchFamily="34" charset="0"/>
              <a:buNone/>
            </a:pPr>
            <a:endParaRPr lang="en-US" dirty="0" smtClean="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Task 3 uses real data: the monthly electricity invoices of the Engineering and Institute for Digital Innovation building, August 2021 to July 2022. The data is for this session only, so please do not share the file.</a:t>
            </a:r>
          </a:p>
          <a:p>
            <a:r>
              <a:t>Start with the chart in section 2.1. September 2021 is only 6.4 MWh, ten times lower than May. Ask why before modelling anything.</a:t>
            </a:r>
          </a:p>
          <a:p>
            <a:r>
              <a:t>We do not know the roof size, so the notebook assumes 100 kWp, roughly 500 square metres of panels. Groups can change it.</a:t>
            </a:r>
          </a:p>
          <a:p>
            <a:r>
              <a:t>Fill the one blank in section 4: the solar used each month is the smaller of the solar output and the demand. Predict the share before running section 5, then run your group scenario in section 6.</a:t>
            </a:r>
          </a:p>
          <a:p>
            <a:r>
              <a:t>There is no form for Task 3; we compare the results in class.</a:t>
            </a:r>
          </a:p>
          <a:p>
            <a:r>
              <a:t>Stretch: the largest system with no export in any month, with and without September.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each group to call out its scenario result before showing the key.</a:t>
            </a:r>
          </a:p>
          <a:p>
            <a:r>
              <a:t>Answer key, share of demand from solar and CO2 saved per year: U, 50 kWp: 11% and 9.4 t. V, 200 kWp: 42% and 35.5 t. W, 400 kWp: 74% and 61.5 t. X, Clifton Library, 100 kWp: 57% and 17.7 t. Y, Interdisciplinary Science and Technology Centre, 100 kWp: 6% and 18.8 t.</a:t>
            </a:r>
          </a:p>
          <a:p>
            <a:r>
              <a:t>Three points to draw out. First, four times the solar saves only 3.3 times the CO2, because more of it is exported. Second, a high share is not the same as a large saving: the same 100 kWp covers only 6% of the science centre but saves the most CO2, because it uses every kWh. Third, the largest size with no export is about 76 kWp only because of the doubtful September figure; without it, the answer is about 200 kWp, limited by August.</a:t>
            </a:r>
          </a:p>
          <a:p>
            <a:r>
              <a:t>Limitation: comparing monthly totals assumes daytime solar can be used at any time in the month, so the real share is lower. A real design would use half-hourly meter data and the hour-by-hour method from Task 1.</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the class results for Tasks 1 and 2 from the form's response sheet first. Where groups agree, the model is behaving. Outliers are the most interesting: usually units, or a blank filled slightly wrong.</a:t>
            </a:r>
          </a:p>
          <a:p>
            <a:r>
              <a:t>Then one take-away from each task: the battery in Task 1, the carbon price in Task 2 and the data check in Task 3.</a:t>
            </a:r>
          </a:p>
          <a:p>
            <a:r>
              <a:t>Give five minutes for the quiz and feedback form.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101823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If you want to go further: Fabian Neumann’s free TU Berlin course is the best next step, and it’s all Python and </a:t>
            </a:r>
            <a:r>
              <a:rPr lang="en-US" dirty="0" err="1" smtClean="0">
                <a:effectLst/>
              </a:rPr>
              <a:t>PyPSA</a:t>
            </a:r>
            <a:r>
              <a:rPr lang="en-US" dirty="0" smtClean="0">
                <a:effectLst/>
              </a:rPr>
              <a:t>. My open-source model is on GitHub if you want to see this scaled up to an industrial site. Happy to connect on LinkedIn, and please do get in touch about dissertation ideas.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DITOR">
    <p:bg>
      <p:bgPr>
        <a:solidFill>
          <a:srgbClr val="2E323B"/>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323B"/>
          </a:solidFill>
          <a:ln/>
        </p:spPr>
      </p:sp>
      <p:sp>
        <p:nvSpPr>
          <p:cNvPr id="3" name="Shape 1"/>
          <p:cNvSpPr/>
          <p:nvPr/>
        </p:nvSpPr>
        <p:spPr>
          <a:xfrm>
            <a:off x="0" y="0"/>
            <a:ext cx="9144000" cy="329184"/>
          </a:xfrm>
          <a:prstGeom prst="rect">
            <a:avLst/>
          </a:prstGeom>
          <a:solidFill>
            <a:srgbClr val="16191F"/>
          </a:solidFill>
          <a:ln/>
        </p:spPr>
      </p:sp>
      <p:sp>
        <p:nvSpPr>
          <p:cNvPr id="4" name="Shape 2"/>
          <p:cNvSpPr/>
          <p:nvPr/>
        </p:nvSpPr>
        <p:spPr>
          <a:xfrm>
            <a:off x="0" y="0"/>
            <a:ext cx="2286000" cy="329184"/>
          </a:xfrm>
          <a:prstGeom prst="rect">
            <a:avLst/>
          </a:prstGeom>
          <a:solidFill>
            <a:srgbClr val="2E323B"/>
          </a:solidFill>
          <a:ln/>
        </p:spPr>
      </p:sp>
      <p:sp>
        <p:nvSpPr>
          <p:cNvPr id="5" name="Text 3"/>
          <p:cNvSpPr/>
          <p:nvPr/>
        </p:nvSpPr>
        <p:spPr>
          <a:xfrm>
            <a:off x="0" y="0"/>
            <a:ext cx="2286000" cy="329184"/>
          </a:xfrm>
          <a:prstGeom prst="rect">
            <a:avLst/>
          </a:prstGeom>
          <a:noFill/>
          <a:ln/>
        </p:spPr>
        <p:txBody>
          <a:bodyPr wrap="square" lIns="0" tIns="0" rIns="0" bIns="0" rtlCol="0" anchor="ctr"/>
          <a:lstStyle/>
          <a:p>
            <a:pPr marL="0" indent="0" algn="ctr">
              <a:buNone/>
            </a:pPr>
            <a:r>
              <a:rPr lang="en-US" sz="900" dirty="0">
                <a:solidFill>
                  <a:srgbClr val="E7E7E7"/>
                </a:solidFill>
                <a:latin typeface="Fira Code" pitchFamily="34" charset="0"/>
                <a:ea typeface="Fira Code" pitchFamily="34" charset="-122"/>
                <a:cs typeface="Fira Code" pitchFamily="34" charset="-120"/>
              </a:rPr>
              <a:t>energy_model.py</a:t>
            </a:r>
            <a:endParaRPr lang="en-US" sz="900" dirty="0"/>
          </a:p>
        </p:txBody>
      </p:sp>
      <p:sp>
        <p:nvSpPr>
          <p:cNvPr id="6" name="Text 4"/>
          <p:cNvSpPr/>
          <p:nvPr/>
        </p:nvSpPr>
        <p:spPr>
          <a:xfrm>
            <a:off x="2286000" y="0"/>
            <a:ext cx="2286000" cy="329184"/>
          </a:xfrm>
          <a:prstGeom prst="rect">
            <a:avLst/>
          </a:prstGeom>
          <a:noFill/>
          <a:ln/>
        </p:spPr>
        <p:txBody>
          <a:bodyPr wrap="square" lIns="0" tIns="0" rIns="0" bIns="0" rtlCol="0" anchor="ctr"/>
          <a:lstStyle/>
          <a:p>
            <a:pPr marL="0" indent="0" algn="ctr">
              <a:buNone/>
            </a:pPr>
            <a:r>
              <a:rPr lang="en-US" sz="900" dirty="0">
                <a:solidFill>
                  <a:srgbClr val="707070"/>
                </a:solidFill>
                <a:latin typeface="Fira Code" pitchFamily="34" charset="0"/>
                <a:ea typeface="Fira Code" pitchFamily="34" charset="-122"/>
                <a:cs typeface="Fira Code" pitchFamily="34" charset="-120"/>
              </a:rPr>
              <a:t>workshop.ipynb</a:t>
            </a:r>
            <a:endParaRPr lang="en-US" sz="900" dirty="0"/>
          </a:p>
        </p:txBody>
      </p:sp>
      <p:sp>
        <p:nvSpPr>
          <p:cNvPr id="7" name="Text 5"/>
          <p:cNvSpPr/>
          <p:nvPr/>
        </p:nvSpPr>
        <p:spPr>
          <a:xfrm>
            <a:off x="109728" y="502920"/>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a:t>
            </a:r>
            <a:endParaRPr lang="en-US" sz="800" dirty="0"/>
          </a:p>
        </p:txBody>
      </p:sp>
      <p:sp>
        <p:nvSpPr>
          <p:cNvPr id="8" name="Text 6"/>
          <p:cNvSpPr/>
          <p:nvPr/>
        </p:nvSpPr>
        <p:spPr>
          <a:xfrm>
            <a:off x="109728" y="790956"/>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2</a:t>
            </a:r>
            <a:endParaRPr lang="en-US" sz="800" dirty="0"/>
          </a:p>
        </p:txBody>
      </p:sp>
      <p:sp>
        <p:nvSpPr>
          <p:cNvPr id="9" name="Text 7"/>
          <p:cNvSpPr/>
          <p:nvPr/>
        </p:nvSpPr>
        <p:spPr>
          <a:xfrm>
            <a:off x="109728" y="1078992"/>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3</a:t>
            </a:r>
            <a:endParaRPr lang="en-US" sz="800" dirty="0"/>
          </a:p>
        </p:txBody>
      </p:sp>
      <p:sp>
        <p:nvSpPr>
          <p:cNvPr id="10" name="Text 8"/>
          <p:cNvSpPr/>
          <p:nvPr/>
        </p:nvSpPr>
        <p:spPr>
          <a:xfrm>
            <a:off x="109728" y="1367028"/>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4</a:t>
            </a:r>
            <a:endParaRPr lang="en-US" sz="800" dirty="0"/>
          </a:p>
        </p:txBody>
      </p:sp>
      <p:sp>
        <p:nvSpPr>
          <p:cNvPr id="11" name="Text 9"/>
          <p:cNvSpPr/>
          <p:nvPr/>
        </p:nvSpPr>
        <p:spPr>
          <a:xfrm>
            <a:off x="109728" y="1655064"/>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5</a:t>
            </a:r>
            <a:endParaRPr lang="en-US" sz="800" dirty="0"/>
          </a:p>
        </p:txBody>
      </p:sp>
      <p:sp>
        <p:nvSpPr>
          <p:cNvPr id="12" name="Text 10"/>
          <p:cNvSpPr/>
          <p:nvPr/>
        </p:nvSpPr>
        <p:spPr>
          <a:xfrm>
            <a:off x="109728" y="1943100"/>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6</a:t>
            </a:r>
            <a:endParaRPr lang="en-US" sz="800" dirty="0"/>
          </a:p>
        </p:txBody>
      </p:sp>
      <p:sp>
        <p:nvSpPr>
          <p:cNvPr id="13" name="Text 11"/>
          <p:cNvSpPr/>
          <p:nvPr/>
        </p:nvSpPr>
        <p:spPr>
          <a:xfrm>
            <a:off x="109728" y="2231136"/>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7</a:t>
            </a:r>
            <a:endParaRPr lang="en-US" sz="800" dirty="0"/>
          </a:p>
        </p:txBody>
      </p:sp>
      <p:sp>
        <p:nvSpPr>
          <p:cNvPr id="14" name="Text 12"/>
          <p:cNvSpPr/>
          <p:nvPr/>
        </p:nvSpPr>
        <p:spPr>
          <a:xfrm>
            <a:off x="109728" y="2519172"/>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8</a:t>
            </a:r>
            <a:endParaRPr lang="en-US" sz="800" dirty="0"/>
          </a:p>
        </p:txBody>
      </p:sp>
      <p:sp>
        <p:nvSpPr>
          <p:cNvPr id="15" name="Text 13"/>
          <p:cNvSpPr/>
          <p:nvPr/>
        </p:nvSpPr>
        <p:spPr>
          <a:xfrm>
            <a:off x="109728" y="2807208"/>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9</a:t>
            </a:r>
            <a:endParaRPr lang="en-US" sz="800" dirty="0"/>
          </a:p>
        </p:txBody>
      </p:sp>
      <p:sp>
        <p:nvSpPr>
          <p:cNvPr id="16" name="Text 14"/>
          <p:cNvSpPr/>
          <p:nvPr/>
        </p:nvSpPr>
        <p:spPr>
          <a:xfrm>
            <a:off x="109728" y="3095244"/>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10</a:t>
            </a:r>
            <a:endParaRPr lang="en-US" sz="800" dirty="0"/>
          </a:p>
        </p:txBody>
      </p:sp>
      <p:sp>
        <p:nvSpPr>
          <p:cNvPr id="17" name="Text 15"/>
          <p:cNvSpPr/>
          <p:nvPr/>
        </p:nvSpPr>
        <p:spPr>
          <a:xfrm>
            <a:off x="109728" y="3383280"/>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11</a:t>
            </a:r>
            <a:endParaRPr lang="en-US" sz="800" dirty="0"/>
          </a:p>
        </p:txBody>
      </p:sp>
      <p:sp>
        <p:nvSpPr>
          <p:cNvPr id="18" name="Text 16"/>
          <p:cNvSpPr/>
          <p:nvPr/>
        </p:nvSpPr>
        <p:spPr>
          <a:xfrm>
            <a:off x="109728" y="3671316"/>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12</a:t>
            </a:r>
            <a:endParaRPr lang="en-US" sz="800" dirty="0"/>
          </a:p>
        </p:txBody>
      </p:sp>
      <p:sp>
        <p:nvSpPr>
          <p:cNvPr id="19" name="Text 17"/>
          <p:cNvSpPr/>
          <p:nvPr/>
        </p:nvSpPr>
        <p:spPr>
          <a:xfrm>
            <a:off x="109728" y="3959352"/>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13</a:t>
            </a:r>
            <a:endParaRPr lang="en-US" sz="800" dirty="0"/>
          </a:p>
        </p:txBody>
      </p:sp>
      <p:sp>
        <p:nvSpPr>
          <p:cNvPr id="20" name="Text 18"/>
          <p:cNvSpPr/>
          <p:nvPr/>
        </p:nvSpPr>
        <p:spPr>
          <a:xfrm>
            <a:off x="109728" y="4247388"/>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14</a:t>
            </a:r>
            <a:endParaRPr lang="en-US" sz="800" dirty="0"/>
          </a:p>
        </p:txBody>
      </p:sp>
      <p:sp>
        <p:nvSpPr>
          <p:cNvPr id="21" name="Shape 19"/>
          <p:cNvSpPr/>
          <p:nvPr/>
        </p:nvSpPr>
        <p:spPr>
          <a:xfrm>
            <a:off x="0" y="4796028"/>
            <a:ext cx="9144000" cy="347472"/>
          </a:xfrm>
          <a:prstGeom prst="rect">
            <a:avLst/>
          </a:prstGeom>
          <a:solidFill>
            <a:srgbClr val="16191F"/>
          </a:solidFill>
          <a:ln/>
        </p:spPr>
      </p:sp>
      <p:sp>
        <p:nvSpPr>
          <p:cNvPr id="22" name="Text 20"/>
          <p:cNvSpPr/>
          <p:nvPr/>
        </p:nvSpPr>
        <p:spPr>
          <a:xfrm>
            <a:off x="457200" y="4796028"/>
            <a:ext cx="4114800" cy="347472"/>
          </a:xfrm>
          <a:prstGeom prst="rect">
            <a:avLst/>
          </a:prstGeom>
          <a:noFill/>
          <a:ln/>
        </p:spPr>
        <p:txBody>
          <a:bodyPr wrap="square" lIns="0" tIns="0" rIns="0" bIns="0" rtlCol="0" anchor="ctr"/>
          <a:lstStyle/>
          <a:p>
            <a:pPr marL="0" indent="0">
              <a:buNone/>
            </a:pPr>
            <a:r>
              <a:rPr lang="en-US" sz="900" dirty="0">
                <a:solidFill>
                  <a:srgbClr val="E7E7E7"/>
                </a:solidFill>
                <a:latin typeface="Fira Sans" pitchFamily="34" charset="0"/>
                <a:ea typeface="Fira Sans" pitchFamily="34" charset="-122"/>
                <a:cs typeface="Fira Sans" pitchFamily="34" charset="-120"/>
              </a:rPr>
              <a:t>Python for Energy System Modelling</a:t>
            </a:r>
            <a:endParaRPr lang="en-US" sz="900" dirty="0"/>
          </a:p>
        </p:txBody>
      </p:sp>
      <p:sp>
        <p:nvSpPr>
          <p:cNvPr id="23" name="Text 21"/>
          <p:cNvSpPr/>
          <p:nvPr/>
        </p:nvSpPr>
        <p:spPr>
          <a:xfrm>
            <a:off x="4754880" y="4796028"/>
            <a:ext cx="3383280" cy="347472"/>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Python 3 · UTF-8 · A. A. Wafad</a:t>
            </a:r>
            <a:endParaRPr lang="en-US" sz="800" dirty="0"/>
          </a:p>
        </p:txBody>
      </p:sp>
      <p:sp>
        <p:nvSpPr>
          <p:cNvPr id="24" name="Text 22"/>
          <p:cNvSpPr>
            <a:spLocks noGrp="1"/>
          </p:cNvSpPr>
          <p:nvPr>
            <p:ph type="body" idx="122" hasCustomPrompt="1"/>
          </p:nvPr>
        </p:nvSpPr>
        <p:spPr>
          <a:xfrm>
            <a:off x="685800" y="457200"/>
            <a:ext cx="7772400" cy="292608"/>
          </a:xfrm>
          <a:prstGeom prst="rect">
            <a:avLst/>
          </a:prstGeom>
          <a:noFill/>
          <a:ln/>
        </p:spPr>
        <p:txBody>
          <a:bodyPr wrap="square" rtlCol="0"/>
          <a:lstStyle>
            <a:lvl1pPr marL="0" indent="0" algn="l">
              <a:buNone/>
              <a:defRPr lang="en-US" sz="1100" dirty="0">
                <a:solidFill>
                  <a:srgbClr val="FF5858"/>
                </a:solidFill>
                <a:latin typeface="Fira Code" pitchFamily="34" charset="0"/>
                <a:ea typeface="Fira Code" pitchFamily="34" charset="-122"/>
                <a:cs typeface="Fira Code" pitchFamily="34" charset="-120"/>
              </a:defRPr>
            </a:lvl1pPr>
          </a:lstStyle>
          <a:p>
            <a:pPr marL="0" indent="0" algn="l">
              <a:buNone/>
            </a:pPr>
            <a:r>
              <a:rPr lang="en-US" sz="1100" dirty="0">
                <a:solidFill>
                  <a:srgbClr val="FF5858"/>
                </a:solidFill>
                <a:latin typeface="Fira Code" pitchFamily="34" charset="0"/>
                <a:ea typeface="Fira Code" pitchFamily="34" charset="-122"/>
                <a:cs typeface="Fira Code" pitchFamily="34" charset="-120"/>
              </a:rPr>
              <a:t>section()</a:t>
            </a:r>
            <a:endParaRPr lang="en-US" sz="1100" dirty="0"/>
          </a:p>
        </p:txBody>
      </p:sp>
      <p:sp>
        <p:nvSpPr>
          <p:cNvPr id="25" name="Text 22"/>
          <p:cNvSpPr>
            <a:spLocks noGrp="1"/>
          </p:cNvSpPr>
          <p:nvPr>
            <p:ph type="title" idx="123" hasCustomPrompt="1"/>
          </p:nvPr>
        </p:nvSpPr>
        <p:spPr>
          <a:xfrm>
            <a:off x="685800" y="768096"/>
            <a:ext cx="7863840" cy="749808"/>
          </a:xfrm>
          <a:prstGeom prst="rect">
            <a:avLst/>
          </a:prstGeom>
          <a:noFill/>
          <a:ln/>
        </p:spPr>
        <p:txBody>
          <a:bodyPr wrap="square" rtlCol="0"/>
          <a:lstStyle>
            <a:lvl1pPr marL="0" indent="0" algn="l">
              <a:buNone/>
              <a:defRPr lang="en-US" sz="2200" b="1" dirty="0">
                <a:solidFill>
                  <a:srgbClr val="FFFFFF"/>
                </a:solidFill>
                <a:latin typeface="Fira Sans" pitchFamily="34" charset="0"/>
                <a:ea typeface="Fira Sans" pitchFamily="34" charset="-122"/>
                <a:cs typeface="Fira Sans" pitchFamily="34" charset="-120"/>
              </a:defRPr>
            </a:lvl1pPr>
          </a:lstStyle>
          <a:p>
            <a:pPr marL="0" indent="0" algn="l">
              <a:buNone/>
            </a:pPr>
            <a:r>
              <a:rPr lang="en-US" sz="2200" b="1" dirty="0">
                <a:solidFill>
                  <a:srgbClr val="FFFFFF"/>
                </a:solidFill>
                <a:latin typeface="Fira Sans" pitchFamily="34" charset="0"/>
                <a:ea typeface="Fira Sans" pitchFamily="34" charset="-122"/>
                <a:cs typeface="Fira Sans" pitchFamily="34" charset="-120"/>
              </a:rPr>
              <a:t>One-sentence headline that states the point</a:t>
            </a:r>
            <a:endParaRPr lang="en-US" sz="2200" dirty="0"/>
          </a:p>
        </p:txBody>
      </p:sp>
      <p:sp>
        <p:nvSpPr>
          <p:cNvPr id="26"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DITOR_HERO">
    <p:bg>
      <p:bgPr>
        <a:solidFill>
          <a:srgbClr val="2E323B"/>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323B"/>
          </a:solidFill>
          <a:ln/>
        </p:spPr>
      </p:sp>
      <p:sp>
        <p:nvSpPr>
          <p:cNvPr id="3" name="Shape 1"/>
          <p:cNvSpPr/>
          <p:nvPr/>
        </p:nvSpPr>
        <p:spPr>
          <a:xfrm>
            <a:off x="0" y="0"/>
            <a:ext cx="9144000" cy="329184"/>
          </a:xfrm>
          <a:prstGeom prst="rect">
            <a:avLst/>
          </a:prstGeom>
          <a:solidFill>
            <a:srgbClr val="16191F"/>
          </a:solidFill>
          <a:ln/>
        </p:spPr>
      </p:sp>
      <p:sp>
        <p:nvSpPr>
          <p:cNvPr id="4" name="Shape 2"/>
          <p:cNvSpPr/>
          <p:nvPr/>
        </p:nvSpPr>
        <p:spPr>
          <a:xfrm>
            <a:off x="0" y="0"/>
            <a:ext cx="2286000" cy="329184"/>
          </a:xfrm>
          <a:prstGeom prst="rect">
            <a:avLst/>
          </a:prstGeom>
          <a:solidFill>
            <a:srgbClr val="2E323B"/>
          </a:solidFill>
          <a:ln/>
        </p:spPr>
      </p:sp>
      <p:sp>
        <p:nvSpPr>
          <p:cNvPr id="5" name="Text 3"/>
          <p:cNvSpPr/>
          <p:nvPr/>
        </p:nvSpPr>
        <p:spPr>
          <a:xfrm>
            <a:off x="0" y="0"/>
            <a:ext cx="2286000" cy="329184"/>
          </a:xfrm>
          <a:prstGeom prst="rect">
            <a:avLst/>
          </a:prstGeom>
          <a:noFill/>
          <a:ln/>
        </p:spPr>
        <p:txBody>
          <a:bodyPr wrap="square" lIns="0" tIns="0" rIns="0" bIns="0" rtlCol="0" anchor="ctr"/>
          <a:lstStyle/>
          <a:p>
            <a:pPr marL="0" indent="0" algn="ctr">
              <a:buNone/>
            </a:pPr>
            <a:r>
              <a:rPr lang="en-US" sz="900" dirty="0">
                <a:solidFill>
                  <a:srgbClr val="E7E7E7"/>
                </a:solidFill>
                <a:latin typeface="Fira Code" pitchFamily="34" charset="0"/>
                <a:ea typeface="Fira Code" pitchFamily="34" charset="-122"/>
                <a:cs typeface="Fira Code" pitchFamily="34" charset="-120"/>
              </a:rPr>
              <a:t>energy_model.py</a:t>
            </a:r>
            <a:endParaRPr lang="en-US" sz="900" dirty="0"/>
          </a:p>
        </p:txBody>
      </p:sp>
      <p:sp>
        <p:nvSpPr>
          <p:cNvPr id="6" name="Text 4"/>
          <p:cNvSpPr/>
          <p:nvPr/>
        </p:nvSpPr>
        <p:spPr>
          <a:xfrm>
            <a:off x="2286000" y="0"/>
            <a:ext cx="2286000" cy="329184"/>
          </a:xfrm>
          <a:prstGeom prst="rect">
            <a:avLst/>
          </a:prstGeom>
          <a:noFill/>
          <a:ln/>
        </p:spPr>
        <p:txBody>
          <a:bodyPr wrap="square" lIns="0" tIns="0" rIns="0" bIns="0" rtlCol="0" anchor="ctr"/>
          <a:lstStyle/>
          <a:p>
            <a:pPr marL="0" indent="0" algn="ctr">
              <a:buNone/>
            </a:pPr>
            <a:r>
              <a:rPr lang="en-US" sz="900" dirty="0">
                <a:solidFill>
                  <a:srgbClr val="707070"/>
                </a:solidFill>
                <a:latin typeface="Fira Code" pitchFamily="34" charset="0"/>
                <a:ea typeface="Fira Code" pitchFamily="34" charset="-122"/>
                <a:cs typeface="Fira Code" pitchFamily="34" charset="-120"/>
              </a:rPr>
              <a:t>workshop.ipynb</a:t>
            </a:r>
            <a:endParaRPr lang="en-US" sz="900" dirty="0"/>
          </a:p>
        </p:txBody>
      </p:sp>
      <p:sp>
        <p:nvSpPr>
          <p:cNvPr id="7" name="Text 5"/>
          <p:cNvSpPr/>
          <p:nvPr/>
        </p:nvSpPr>
        <p:spPr>
          <a:xfrm>
            <a:off x="109728" y="502920"/>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a:t>
            </a:r>
            <a:endParaRPr lang="en-US" sz="800" dirty="0"/>
          </a:p>
        </p:txBody>
      </p:sp>
      <p:sp>
        <p:nvSpPr>
          <p:cNvPr id="8" name="Text 6"/>
          <p:cNvSpPr/>
          <p:nvPr/>
        </p:nvSpPr>
        <p:spPr>
          <a:xfrm>
            <a:off x="109728" y="790956"/>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2</a:t>
            </a:r>
            <a:endParaRPr lang="en-US" sz="800" dirty="0"/>
          </a:p>
        </p:txBody>
      </p:sp>
      <p:sp>
        <p:nvSpPr>
          <p:cNvPr id="9" name="Text 7"/>
          <p:cNvSpPr/>
          <p:nvPr/>
        </p:nvSpPr>
        <p:spPr>
          <a:xfrm>
            <a:off x="109728" y="1078992"/>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3</a:t>
            </a:r>
            <a:endParaRPr lang="en-US" sz="800" dirty="0"/>
          </a:p>
        </p:txBody>
      </p:sp>
      <p:sp>
        <p:nvSpPr>
          <p:cNvPr id="10" name="Text 8"/>
          <p:cNvSpPr/>
          <p:nvPr/>
        </p:nvSpPr>
        <p:spPr>
          <a:xfrm>
            <a:off x="109728" y="1367028"/>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4</a:t>
            </a:r>
            <a:endParaRPr lang="en-US" sz="800" dirty="0"/>
          </a:p>
        </p:txBody>
      </p:sp>
      <p:sp>
        <p:nvSpPr>
          <p:cNvPr id="11" name="Text 9"/>
          <p:cNvSpPr/>
          <p:nvPr/>
        </p:nvSpPr>
        <p:spPr>
          <a:xfrm>
            <a:off x="109728" y="1655064"/>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5</a:t>
            </a:r>
            <a:endParaRPr lang="en-US" sz="800" dirty="0"/>
          </a:p>
        </p:txBody>
      </p:sp>
      <p:sp>
        <p:nvSpPr>
          <p:cNvPr id="12" name="Text 10"/>
          <p:cNvSpPr/>
          <p:nvPr/>
        </p:nvSpPr>
        <p:spPr>
          <a:xfrm>
            <a:off x="109728" y="1943100"/>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6</a:t>
            </a:r>
            <a:endParaRPr lang="en-US" sz="800" dirty="0"/>
          </a:p>
        </p:txBody>
      </p:sp>
      <p:sp>
        <p:nvSpPr>
          <p:cNvPr id="13" name="Text 11"/>
          <p:cNvSpPr/>
          <p:nvPr/>
        </p:nvSpPr>
        <p:spPr>
          <a:xfrm>
            <a:off x="109728" y="2231136"/>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7</a:t>
            </a:r>
            <a:endParaRPr lang="en-US" sz="800" dirty="0"/>
          </a:p>
        </p:txBody>
      </p:sp>
      <p:sp>
        <p:nvSpPr>
          <p:cNvPr id="14" name="Text 12"/>
          <p:cNvSpPr/>
          <p:nvPr/>
        </p:nvSpPr>
        <p:spPr>
          <a:xfrm>
            <a:off x="109728" y="2519172"/>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8</a:t>
            </a:r>
            <a:endParaRPr lang="en-US" sz="800" dirty="0"/>
          </a:p>
        </p:txBody>
      </p:sp>
      <p:sp>
        <p:nvSpPr>
          <p:cNvPr id="15" name="Text 13"/>
          <p:cNvSpPr/>
          <p:nvPr/>
        </p:nvSpPr>
        <p:spPr>
          <a:xfrm>
            <a:off x="109728" y="2807208"/>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9</a:t>
            </a:r>
            <a:endParaRPr lang="en-US" sz="800" dirty="0"/>
          </a:p>
        </p:txBody>
      </p:sp>
      <p:sp>
        <p:nvSpPr>
          <p:cNvPr id="16" name="Text 14"/>
          <p:cNvSpPr/>
          <p:nvPr/>
        </p:nvSpPr>
        <p:spPr>
          <a:xfrm>
            <a:off x="109728" y="3095244"/>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10</a:t>
            </a:r>
            <a:endParaRPr lang="en-US" sz="800" dirty="0"/>
          </a:p>
        </p:txBody>
      </p:sp>
      <p:sp>
        <p:nvSpPr>
          <p:cNvPr id="17" name="Text 15"/>
          <p:cNvSpPr/>
          <p:nvPr/>
        </p:nvSpPr>
        <p:spPr>
          <a:xfrm>
            <a:off x="109728" y="3383280"/>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11</a:t>
            </a:r>
            <a:endParaRPr lang="en-US" sz="800" dirty="0"/>
          </a:p>
        </p:txBody>
      </p:sp>
      <p:sp>
        <p:nvSpPr>
          <p:cNvPr id="18" name="Text 16"/>
          <p:cNvSpPr/>
          <p:nvPr/>
        </p:nvSpPr>
        <p:spPr>
          <a:xfrm>
            <a:off x="109728" y="3671316"/>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12</a:t>
            </a:r>
            <a:endParaRPr lang="en-US" sz="800" dirty="0"/>
          </a:p>
        </p:txBody>
      </p:sp>
      <p:sp>
        <p:nvSpPr>
          <p:cNvPr id="19" name="Text 17"/>
          <p:cNvSpPr/>
          <p:nvPr/>
        </p:nvSpPr>
        <p:spPr>
          <a:xfrm>
            <a:off x="109728" y="3959352"/>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13</a:t>
            </a:r>
            <a:endParaRPr lang="en-US" sz="800" dirty="0"/>
          </a:p>
        </p:txBody>
      </p:sp>
      <p:sp>
        <p:nvSpPr>
          <p:cNvPr id="20" name="Text 18"/>
          <p:cNvSpPr/>
          <p:nvPr/>
        </p:nvSpPr>
        <p:spPr>
          <a:xfrm>
            <a:off x="109728" y="4247388"/>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14</a:t>
            </a:r>
            <a:endParaRPr lang="en-US" sz="800" dirty="0"/>
          </a:p>
        </p:txBody>
      </p:sp>
      <p:sp>
        <p:nvSpPr>
          <p:cNvPr id="21" name="Shape 19"/>
          <p:cNvSpPr/>
          <p:nvPr/>
        </p:nvSpPr>
        <p:spPr>
          <a:xfrm>
            <a:off x="0" y="4796028"/>
            <a:ext cx="9144000" cy="347472"/>
          </a:xfrm>
          <a:prstGeom prst="rect">
            <a:avLst/>
          </a:prstGeom>
          <a:solidFill>
            <a:srgbClr val="16191F"/>
          </a:solidFill>
          <a:ln/>
        </p:spPr>
      </p:sp>
      <p:sp>
        <p:nvSpPr>
          <p:cNvPr id="22" name="Text 20"/>
          <p:cNvSpPr/>
          <p:nvPr/>
        </p:nvSpPr>
        <p:spPr>
          <a:xfrm>
            <a:off x="457200" y="4796028"/>
            <a:ext cx="4114800" cy="347472"/>
          </a:xfrm>
          <a:prstGeom prst="rect">
            <a:avLst/>
          </a:prstGeom>
          <a:noFill/>
          <a:ln/>
        </p:spPr>
        <p:txBody>
          <a:bodyPr wrap="square" lIns="0" tIns="0" rIns="0" bIns="0" rtlCol="0" anchor="ctr"/>
          <a:lstStyle/>
          <a:p>
            <a:pPr marL="0" indent="0">
              <a:buNone/>
            </a:pPr>
            <a:r>
              <a:rPr lang="en-US" sz="900" dirty="0">
                <a:solidFill>
                  <a:srgbClr val="E7E7E7"/>
                </a:solidFill>
                <a:latin typeface="Fira Sans" pitchFamily="34" charset="0"/>
                <a:ea typeface="Fira Sans" pitchFamily="34" charset="-122"/>
                <a:cs typeface="Fira Sans" pitchFamily="34" charset="-120"/>
              </a:rPr>
              <a:t>Python for Energy System Modelling</a:t>
            </a:r>
            <a:endParaRPr lang="en-US" sz="900" dirty="0"/>
          </a:p>
        </p:txBody>
      </p:sp>
      <p:sp>
        <p:nvSpPr>
          <p:cNvPr id="23" name="Text 21"/>
          <p:cNvSpPr/>
          <p:nvPr/>
        </p:nvSpPr>
        <p:spPr>
          <a:xfrm>
            <a:off x="4754880" y="4796028"/>
            <a:ext cx="3383280" cy="347472"/>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Python 3 · UTF-8 · A. A. Wafad</a:t>
            </a:r>
            <a:endParaRPr lang="en-US" sz="8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OTO_LEFT">
    <p:bg>
      <p:bgPr>
        <a:solidFill>
          <a:srgbClr val="2E323B"/>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323B"/>
          </a:solidFill>
          <a:ln/>
        </p:spPr>
      </p:sp>
      <p:sp>
        <p:nvSpPr>
          <p:cNvPr id="3" name="Shape 1"/>
          <p:cNvSpPr/>
          <p:nvPr/>
        </p:nvSpPr>
        <p:spPr>
          <a:xfrm>
            <a:off x="0" y="0"/>
            <a:ext cx="9144000" cy="329184"/>
          </a:xfrm>
          <a:prstGeom prst="rect">
            <a:avLst/>
          </a:prstGeom>
          <a:solidFill>
            <a:srgbClr val="16191F"/>
          </a:solidFill>
          <a:ln/>
        </p:spPr>
      </p:sp>
      <p:sp>
        <p:nvSpPr>
          <p:cNvPr id="4" name="Shape 2"/>
          <p:cNvSpPr/>
          <p:nvPr/>
        </p:nvSpPr>
        <p:spPr>
          <a:xfrm>
            <a:off x="4572000" y="0"/>
            <a:ext cx="2286000" cy="329184"/>
          </a:xfrm>
          <a:prstGeom prst="rect">
            <a:avLst/>
          </a:prstGeom>
          <a:solidFill>
            <a:srgbClr val="2E323B"/>
          </a:solidFill>
          <a:ln/>
        </p:spPr>
      </p:sp>
      <p:sp>
        <p:nvSpPr>
          <p:cNvPr id="5" name="Text 3"/>
          <p:cNvSpPr/>
          <p:nvPr/>
        </p:nvSpPr>
        <p:spPr>
          <a:xfrm>
            <a:off x="4572000" y="0"/>
            <a:ext cx="2286000" cy="329184"/>
          </a:xfrm>
          <a:prstGeom prst="rect">
            <a:avLst/>
          </a:prstGeom>
          <a:noFill/>
          <a:ln/>
        </p:spPr>
        <p:txBody>
          <a:bodyPr wrap="square" lIns="0" tIns="0" rIns="0" bIns="0" rtlCol="0" anchor="ctr"/>
          <a:lstStyle/>
          <a:p>
            <a:pPr marL="0" indent="0" algn="ctr">
              <a:buNone/>
            </a:pPr>
            <a:r>
              <a:rPr lang="en-US" sz="900" dirty="0">
                <a:solidFill>
                  <a:srgbClr val="E7E7E7"/>
                </a:solidFill>
                <a:latin typeface="Fira Code" pitchFamily="34" charset="0"/>
                <a:ea typeface="Fira Code" pitchFamily="34" charset="-122"/>
                <a:cs typeface="Fira Code" pitchFamily="34" charset="-120"/>
              </a:rPr>
              <a:t>energy_model.py</a:t>
            </a:r>
            <a:endParaRPr lang="en-US" sz="900" dirty="0"/>
          </a:p>
        </p:txBody>
      </p:sp>
      <p:sp>
        <p:nvSpPr>
          <p:cNvPr id="6" name="Text 4"/>
          <p:cNvSpPr/>
          <p:nvPr/>
        </p:nvSpPr>
        <p:spPr>
          <a:xfrm>
            <a:off x="6858000" y="0"/>
            <a:ext cx="2286000" cy="329184"/>
          </a:xfrm>
          <a:prstGeom prst="rect">
            <a:avLst/>
          </a:prstGeom>
          <a:noFill/>
          <a:ln/>
        </p:spPr>
        <p:txBody>
          <a:bodyPr wrap="square" lIns="0" tIns="0" rIns="0" bIns="0" rtlCol="0" anchor="ctr"/>
          <a:lstStyle/>
          <a:p>
            <a:pPr marL="0" indent="0" algn="ctr">
              <a:buNone/>
            </a:pPr>
            <a:r>
              <a:rPr lang="en-US" sz="900" dirty="0">
                <a:solidFill>
                  <a:srgbClr val="707070"/>
                </a:solidFill>
                <a:latin typeface="Fira Code" pitchFamily="34" charset="0"/>
                <a:ea typeface="Fira Code" pitchFamily="34" charset="-122"/>
                <a:cs typeface="Fira Code" pitchFamily="34" charset="-120"/>
              </a:rPr>
              <a:t>workshop.ipynb</a:t>
            </a:r>
            <a:endParaRPr lang="en-US" sz="900" dirty="0"/>
          </a:p>
        </p:txBody>
      </p:sp>
      <p:sp>
        <p:nvSpPr>
          <p:cNvPr id="7" name="Text 5"/>
          <p:cNvSpPr/>
          <p:nvPr/>
        </p:nvSpPr>
        <p:spPr>
          <a:xfrm>
            <a:off x="4681728" y="502920"/>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a:t>
            </a:r>
            <a:endParaRPr lang="en-US" sz="800" dirty="0"/>
          </a:p>
        </p:txBody>
      </p:sp>
      <p:sp>
        <p:nvSpPr>
          <p:cNvPr id="8" name="Text 6"/>
          <p:cNvSpPr/>
          <p:nvPr/>
        </p:nvSpPr>
        <p:spPr>
          <a:xfrm>
            <a:off x="4681728" y="790956"/>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2</a:t>
            </a:r>
            <a:endParaRPr lang="en-US" sz="800" dirty="0"/>
          </a:p>
        </p:txBody>
      </p:sp>
      <p:sp>
        <p:nvSpPr>
          <p:cNvPr id="9" name="Text 7"/>
          <p:cNvSpPr/>
          <p:nvPr/>
        </p:nvSpPr>
        <p:spPr>
          <a:xfrm>
            <a:off x="4681728" y="1078992"/>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3</a:t>
            </a:r>
            <a:endParaRPr lang="en-US" sz="800" dirty="0"/>
          </a:p>
        </p:txBody>
      </p:sp>
      <p:sp>
        <p:nvSpPr>
          <p:cNvPr id="10" name="Text 8"/>
          <p:cNvSpPr/>
          <p:nvPr/>
        </p:nvSpPr>
        <p:spPr>
          <a:xfrm>
            <a:off x="4681728" y="1367028"/>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4</a:t>
            </a:r>
            <a:endParaRPr lang="en-US" sz="800" dirty="0"/>
          </a:p>
        </p:txBody>
      </p:sp>
      <p:sp>
        <p:nvSpPr>
          <p:cNvPr id="11" name="Text 9"/>
          <p:cNvSpPr/>
          <p:nvPr/>
        </p:nvSpPr>
        <p:spPr>
          <a:xfrm>
            <a:off x="4681728" y="1655064"/>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5</a:t>
            </a:r>
            <a:endParaRPr lang="en-US" sz="800" dirty="0"/>
          </a:p>
        </p:txBody>
      </p:sp>
      <p:sp>
        <p:nvSpPr>
          <p:cNvPr id="12" name="Text 10"/>
          <p:cNvSpPr/>
          <p:nvPr/>
        </p:nvSpPr>
        <p:spPr>
          <a:xfrm>
            <a:off x="4681728" y="1943100"/>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6</a:t>
            </a:r>
            <a:endParaRPr lang="en-US" sz="800" dirty="0"/>
          </a:p>
        </p:txBody>
      </p:sp>
      <p:sp>
        <p:nvSpPr>
          <p:cNvPr id="13" name="Text 11"/>
          <p:cNvSpPr/>
          <p:nvPr/>
        </p:nvSpPr>
        <p:spPr>
          <a:xfrm>
            <a:off x="4681728" y="2231136"/>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7</a:t>
            </a:r>
            <a:endParaRPr lang="en-US" sz="800" dirty="0"/>
          </a:p>
        </p:txBody>
      </p:sp>
      <p:sp>
        <p:nvSpPr>
          <p:cNvPr id="14" name="Text 12"/>
          <p:cNvSpPr/>
          <p:nvPr/>
        </p:nvSpPr>
        <p:spPr>
          <a:xfrm>
            <a:off x="4681728" y="2519172"/>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8</a:t>
            </a:r>
            <a:endParaRPr lang="en-US" sz="800" dirty="0"/>
          </a:p>
        </p:txBody>
      </p:sp>
      <p:sp>
        <p:nvSpPr>
          <p:cNvPr id="15" name="Text 13"/>
          <p:cNvSpPr/>
          <p:nvPr/>
        </p:nvSpPr>
        <p:spPr>
          <a:xfrm>
            <a:off x="4681728" y="2807208"/>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9</a:t>
            </a:r>
            <a:endParaRPr lang="en-US" sz="800" dirty="0"/>
          </a:p>
        </p:txBody>
      </p:sp>
      <p:sp>
        <p:nvSpPr>
          <p:cNvPr id="16" name="Text 14"/>
          <p:cNvSpPr/>
          <p:nvPr/>
        </p:nvSpPr>
        <p:spPr>
          <a:xfrm>
            <a:off x="4681728" y="3095244"/>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10</a:t>
            </a:r>
            <a:endParaRPr lang="en-US" sz="800" dirty="0"/>
          </a:p>
        </p:txBody>
      </p:sp>
      <p:sp>
        <p:nvSpPr>
          <p:cNvPr id="17" name="Text 15"/>
          <p:cNvSpPr/>
          <p:nvPr/>
        </p:nvSpPr>
        <p:spPr>
          <a:xfrm>
            <a:off x="4681728" y="3383280"/>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11</a:t>
            </a:r>
            <a:endParaRPr lang="en-US" sz="800" dirty="0"/>
          </a:p>
        </p:txBody>
      </p:sp>
      <p:sp>
        <p:nvSpPr>
          <p:cNvPr id="18" name="Text 16"/>
          <p:cNvSpPr/>
          <p:nvPr/>
        </p:nvSpPr>
        <p:spPr>
          <a:xfrm>
            <a:off x="4681728" y="3671316"/>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12</a:t>
            </a:r>
            <a:endParaRPr lang="en-US" sz="800" dirty="0"/>
          </a:p>
        </p:txBody>
      </p:sp>
      <p:sp>
        <p:nvSpPr>
          <p:cNvPr id="19" name="Text 17"/>
          <p:cNvSpPr/>
          <p:nvPr/>
        </p:nvSpPr>
        <p:spPr>
          <a:xfrm>
            <a:off x="4681728" y="3959352"/>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13</a:t>
            </a:r>
            <a:endParaRPr lang="en-US" sz="800" dirty="0"/>
          </a:p>
        </p:txBody>
      </p:sp>
      <p:sp>
        <p:nvSpPr>
          <p:cNvPr id="20" name="Text 18"/>
          <p:cNvSpPr/>
          <p:nvPr/>
        </p:nvSpPr>
        <p:spPr>
          <a:xfrm>
            <a:off x="4681728" y="4247388"/>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14</a:t>
            </a:r>
            <a:endParaRPr lang="en-US" sz="800" dirty="0"/>
          </a:p>
        </p:txBody>
      </p:sp>
      <p:sp>
        <p:nvSpPr>
          <p:cNvPr id="21" name="Shape 19"/>
          <p:cNvSpPr/>
          <p:nvPr/>
        </p:nvSpPr>
        <p:spPr>
          <a:xfrm>
            <a:off x="0" y="4796028"/>
            <a:ext cx="9144000" cy="347472"/>
          </a:xfrm>
          <a:prstGeom prst="rect">
            <a:avLst/>
          </a:prstGeom>
          <a:solidFill>
            <a:srgbClr val="16191F"/>
          </a:solidFill>
          <a:ln/>
        </p:spPr>
      </p:sp>
      <p:sp>
        <p:nvSpPr>
          <p:cNvPr id="22" name="Text 20"/>
          <p:cNvSpPr/>
          <p:nvPr/>
        </p:nvSpPr>
        <p:spPr>
          <a:xfrm>
            <a:off x="457200" y="4796028"/>
            <a:ext cx="4114800" cy="347472"/>
          </a:xfrm>
          <a:prstGeom prst="rect">
            <a:avLst/>
          </a:prstGeom>
          <a:noFill/>
          <a:ln/>
        </p:spPr>
        <p:txBody>
          <a:bodyPr wrap="square" lIns="0" tIns="0" rIns="0" bIns="0" rtlCol="0" anchor="ctr"/>
          <a:lstStyle/>
          <a:p>
            <a:pPr marL="0" indent="0">
              <a:buNone/>
            </a:pPr>
            <a:r>
              <a:rPr lang="en-US" sz="900" dirty="0">
                <a:solidFill>
                  <a:srgbClr val="E7E7E7"/>
                </a:solidFill>
                <a:latin typeface="Fira Sans" pitchFamily="34" charset="0"/>
                <a:ea typeface="Fira Sans" pitchFamily="34" charset="-122"/>
                <a:cs typeface="Fira Sans" pitchFamily="34" charset="-120"/>
              </a:rPr>
              <a:t>Python for Energy System Modelling</a:t>
            </a:r>
            <a:endParaRPr lang="en-US" sz="900" dirty="0"/>
          </a:p>
        </p:txBody>
      </p:sp>
      <p:sp>
        <p:nvSpPr>
          <p:cNvPr id="23" name="Text 21"/>
          <p:cNvSpPr/>
          <p:nvPr/>
        </p:nvSpPr>
        <p:spPr>
          <a:xfrm>
            <a:off x="4754880" y="4796028"/>
            <a:ext cx="3383280" cy="347472"/>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Python 3 · UTF-8 · A. A. Wafad</a:t>
            </a:r>
            <a:endParaRPr lang="en-US" sz="8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OTO_RIGHT">
    <p:bg>
      <p:bgPr>
        <a:solidFill>
          <a:srgbClr val="2E323B"/>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323B"/>
          </a:solidFill>
          <a:ln/>
        </p:spPr>
      </p:sp>
      <p:sp>
        <p:nvSpPr>
          <p:cNvPr id="3" name="Shape 1"/>
          <p:cNvSpPr/>
          <p:nvPr/>
        </p:nvSpPr>
        <p:spPr>
          <a:xfrm>
            <a:off x="0" y="0"/>
            <a:ext cx="9144000" cy="329184"/>
          </a:xfrm>
          <a:prstGeom prst="rect">
            <a:avLst/>
          </a:prstGeom>
          <a:solidFill>
            <a:srgbClr val="16191F"/>
          </a:solidFill>
          <a:ln/>
        </p:spPr>
      </p:sp>
      <p:sp>
        <p:nvSpPr>
          <p:cNvPr id="4" name="Shape 2"/>
          <p:cNvSpPr/>
          <p:nvPr/>
        </p:nvSpPr>
        <p:spPr>
          <a:xfrm>
            <a:off x="0" y="0"/>
            <a:ext cx="2286000" cy="329184"/>
          </a:xfrm>
          <a:prstGeom prst="rect">
            <a:avLst/>
          </a:prstGeom>
          <a:solidFill>
            <a:srgbClr val="2E323B"/>
          </a:solidFill>
          <a:ln/>
        </p:spPr>
      </p:sp>
      <p:sp>
        <p:nvSpPr>
          <p:cNvPr id="5" name="Text 3"/>
          <p:cNvSpPr/>
          <p:nvPr/>
        </p:nvSpPr>
        <p:spPr>
          <a:xfrm>
            <a:off x="0" y="0"/>
            <a:ext cx="2286000" cy="329184"/>
          </a:xfrm>
          <a:prstGeom prst="rect">
            <a:avLst/>
          </a:prstGeom>
          <a:noFill/>
          <a:ln/>
        </p:spPr>
        <p:txBody>
          <a:bodyPr wrap="square" lIns="0" tIns="0" rIns="0" bIns="0" rtlCol="0" anchor="ctr"/>
          <a:lstStyle/>
          <a:p>
            <a:pPr marL="0" indent="0" algn="ctr">
              <a:buNone/>
            </a:pPr>
            <a:r>
              <a:rPr lang="en-US" sz="900" dirty="0">
                <a:solidFill>
                  <a:srgbClr val="E7E7E7"/>
                </a:solidFill>
                <a:latin typeface="Fira Code" pitchFamily="34" charset="0"/>
                <a:ea typeface="Fira Code" pitchFamily="34" charset="-122"/>
                <a:cs typeface="Fira Code" pitchFamily="34" charset="-120"/>
              </a:rPr>
              <a:t>energy_model.py</a:t>
            </a:r>
            <a:endParaRPr lang="en-US" sz="900" dirty="0"/>
          </a:p>
        </p:txBody>
      </p:sp>
      <p:sp>
        <p:nvSpPr>
          <p:cNvPr id="6" name="Text 4"/>
          <p:cNvSpPr/>
          <p:nvPr/>
        </p:nvSpPr>
        <p:spPr>
          <a:xfrm>
            <a:off x="2286000" y="0"/>
            <a:ext cx="2286000" cy="329184"/>
          </a:xfrm>
          <a:prstGeom prst="rect">
            <a:avLst/>
          </a:prstGeom>
          <a:noFill/>
          <a:ln/>
        </p:spPr>
        <p:txBody>
          <a:bodyPr wrap="square" lIns="0" tIns="0" rIns="0" bIns="0" rtlCol="0" anchor="ctr"/>
          <a:lstStyle/>
          <a:p>
            <a:pPr marL="0" indent="0" algn="ctr">
              <a:buNone/>
            </a:pPr>
            <a:r>
              <a:rPr lang="en-US" sz="900" dirty="0">
                <a:solidFill>
                  <a:srgbClr val="707070"/>
                </a:solidFill>
                <a:latin typeface="Fira Code" pitchFamily="34" charset="0"/>
                <a:ea typeface="Fira Code" pitchFamily="34" charset="-122"/>
                <a:cs typeface="Fira Code" pitchFamily="34" charset="-120"/>
              </a:rPr>
              <a:t>workshop.ipynb</a:t>
            </a:r>
            <a:endParaRPr lang="en-US" sz="900" dirty="0"/>
          </a:p>
        </p:txBody>
      </p:sp>
      <p:sp>
        <p:nvSpPr>
          <p:cNvPr id="7" name="Text 5"/>
          <p:cNvSpPr/>
          <p:nvPr/>
        </p:nvSpPr>
        <p:spPr>
          <a:xfrm>
            <a:off x="109728" y="502920"/>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a:t>
            </a:r>
            <a:endParaRPr lang="en-US" sz="800" dirty="0"/>
          </a:p>
        </p:txBody>
      </p:sp>
      <p:sp>
        <p:nvSpPr>
          <p:cNvPr id="8" name="Text 6"/>
          <p:cNvSpPr/>
          <p:nvPr/>
        </p:nvSpPr>
        <p:spPr>
          <a:xfrm>
            <a:off x="109728" y="790956"/>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2</a:t>
            </a:r>
            <a:endParaRPr lang="en-US" sz="800" dirty="0"/>
          </a:p>
        </p:txBody>
      </p:sp>
      <p:sp>
        <p:nvSpPr>
          <p:cNvPr id="9" name="Text 7"/>
          <p:cNvSpPr/>
          <p:nvPr/>
        </p:nvSpPr>
        <p:spPr>
          <a:xfrm>
            <a:off x="109728" y="1078992"/>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3</a:t>
            </a:r>
            <a:endParaRPr lang="en-US" sz="800" dirty="0"/>
          </a:p>
        </p:txBody>
      </p:sp>
      <p:sp>
        <p:nvSpPr>
          <p:cNvPr id="10" name="Text 8"/>
          <p:cNvSpPr/>
          <p:nvPr/>
        </p:nvSpPr>
        <p:spPr>
          <a:xfrm>
            <a:off x="109728" y="1367028"/>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4</a:t>
            </a:r>
            <a:endParaRPr lang="en-US" sz="800" dirty="0"/>
          </a:p>
        </p:txBody>
      </p:sp>
      <p:sp>
        <p:nvSpPr>
          <p:cNvPr id="11" name="Text 9"/>
          <p:cNvSpPr/>
          <p:nvPr/>
        </p:nvSpPr>
        <p:spPr>
          <a:xfrm>
            <a:off x="109728" y="1655064"/>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5</a:t>
            </a:r>
            <a:endParaRPr lang="en-US" sz="800" dirty="0"/>
          </a:p>
        </p:txBody>
      </p:sp>
      <p:sp>
        <p:nvSpPr>
          <p:cNvPr id="12" name="Text 10"/>
          <p:cNvSpPr/>
          <p:nvPr/>
        </p:nvSpPr>
        <p:spPr>
          <a:xfrm>
            <a:off x="109728" y="1943100"/>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6</a:t>
            </a:r>
            <a:endParaRPr lang="en-US" sz="800" dirty="0"/>
          </a:p>
        </p:txBody>
      </p:sp>
      <p:sp>
        <p:nvSpPr>
          <p:cNvPr id="13" name="Text 11"/>
          <p:cNvSpPr/>
          <p:nvPr/>
        </p:nvSpPr>
        <p:spPr>
          <a:xfrm>
            <a:off x="109728" y="2231136"/>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7</a:t>
            </a:r>
            <a:endParaRPr lang="en-US" sz="800" dirty="0"/>
          </a:p>
        </p:txBody>
      </p:sp>
      <p:sp>
        <p:nvSpPr>
          <p:cNvPr id="14" name="Text 12"/>
          <p:cNvSpPr/>
          <p:nvPr/>
        </p:nvSpPr>
        <p:spPr>
          <a:xfrm>
            <a:off x="109728" y="2519172"/>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8</a:t>
            </a:r>
            <a:endParaRPr lang="en-US" sz="800" dirty="0"/>
          </a:p>
        </p:txBody>
      </p:sp>
      <p:sp>
        <p:nvSpPr>
          <p:cNvPr id="15" name="Text 13"/>
          <p:cNvSpPr/>
          <p:nvPr/>
        </p:nvSpPr>
        <p:spPr>
          <a:xfrm>
            <a:off x="109728" y="2807208"/>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9</a:t>
            </a:r>
            <a:endParaRPr lang="en-US" sz="800" dirty="0"/>
          </a:p>
        </p:txBody>
      </p:sp>
      <p:sp>
        <p:nvSpPr>
          <p:cNvPr id="16" name="Text 14"/>
          <p:cNvSpPr/>
          <p:nvPr/>
        </p:nvSpPr>
        <p:spPr>
          <a:xfrm>
            <a:off x="109728" y="3095244"/>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10</a:t>
            </a:r>
            <a:endParaRPr lang="en-US" sz="800" dirty="0"/>
          </a:p>
        </p:txBody>
      </p:sp>
      <p:sp>
        <p:nvSpPr>
          <p:cNvPr id="17" name="Text 15"/>
          <p:cNvSpPr/>
          <p:nvPr/>
        </p:nvSpPr>
        <p:spPr>
          <a:xfrm>
            <a:off x="109728" y="3383280"/>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11</a:t>
            </a:r>
            <a:endParaRPr lang="en-US" sz="800" dirty="0"/>
          </a:p>
        </p:txBody>
      </p:sp>
      <p:sp>
        <p:nvSpPr>
          <p:cNvPr id="18" name="Text 16"/>
          <p:cNvSpPr/>
          <p:nvPr/>
        </p:nvSpPr>
        <p:spPr>
          <a:xfrm>
            <a:off x="109728" y="3671316"/>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12</a:t>
            </a:r>
            <a:endParaRPr lang="en-US" sz="800" dirty="0"/>
          </a:p>
        </p:txBody>
      </p:sp>
      <p:sp>
        <p:nvSpPr>
          <p:cNvPr id="19" name="Text 17"/>
          <p:cNvSpPr/>
          <p:nvPr/>
        </p:nvSpPr>
        <p:spPr>
          <a:xfrm>
            <a:off x="109728" y="3959352"/>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13</a:t>
            </a:r>
            <a:endParaRPr lang="en-US" sz="800" dirty="0"/>
          </a:p>
        </p:txBody>
      </p:sp>
      <p:sp>
        <p:nvSpPr>
          <p:cNvPr id="20" name="Text 18"/>
          <p:cNvSpPr/>
          <p:nvPr/>
        </p:nvSpPr>
        <p:spPr>
          <a:xfrm>
            <a:off x="109728" y="4247388"/>
            <a:ext cx="292608" cy="219456"/>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14</a:t>
            </a:r>
            <a:endParaRPr lang="en-US" sz="800" dirty="0"/>
          </a:p>
        </p:txBody>
      </p:sp>
      <p:sp>
        <p:nvSpPr>
          <p:cNvPr id="21" name="Shape 19"/>
          <p:cNvSpPr/>
          <p:nvPr/>
        </p:nvSpPr>
        <p:spPr>
          <a:xfrm>
            <a:off x="0" y="4796028"/>
            <a:ext cx="9144000" cy="347472"/>
          </a:xfrm>
          <a:prstGeom prst="rect">
            <a:avLst/>
          </a:prstGeom>
          <a:solidFill>
            <a:srgbClr val="16191F"/>
          </a:solidFill>
          <a:ln/>
        </p:spPr>
      </p:sp>
      <p:sp>
        <p:nvSpPr>
          <p:cNvPr id="22" name="Text 20"/>
          <p:cNvSpPr/>
          <p:nvPr/>
        </p:nvSpPr>
        <p:spPr>
          <a:xfrm>
            <a:off x="457200" y="4796028"/>
            <a:ext cx="4114800" cy="347472"/>
          </a:xfrm>
          <a:prstGeom prst="rect">
            <a:avLst/>
          </a:prstGeom>
          <a:noFill/>
          <a:ln/>
        </p:spPr>
        <p:txBody>
          <a:bodyPr wrap="square" lIns="0" tIns="0" rIns="0" bIns="0" rtlCol="0" anchor="ctr"/>
          <a:lstStyle/>
          <a:p>
            <a:pPr marL="0" indent="0">
              <a:buNone/>
            </a:pPr>
            <a:r>
              <a:rPr lang="en-US" sz="900" dirty="0">
                <a:solidFill>
                  <a:srgbClr val="E7E7E7"/>
                </a:solidFill>
                <a:latin typeface="Fira Sans" pitchFamily="34" charset="0"/>
                <a:ea typeface="Fira Sans" pitchFamily="34" charset="-122"/>
                <a:cs typeface="Fira Sans" pitchFamily="34" charset="-120"/>
              </a:rPr>
              <a:t>Python for Energy System Modelling</a:t>
            </a:r>
            <a:endParaRPr lang="en-US" sz="900" dirty="0"/>
          </a:p>
        </p:txBody>
      </p:sp>
      <p:sp>
        <p:nvSpPr>
          <p:cNvPr id="23" name="Text 21"/>
          <p:cNvSpPr/>
          <p:nvPr/>
        </p:nvSpPr>
        <p:spPr>
          <a:xfrm>
            <a:off x="4754880" y="4796028"/>
            <a:ext cx="3383280" cy="347472"/>
          </a:xfrm>
          <a:prstGeom prst="rect">
            <a:avLst/>
          </a:prstGeom>
          <a:noFill/>
          <a:ln/>
        </p:spPr>
        <p:txBody>
          <a:bodyPr wrap="square" lIns="0" tIns="0" rIns="0" bIns="0" rtlCol="0" anchor="ctr"/>
          <a:lstStyle/>
          <a:p>
            <a:pPr marL="0" indent="0" algn="r">
              <a:buNone/>
            </a:pPr>
            <a:r>
              <a:rPr lang="en-US" sz="800" dirty="0">
                <a:solidFill>
                  <a:srgbClr val="707070"/>
                </a:solidFill>
                <a:latin typeface="Fira Code" pitchFamily="34" charset="0"/>
                <a:ea typeface="Fira Code" pitchFamily="34" charset="-122"/>
                <a:cs typeface="Fira Code" pitchFamily="34" charset="-120"/>
              </a:rPr>
              <a:t>Python 3 · UTF-8 · A. A. Wafad</a:t>
            </a:r>
            <a:endParaRPr lang="en-US" sz="8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mailto:aawafad@nortum.co.uk"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hyperlink" Target="http://www.linkedin.com/in/ammar-ahmed-wafad-1921ab7b"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85800" y="731520"/>
            <a:ext cx="4389120" cy="411480"/>
          </a:xfrm>
          <a:prstGeom prst="rect">
            <a:avLst/>
          </a:prstGeom>
          <a:noFill/>
          <a:ln/>
        </p:spPr>
        <p:txBody>
          <a:bodyPr wrap="square" lIns="0" tIns="0" rIns="0" bIns="0" rtlCol="0" anchor="t"/>
          <a:lstStyle/>
          <a:p>
            <a:pPr marL="0" indent="0">
              <a:buNone/>
            </a:pPr>
            <a:r>
              <a:rPr lang="en-US" sz="2400" dirty="0">
                <a:solidFill>
                  <a:srgbClr val="FF5858"/>
                </a:solidFill>
                <a:latin typeface="Fira Code" pitchFamily="34" charset="0"/>
                <a:ea typeface="Fira Code" pitchFamily="34" charset="-122"/>
                <a:cs typeface="Fira Code" pitchFamily="34" charset="-120"/>
              </a:rPr>
              <a:t>Python for</a:t>
            </a:r>
            <a:r>
              <a:rPr lang="en-US" sz="2400" dirty="0">
                <a:solidFill>
                  <a:srgbClr val="E7E7E7"/>
                </a:solidFill>
                <a:latin typeface="Fira Code" pitchFamily="34" charset="0"/>
                <a:ea typeface="Fira Code" pitchFamily="34" charset="-122"/>
                <a:cs typeface="Fira Code" pitchFamily="34" charset="-120"/>
              </a:rPr>
              <a:t> {</a:t>
            </a:r>
            <a:endParaRPr lang="en-US" sz="2400" dirty="0"/>
          </a:p>
        </p:txBody>
      </p:sp>
      <p:sp>
        <p:nvSpPr>
          <p:cNvPr id="4" name="Text 1"/>
          <p:cNvSpPr txBox="1"/>
          <p:nvPr/>
        </p:nvSpPr>
        <p:spPr>
          <a:xfrm>
            <a:off x="960120" y="1188720"/>
            <a:ext cx="4206240" cy="365760"/>
          </a:xfrm>
          <a:prstGeom prst="rect">
            <a:avLst/>
          </a:prstGeom>
          <a:noFill/>
          <a:ln/>
        </p:spPr>
        <p:txBody>
          <a:bodyPr wrap="square" lIns="0" tIns="0" rIns="0" bIns="0" rtlCol="0" anchor="t"/>
          <a:lstStyle/>
          <a:p>
            <a:pPr marL="0" indent="0">
              <a:buNone/>
            </a:pPr>
            <a:r>
              <a:rPr lang="en-US" sz="1900" dirty="0">
                <a:solidFill>
                  <a:srgbClr val="FCC642"/>
                </a:solidFill>
                <a:latin typeface="Fira Code" pitchFamily="34" charset="0"/>
                <a:ea typeface="Fira Code" pitchFamily="34" charset="-122"/>
                <a:cs typeface="Fira Code" pitchFamily="34" charset="-120"/>
              </a:rPr>
              <a:t>'Energy System Modelling'</a:t>
            </a:r>
            <a:endParaRPr lang="en-US" sz="1900" dirty="0"/>
          </a:p>
        </p:txBody>
      </p:sp>
      <p:sp>
        <p:nvSpPr>
          <p:cNvPr id="5" name="Text 2"/>
          <p:cNvSpPr txBox="1"/>
          <p:nvPr/>
        </p:nvSpPr>
        <p:spPr>
          <a:xfrm>
            <a:off x="960120" y="1572768"/>
            <a:ext cx="4206240" cy="365760"/>
          </a:xfrm>
          <a:prstGeom prst="rect">
            <a:avLst/>
          </a:prstGeom>
          <a:noFill/>
          <a:ln/>
        </p:spPr>
        <p:txBody>
          <a:bodyPr wrap="square" lIns="0" tIns="0" rIns="0" bIns="0" rtlCol="0" anchor="t"/>
          <a:lstStyle/>
          <a:p>
            <a:pPr marL="0" indent="0">
              <a:buNone/>
            </a:pPr>
            <a:r>
              <a:rPr lang="en-US" sz="1900" dirty="0" smtClean="0">
                <a:solidFill>
                  <a:srgbClr val="DBA0DB"/>
                </a:solidFill>
                <a:latin typeface="Fira Code" pitchFamily="34" charset="0"/>
                <a:ea typeface="Fira Code" pitchFamily="34" charset="-122"/>
                <a:cs typeface="Fira Code" pitchFamily="34" charset="-120"/>
              </a:rPr>
              <a:t>[</a:t>
            </a:r>
            <a:r>
              <a:rPr lang="en-US" sz="1900" dirty="0" err="1" smtClean="0">
                <a:solidFill>
                  <a:srgbClr val="DBA0DB"/>
                </a:solidFill>
                <a:latin typeface="Fira Code" pitchFamily="34" charset="0"/>
                <a:ea typeface="Fira Code" pitchFamily="34" charset="-122"/>
                <a:cs typeface="Fira Code" pitchFamily="34" charset="-120"/>
              </a:rPr>
              <a:t>PyPSA</a:t>
            </a:r>
            <a:r>
              <a:rPr lang="en-US" sz="1900" dirty="0" smtClean="0">
                <a:solidFill>
                  <a:srgbClr val="DBA0DB"/>
                </a:solidFill>
                <a:latin typeface="Fira Code" pitchFamily="34" charset="0"/>
                <a:ea typeface="Fira Code" pitchFamily="34" charset="-122"/>
                <a:cs typeface="Fira Code" pitchFamily="34" charset="-120"/>
              </a:rPr>
              <a:t> </a:t>
            </a:r>
            <a:r>
              <a:rPr lang="en-US" sz="1900" dirty="0">
                <a:solidFill>
                  <a:srgbClr val="DBA0DB"/>
                </a:solidFill>
                <a:latin typeface="Fira Code" pitchFamily="34" charset="0"/>
                <a:ea typeface="Fira Code" pitchFamily="34" charset="-122"/>
                <a:cs typeface="Fira Code" pitchFamily="34" charset="-120"/>
              </a:rPr>
              <a:t>Workshop]</a:t>
            </a:r>
            <a:endParaRPr lang="en-US" sz="1900" dirty="0"/>
          </a:p>
        </p:txBody>
      </p:sp>
      <p:sp>
        <p:nvSpPr>
          <p:cNvPr id="6" name="Text 3"/>
          <p:cNvSpPr txBox="1"/>
          <p:nvPr/>
        </p:nvSpPr>
        <p:spPr>
          <a:xfrm>
            <a:off x="960120" y="2103120"/>
            <a:ext cx="3840480" cy="594360"/>
          </a:xfrm>
          <a:prstGeom prst="rect">
            <a:avLst/>
          </a:prstGeom>
          <a:noFill/>
          <a:ln/>
        </p:spPr>
        <p:txBody>
          <a:bodyPr wrap="square" lIns="0" tIns="0" rIns="0" bIns="0" rtlCol="0" anchor="t"/>
          <a:lstStyle/>
          <a:p>
            <a:pPr marL="0" indent="0">
              <a:buNone/>
            </a:pPr>
            <a:r>
              <a:rPr lang="en-US" sz="1400" dirty="0">
                <a:solidFill>
                  <a:srgbClr val="E7E7E7"/>
                </a:solidFill>
                <a:latin typeface="Fira Sans" pitchFamily="34" charset="0"/>
                <a:ea typeface="Fira Sans" pitchFamily="34" charset="-122"/>
                <a:cs typeface="Fira Sans" pitchFamily="34" charset="-120"/>
              </a:rPr>
              <a:t>From hourly data to an optimised dispatch, with open-source tools</a:t>
            </a:r>
            <a:endParaRPr lang="en-US" sz="1400" dirty="0"/>
          </a:p>
        </p:txBody>
      </p:sp>
      <p:sp>
        <p:nvSpPr>
          <p:cNvPr id="7" name="Shape 4"/>
          <p:cNvSpPr/>
          <p:nvPr/>
        </p:nvSpPr>
        <p:spPr>
          <a:xfrm>
            <a:off x="868680" y="1188720"/>
            <a:ext cx="0" cy="2514600"/>
          </a:xfrm>
          <a:prstGeom prst="line">
            <a:avLst/>
          </a:prstGeom>
          <a:noFill/>
          <a:ln w="12700">
            <a:solidFill>
              <a:srgbClr val="3E434E"/>
            </a:solidFill>
            <a:prstDash val="solid"/>
          </a:ln>
        </p:spPr>
      </p:sp>
      <p:sp>
        <p:nvSpPr>
          <p:cNvPr id="8" name="Text 5"/>
          <p:cNvSpPr txBox="1"/>
          <p:nvPr/>
        </p:nvSpPr>
        <p:spPr>
          <a:xfrm>
            <a:off x="685800" y="3749040"/>
            <a:ext cx="365760" cy="365760"/>
          </a:xfrm>
          <a:prstGeom prst="rect">
            <a:avLst/>
          </a:prstGeom>
          <a:noFill/>
          <a:ln/>
        </p:spPr>
        <p:txBody>
          <a:bodyPr wrap="square" lIns="0" tIns="0" rIns="0" bIns="0" rtlCol="0" anchor="t"/>
          <a:lstStyle/>
          <a:p>
            <a:pPr marL="0" indent="0">
              <a:buNone/>
            </a:pPr>
            <a:r>
              <a:rPr lang="en-US" sz="2400" dirty="0">
                <a:solidFill>
                  <a:srgbClr val="E7E7E7"/>
                </a:solidFill>
                <a:latin typeface="Fira Code" pitchFamily="34" charset="0"/>
                <a:ea typeface="Fira Code" pitchFamily="34" charset="-122"/>
                <a:cs typeface="Fira Code" pitchFamily="34" charset="-120"/>
              </a:rPr>
              <a:t>}</a:t>
            </a:r>
            <a:endParaRPr lang="en-US" sz="2400" dirty="0"/>
          </a:p>
        </p:txBody>
      </p:sp>
      <p:sp>
        <p:nvSpPr>
          <p:cNvPr id="9" name="Text 6"/>
          <p:cNvSpPr txBox="1"/>
          <p:nvPr/>
        </p:nvSpPr>
        <p:spPr>
          <a:xfrm>
            <a:off x="960120" y="2971800"/>
            <a:ext cx="3931920" cy="640080"/>
          </a:xfrm>
          <a:prstGeom prst="rect">
            <a:avLst/>
          </a:prstGeom>
          <a:noFill/>
          <a:ln/>
        </p:spPr>
        <p:txBody>
          <a:bodyPr wrap="square" lIns="0" tIns="0" rIns="0" bIns="0" rtlCol="0" anchor="t"/>
          <a:lstStyle/>
          <a:p>
            <a:pPr marL="0" indent="0">
              <a:buNone/>
            </a:pPr>
            <a:r>
              <a:rPr lang="en-US" sz="1300" b="1" dirty="0">
                <a:solidFill>
                  <a:srgbClr val="FFFFFF"/>
                </a:solidFill>
                <a:latin typeface="Fira Sans" pitchFamily="34" charset="0"/>
                <a:ea typeface="Fira Sans" pitchFamily="34" charset="-122"/>
                <a:cs typeface="Fira Sans" pitchFamily="34" charset="-120"/>
              </a:rPr>
              <a:t>Ammar Ahmed Wafad</a:t>
            </a:r>
            <a:endParaRPr lang="en-US" sz="1300" dirty="0"/>
          </a:p>
          <a:p>
            <a:pPr marL="0" indent="0">
              <a:buNone/>
            </a:pPr>
            <a:r>
              <a:rPr lang="en-US" sz="1000" dirty="0">
                <a:solidFill>
                  <a:srgbClr val="A9AFBA"/>
                </a:solidFill>
                <a:latin typeface="Fira Sans" pitchFamily="34" charset="0"/>
                <a:ea typeface="Fira Sans" pitchFamily="34" charset="-122"/>
                <a:cs typeface="Fira Sans" pitchFamily="34" charset="-120"/>
              </a:rPr>
              <a:t>Sustainable energy </a:t>
            </a:r>
            <a:r>
              <a:rPr lang="en-US" sz="1000" dirty="0" smtClean="0">
                <a:solidFill>
                  <a:srgbClr val="A9AFBA"/>
                </a:solidFill>
                <a:latin typeface="Fira Sans" pitchFamily="34" charset="0"/>
                <a:ea typeface="Fira Sans" pitchFamily="34" charset="-122"/>
                <a:cs typeface="Fira Sans" pitchFamily="34" charset="-120"/>
              </a:rPr>
              <a:t>engineer</a:t>
            </a:r>
          </a:p>
          <a:p>
            <a:pPr marL="0" indent="0">
              <a:buNone/>
            </a:pPr>
            <a:r>
              <a:rPr lang="en-US" sz="1000" dirty="0" smtClean="0">
                <a:solidFill>
                  <a:srgbClr val="A9AFBA"/>
                </a:solidFill>
                <a:latin typeface="Fira Sans" pitchFamily="34" charset="0"/>
                <a:ea typeface="Fira Sans" pitchFamily="34" charset="-122"/>
                <a:cs typeface="Fira Sans" pitchFamily="34" charset="-120"/>
              </a:rPr>
              <a:t>Founder, </a:t>
            </a:r>
            <a:r>
              <a:rPr lang="en-US" sz="1000" dirty="0" err="1" smtClean="0">
                <a:solidFill>
                  <a:srgbClr val="A9AFBA"/>
                </a:solidFill>
                <a:latin typeface="Fira Sans" pitchFamily="34" charset="0"/>
                <a:ea typeface="Fira Sans" pitchFamily="34" charset="-122"/>
                <a:cs typeface="Fira Sans" pitchFamily="34" charset="-120"/>
              </a:rPr>
              <a:t>Nortum</a:t>
            </a:r>
            <a:r>
              <a:rPr lang="en-US" sz="1000" dirty="0" smtClean="0">
                <a:solidFill>
                  <a:srgbClr val="A9AFBA"/>
                </a:solidFill>
                <a:latin typeface="Fira Sans" pitchFamily="34" charset="0"/>
                <a:ea typeface="Fira Sans" pitchFamily="34" charset="-122"/>
                <a:cs typeface="Fira Sans" pitchFamily="34" charset="-120"/>
              </a:rPr>
              <a:t> Ltd</a:t>
            </a:r>
          </a:p>
          <a:p>
            <a:pPr marL="0" indent="0">
              <a:buNone/>
            </a:pPr>
            <a:r>
              <a:rPr lang="en-US" sz="1000" dirty="0" smtClean="0">
                <a:solidFill>
                  <a:srgbClr val="A9AFBA"/>
                </a:solidFill>
                <a:latin typeface="Fira Sans" pitchFamily="34" charset="0"/>
                <a:ea typeface="Fira Sans" pitchFamily="34" charset="-122"/>
                <a:cs typeface="Fira Sans" pitchFamily="34" charset="-120"/>
              </a:rPr>
              <a:t>MSc </a:t>
            </a:r>
            <a:r>
              <a:rPr lang="en-US" sz="1000" dirty="0">
                <a:solidFill>
                  <a:srgbClr val="A9AFBA"/>
                </a:solidFill>
                <a:latin typeface="Fira Sans" pitchFamily="34" charset="0"/>
                <a:ea typeface="Fira Sans" pitchFamily="34" charset="-122"/>
                <a:cs typeface="Fira Sans" pitchFamily="34" charset="-120"/>
              </a:rPr>
              <a:t>Sustainable Engineering: Energy, NTU 2024</a:t>
            </a:r>
            <a:endParaRPr lang="en-US" sz="1300" dirty="0"/>
          </a:p>
        </p:txBody>
      </p:sp>
      <p:sp>
        <p:nvSpPr>
          <p:cNvPr id="10" name="Text 7"/>
          <p:cNvSpPr txBox="1"/>
          <p:nvPr/>
        </p:nvSpPr>
        <p:spPr>
          <a:xfrm>
            <a:off x="960120" y="3794760"/>
            <a:ext cx="4023360" cy="274320"/>
          </a:xfrm>
          <a:prstGeom prst="rect">
            <a:avLst/>
          </a:prstGeom>
          <a:noFill/>
          <a:ln/>
        </p:spPr>
        <p:txBody>
          <a:bodyPr wrap="square" lIns="0" tIns="0" rIns="0" bIns="0" rtlCol="0" anchor="t"/>
          <a:lstStyle/>
          <a:p>
            <a:pPr marL="0" indent="0">
              <a:buNone/>
            </a:pPr>
            <a:r>
              <a:rPr lang="en-US" sz="900" dirty="0">
                <a:solidFill>
                  <a:srgbClr val="707070"/>
                </a:solidFill>
                <a:latin typeface="Fira Code" pitchFamily="34" charset="0"/>
                <a:ea typeface="Fira Code" pitchFamily="34" charset="-122"/>
                <a:cs typeface="Fira Code" pitchFamily="34" charset="-120"/>
              </a:rPr>
              <a:t># </a:t>
            </a:r>
            <a:r>
              <a:rPr lang="en-US" sz="900" dirty="0" smtClean="0">
                <a:solidFill>
                  <a:srgbClr val="707070"/>
                </a:solidFill>
                <a:latin typeface="Fira Code" pitchFamily="34" charset="0"/>
                <a:ea typeface="Fira Code" pitchFamily="34" charset="-122"/>
                <a:cs typeface="Fira Code" pitchFamily="34" charset="-120"/>
              </a:rPr>
              <a:t>Lecture and workshop · Nottingham Trent University</a:t>
            </a:r>
            <a:endParaRPr lang="en-US" sz="900" dirty="0"/>
          </a:p>
          <a:p>
            <a:pPr marL="0" indent="0">
              <a:buNone/>
            </a:pPr>
            <a:r>
              <a:rPr lang="en-US" sz="900" dirty="0">
                <a:solidFill>
                  <a:srgbClr val="707070"/>
                </a:solidFill>
                <a:latin typeface="Fira Code" pitchFamily="34" charset="0"/>
                <a:ea typeface="Fira Code" pitchFamily="34" charset="-122"/>
                <a:cs typeface="Fira Code" pitchFamily="34" charset="-120"/>
              </a:rPr>
              <a:t># </a:t>
            </a:r>
            <a:r>
              <a:rPr lang="en-US" sz="900" dirty="0" smtClean="0">
                <a:solidFill>
                  <a:srgbClr val="707070"/>
                </a:solidFill>
                <a:latin typeface="Fira Code" pitchFamily="34" charset="0"/>
                <a:ea typeface="Fira Code" pitchFamily="34" charset="-122"/>
                <a:cs typeface="Fira Code" pitchFamily="34" charset="-120"/>
              </a:rPr>
              <a:t>22 October 2026</a:t>
            </a:r>
            <a:endParaRPr lang="en-US" sz="9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1</a:t>
            </a:fld>
            <a:endParaRPr lang="en-US"/>
          </a:p>
        </p:txBody>
      </p:sp>
      <p:pic>
        <p:nvPicPr>
          <p:cNvPr id="13" name="Google Shape;242;p32"/>
          <p:cNvPicPr preferRelativeResize="0"/>
          <p:nvPr/>
        </p:nvPicPr>
        <p:blipFill rotWithShape="1">
          <a:blip r:embed="rId3">
            <a:alphaModFix/>
          </a:blip>
          <a:srcRect/>
          <a:stretch/>
        </p:blipFill>
        <p:spPr>
          <a:xfrm>
            <a:off x="4525617" y="807521"/>
            <a:ext cx="4618383" cy="4052515"/>
          </a:xfrm>
          <a:prstGeom prst="rect">
            <a:avLst/>
          </a:prstGeom>
          <a:noFill/>
          <a:ln>
            <a:noFill/>
          </a:ln>
          <a:effectLst>
            <a:outerShdw blurRad="100013" dist="19050" dir="5400000" algn="bl" rotWithShape="0">
              <a:srgbClr val="7AA3AD"/>
            </a:outerShdw>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agenda</a:t>
            </a:r>
            <a:r>
              <a:rPr lang="en-US" sz="1100" dirty="0">
                <a:solidFill>
                  <a:srgbClr val="E7E7E7"/>
                </a:solidFill>
                <a:latin typeface="Fira Code" pitchFamily="34" charset="0"/>
                <a:ea typeface="Fira Code" pitchFamily="34" charset="-122"/>
                <a:cs typeface="Fira Code" pitchFamily="34" charset="-120"/>
              </a:rPr>
              <a:t>(</a:t>
            </a:r>
            <a:r>
              <a:rPr lang="en-US" sz="1100" dirty="0">
                <a:solidFill>
                  <a:srgbClr val="FCC642"/>
                </a:solidFill>
                <a:latin typeface="Fira Code" pitchFamily="34" charset="0"/>
                <a:ea typeface="Fira Code" pitchFamily="34" charset="-122"/>
                <a:cs typeface="Fira Code" pitchFamily="34" charset="-120"/>
              </a:rPr>
              <a:t>120 min</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749808"/>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Four steps: the ideas, a short practice, three hands-on tasks, then what your results mean</a:t>
            </a:r>
            <a:endParaRPr lang="en-US" sz="2200" dirty="0"/>
          </a:p>
        </p:txBody>
      </p:sp>
      <p:sp>
        <p:nvSpPr>
          <p:cNvPr id="4" name="Text 2"/>
          <p:cNvSpPr txBox="1"/>
          <p:nvPr/>
        </p:nvSpPr>
        <p:spPr>
          <a:xfrm>
            <a:off x="731520" y="1874520"/>
            <a:ext cx="1737360" cy="502920"/>
          </a:xfrm>
          <a:prstGeom prst="rect">
            <a:avLst/>
          </a:prstGeom>
          <a:noFill/>
          <a:ln/>
        </p:spPr>
        <p:txBody>
          <a:bodyPr wrap="square" lIns="0" tIns="0" rIns="0" bIns="0" rtlCol="0" anchor="ctr"/>
          <a:lstStyle/>
          <a:p>
            <a:pPr marL="0" indent="0">
              <a:buNone/>
            </a:pPr>
            <a:r>
              <a:rPr lang="en-US" sz="2800" b="1" dirty="0">
                <a:solidFill>
                  <a:srgbClr val="FF5858"/>
                </a:solidFill>
                <a:latin typeface="Fira Code" pitchFamily="34" charset="0"/>
                <a:ea typeface="Fira Code" pitchFamily="34" charset="-122"/>
                <a:cs typeface="Fira Code" pitchFamily="34" charset="-120"/>
              </a:rPr>
              <a:t>01</a:t>
            </a:r>
            <a:endParaRPr lang="en-US" sz="2800" dirty="0"/>
          </a:p>
        </p:txBody>
      </p:sp>
      <p:sp>
        <p:nvSpPr>
          <p:cNvPr id="5" name="Text 3"/>
          <p:cNvSpPr txBox="1"/>
          <p:nvPr/>
        </p:nvSpPr>
        <p:spPr>
          <a:xfrm>
            <a:off x="731520" y="2441448"/>
            <a:ext cx="1783080" cy="502920"/>
          </a:xfrm>
          <a:prstGeom prst="rect">
            <a:avLst/>
          </a:prstGeom>
          <a:noFill/>
          <a:ln/>
        </p:spPr>
        <p:txBody>
          <a:bodyPr wrap="square" lIns="0" tIns="0" rIns="0" bIns="0" rtlCol="0" anchor="t"/>
          <a:lstStyle/>
          <a:p>
            <a:pPr marL="0" indent="0">
              <a:buNone/>
            </a:pPr>
            <a:r>
              <a:rPr lang="en-US" sz="1300" b="1" dirty="0">
                <a:solidFill>
                  <a:srgbClr val="FFFFFF"/>
                </a:solidFill>
                <a:latin typeface="Fira Sans" pitchFamily="34" charset="0"/>
                <a:ea typeface="Fira Sans" pitchFamily="34" charset="-122"/>
                <a:cs typeface="Fira Sans" pitchFamily="34" charset="-120"/>
              </a:rPr>
              <a:t>Lecture · Why code?</a:t>
            </a:r>
            <a:endParaRPr lang="en-US" sz="1300" dirty="0"/>
          </a:p>
        </p:txBody>
      </p:sp>
      <p:sp>
        <p:nvSpPr>
          <p:cNvPr id="6" name="Text 4"/>
          <p:cNvSpPr txBox="1"/>
          <p:nvPr/>
        </p:nvSpPr>
        <p:spPr>
          <a:xfrm>
            <a:off x="731520" y="2944368"/>
            <a:ext cx="1783080" cy="411480"/>
          </a:xfrm>
          <a:prstGeom prst="rect">
            <a:avLst/>
          </a:prstGeom>
          <a:noFill/>
          <a:ln/>
        </p:spPr>
        <p:txBody>
          <a:bodyPr wrap="square" lIns="0" tIns="0" rIns="0" bIns="0" rtlCol="0" anchor="t"/>
          <a:lstStyle/>
          <a:p>
            <a:pPr marL="0" indent="0">
              <a:buNone/>
            </a:pPr>
            <a:r>
              <a:rPr lang="en-US" sz="850" dirty="0">
                <a:solidFill>
                  <a:srgbClr val="A9AFBA"/>
                </a:solidFill>
                <a:latin typeface="Fira Code" pitchFamily="34" charset="0"/>
                <a:ea typeface="Fira Code" pitchFamily="34" charset="-122"/>
                <a:cs typeface="Fira Code" pitchFamily="34" charset="-120"/>
              </a:rPr>
              <a:t>&lt; models, tools, PyPSA, live demo &gt;</a:t>
            </a:r>
            <a:endParaRPr lang="en-US" sz="850" dirty="0"/>
          </a:p>
        </p:txBody>
      </p:sp>
      <p:sp>
        <p:nvSpPr>
          <p:cNvPr id="7" name="Text 5"/>
          <p:cNvSpPr txBox="1"/>
          <p:nvPr/>
        </p:nvSpPr>
        <p:spPr>
          <a:xfrm>
            <a:off x="731520" y="3355848"/>
            <a:ext cx="1737360" cy="256032"/>
          </a:xfrm>
          <a:prstGeom prst="rect">
            <a:avLst/>
          </a:prstGeom>
          <a:noFill/>
          <a:ln/>
        </p:spPr>
        <p:txBody>
          <a:bodyPr wrap="square" lIns="0" tIns="0" rIns="0" bIns="0" rtlCol="0" anchor="ctr"/>
          <a:lstStyle/>
          <a:p>
            <a:pPr marL="0" indent="0">
              <a:buNone/>
            </a:pPr>
            <a:r>
              <a:rPr lang="en-US" sz="900" dirty="0" smtClean="0">
                <a:solidFill>
                  <a:srgbClr val="FF5858"/>
                </a:solidFill>
                <a:latin typeface="Fira Code" pitchFamily="34" charset="0"/>
                <a:ea typeface="Fira Code" pitchFamily="34" charset="-122"/>
                <a:cs typeface="Fira Code" pitchFamily="34" charset="-120"/>
              </a:rPr>
              <a:t>00 to 50 </a:t>
            </a:r>
            <a:r>
              <a:rPr lang="en-US" sz="900" dirty="0">
                <a:solidFill>
                  <a:srgbClr val="FF5858"/>
                </a:solidFill>
                <a:latin typeface="Fira Code" pitchFamily="34" charset="0"/>
                <a:ea typeface="Fira Code" pitchFamily="34" charset="-122"/>
                <a:cs typeface="Fira Code" pitchFamily="34" charset="-120"/>
              </a:rPr>
              <a:t>min</a:t>
            </a:r>
            <a:endParaRPr lang="en-US" sz="900" dirty="0"/>
          </a:p>
        </p:txBody>
      </p:sp>
      <p:sp>
        <p:nvSpPr>
          <p:cNvPr id="8" name="Text 6"/>
          <p:cNvSpPr txBox="1"/>
          <p:nvPr/>
        </p:nvSpPr>
        <p:spPr>
          <a:xfrm>
            <a:off x="2697480" y="2377440"/>
            <a:ext cx="1737360" cy="502920"/>
          </a:xfrm>
          <a:prstGeom prst="rect">
            <a:avLst/>
          </a:prstGeom>
          <a:noFill/>
          <a:ln/>
        </p:spPr>
        <p:txBody>
          <a:bodyPr wrap="square" lIns="0" tIns="0" rIns="0" bIns="0" rtlCol="0" anchor="ctr"/>
          <a:lstStyle/>
          <a:p>
            <a:pPr marL="0" indent="0">
              <a:buNone/>
            </a:pPr>
            <a:r>
              <a:rPr lang="en-US" sz="2800" b="1" dirty="0">
                <a:solidFill>
                  <a:srgbClr val="FCC642"/>
                </a:solidFill>
                <a:latin typeface="Fira Code" pitchFamily="34" charset="0"/>
                <a:ea typeface="Fira Code" pitchFamily="34" charset="-122"/>
                <a:cs typeface="Fira Code" pitchFamily="34" charset="-120"/>
              </a:rPr>
              <a:t>02</a:t>
            </a:r>
            <a:endParaRPr lang="en-US" sz="2800" dirty="0"/>
          </a:p>
        </p:txBody>
      </p:sp>
      <p:sp>
        <p:nvSpPr>
          <p:cNvPr id="9" name="Text 7"/>
          <p:cNvSpPr txBox="1"/>
          <p:nvPr/>
        </p:nvSpPr>
        <p:spPr>
          <a:xfrm>
            <a:off x="2697480" y="2944368"/>
            <a:ext cx="1783080" cy="502920"/>
          </a:xfrm>
          <a:prstGeom prst="rect">
            <a:avLst/>
          </a:prstGeom>
          <a:noFill/>
          <a:ln/>
        </p:spPr>
        <p:txBody>
          <a:bodyPr wrap="square" lIns="0" tIns="0" rIns="0" bIns="0" rtlCol="0" anchor="t"/>
          <a:lstStyle/>
          <a:p>
            <a:pPr marL="0" indent="0">
              <a:buNone/>
            </a:pPr>
            <a:r>
              <a:rPr lang="en-US" sz="1300" b="1" dirty="0">
                <a:solidFill>
                  <a:srgbClr val="FFFFFF"/>
                </a:solidFill>
                <a:latin typeface="Fira Sans" pitchFamily="34" charset="0"/>
                <a:ea typeface="Fira Sans" pitchFamily="34" charset="-122"/>
                <a:cs typeface="Fira Sans" pitchFamily="34" charset="-120"/>
              </a:rPr>
              <a:t>Practice · JupyterLab</a:t>
            </a:r>
            <a:endParaRPr lang="en-US" sz="1300" dirty="0"/>
          </a:p>
        </p:txBody>
      </p:sp>
      <p:sp>
        <p:nvSpPr>
          <p:cNvPr id="10" name="Text 8"/>
          <p:cNvSpPr txBox="1"/>
          <p:nvPr/>
        </p:nvSpPr>
        <p:spPr>
          <a:xfrm>
            <a:off x="2697480" y="3447288"/>
            <a:ext cx="1783080" cy="411480"/>
          </a:xfrm>
          <a:prstGeom prst="rect">
            <a:avLst/>
          </a:prstGeom>
          <a:noFill/>
          <a:ln/>
        </p:spPr>
        <p:txBody>
          <a:bodyPr wrap="square" lIns="0" tIns="0" rIns="0" bIns="0" rtlCol="0" anchor="t"/>
          <a:lstStyle/>
          <a:p>
            <a:pPr marL="0" indent="0">
              <a:buNone/>
            </a:pPr>
            <a:r>
              <a:rPr lang="en-US" sz="850" dirty="0">
                <a:solidFill>
                  <a:srgbClr val="A9AFBA"/>
                </a:solidFill>
                <a:latin typeface="Fira Code" pitchFamily="34" charset="0"/>
                <a:ea typeface="Fira Code" pitchFamily="34" charset="-122"/>
                <a:cs typeface="Fira Code" pitchFamily="34" charset="-120"/>
              </a:rPr>
              <a:t>&lt; open, run, edit, rerun, restart &gt;</a:t>
            </a:r>
            <a:endParaRPr lang="en-US" sz="850" dirty="0"/>
          </a:p>
        </p:txBody>
      </p:sp>
      <p:sp>
        <p:nvSpPr>
          <p:cNvPr id="11" name="Text 9"/>
          <p:cNvSpPr txBox="1"/>
          <p:nvPr/>
        </p:nvSpPr>
        <p:spPr>
          <a:xfrm>
            <a:off x="2697480" y="3858768"/>
            <a:ext cx="1737360" cy="256032"/>
          </a:xfrm>
          <a:prstGeom prst="rect">
            <a:avLst/>
          </a:prstGeom>
          <a:noFill/>
          <a:ln/>
        </p:spPr>
        <p:txBody>
          <a:bodyPr wrap="square" lIns="0" tIns="0" rIns="0" bIns="0" rtlCol="0" anchor="ctr"/>
          <a:lstStyle/>
          <a:p>
            <a:pPr marL="0" indent="0">
              <a:buNone/>
            </a:pPr>
            <a:r>
              <a:rPr lang="en-US" sz="900" dirty="0" smtClean="0">
                <a:solidFill>
                  <a:srgbClr val="FCC642"/>
                </a:solidFill>
                <a:latin typeface="Fira Code" pitchFamily="34" charset="0"/>
                <a:ea typeface="Fira Code" pitchFamily="34" charset="-122"/>
                <a:cs typeface="Fira Code" pitchFamily="34" charset="-120"/>
              </a:rPr>
              <a:t>50 to 60 </a:t>
            </a:r>
            <a:r>
              <a:rPr lang="en-US" sz="900" dirty="0">
                <a:solidFill>
                  <a:srgbClr val="FCC642"/>
                </a:solidFill>
                <a:latin typeface="Fira Code" pitchFamily="34" charset="0"/>
                <a:ea typeface="Fira Code" pitchFamily="34" charset="-122"/>
                <a:cs typeface="Fira Code" pitchFamily="34" charset="-120"/>
              </a:rPr>
              <a:t>min</a:t>
            </a:r>
            <a:endParaRPr lang="en-US" sz="900" dirty="0"/>
          </a:p>
        </p:txBody>
      </p:sp>
      <p:sp>
        <p:nvSpPr>
          <p:cNvPr id="12" name="Text 10"/>
          <p:cNvSpPr txBox="1"/>
          <p:nvPr/>
        </p:nvSpPr>
        <p:spPr>
          <a:xfrm>
            <a:off x="4663440" y="1874520"/>
            <a:ext cx="1737360" cy="502920"/>
          </a:xfrm>
          <a:prstGeom prst="rect">
            <a:avLst/>
          </a:prstGeom>
          <a:noFill/>
          <a:ln/>
        </p:spPr>
        <p:txBody>
          <a:bodyPr wrap="square" lIns="0" tIns="0" rIns="0" bIns="0" rtlCol="0" anchor="ctr"/>
          <a:lstStyle/>
          <a:p>
            <a:pPr marL="0" indent="0">
              <a:buNone/>
            </a:pPr>
            <a:r>
              <a:rPr lang="en-US" sz="2800" b="1" dirty="0">
                <a:solidFill>
                  <a:srgbClr val="72D9F0"/>
                </a:solidFill>
                <a:latin typeface="Fira Code" pitchFamily="34" charset="0"/>
                <a:ea typeface="Fira Code" pitchFamily="34" charset="-122"/>
                <a:cs typeface="Fira Code" pitchFamily="34" charset="-120"/>
              </a:rPr>
              <a:t>03</a:t>
            </a:r>
            <a:endParaRPr lang="en-US" sz="2800" dirty="0"/>
          </a:p>
        </p:txBody>
      </p:sp>
      <p:sp>
        <p:nvSpPr>
          <p:cNvPr id="13" name="Text 11"/>
          <p:cNvSpPr txBox="1"/>
          <p:nvPr/>
        </p:nvSpPr>
        <p:spPr>
          <a:xfrm>
            <a:off x="4663440" y="2441448"/>
            <a:ext cx="1783080" cy="502920"/>
          </a:xfrm>
          <a:prstGeom prst="rect">
            <a:avLst/>
          </a:prstGeom>
          <a:noFill/>
          <a:ln/>
        </p:spPr>
        <p:txBody>
          <a:bodyPr wrap="square" lIns="0" tIns="0" rIns="0" bIns="0" rtlCol="0" anchor="t"/>
          <a:lstStyle/>
          <a:p>
            <a:pPr marL="0" indent="0">
              <a:buNone/>
            </a:pPr>
            <a:r>
              <a:rPr lang="en-US" sz="1300" b="1" dirty="0">
                <a:solidFill>
                  <a:srgbClr val="FFFFFF"/>
                </a:solidFill>
                <a:latin typeface="Fira Sans" pitchFamily="34" charset="0"/>
                <a:ea typeface="Fira Sans" pitchFamily="34" charset="-122"/>
                <a:cs typeface="Fira Sans" pitchFamily="34" charset="-120"/>
              </a:rPr>
              <a:t>Tasks 1, 2 and 3</a:t>
            </a:r>
            <a:endParaRPr lang="en-US" sz="1300" dirty="0"/>
          </a:p>
        </p:txBody>
      </p:sp>
      <p:sp>
        <p:nvSpPr>
          <p:cNvPr id="14" name="Text 12"/>
          <p:cNvSpPr txBox="1"/>
          <p:nvPr/>
        </p:nvSpPr>
        <p:spPr>
          <a:xfrm>
            <a:off x="4663440" y="2944368"/>
            <a:ext cx="1783080" cy="411480"/>
          </a:xfrm>
          <a:prstGeom prst="rect">
            <a:avLst/>
          </a:prstGeom>
          <a:noFill/>
          <a:ln/>
        </p:spPr>
        <p:txBody>
          <a:bodyPr wrap="square" lIns="0" tIns="0" rIns="0" bIns="0" rtlCol="0" anchor="t"/>
          <a:lstStyle/>
          <a:p>
            <a:pPr marL="0" indent="0">
              <a:buNone/>
            </a:pPr>
            <a:r>
              <a:rPr lang="en-US" sz="850" dirty="0">
                <a:solidFill>
                  <a:srgbClr val="A9AFBA"/>
                </a:solidFill>
                <a:latin typeface="Fira Code" pitchFamily="34" charset="0"/>
                <a:ea typeface="Fira Code" pitchFamily="34" charset="-122"/>
                <a:cs typeface="Fira Code" pitchFamily="34" charset="-120"/>
              </a:rPr>
              <a:t>&lt; groups of three or four, 15 min each &gt;</a:t>
            </a:r>
            <a:endParaRPr lang="en-US" sz="850" dirty="0"/>
          </a:p>
        </p:txBody>
      </p:sp>
      <p:sp>
        <p:nvSpPr>
          <p:cNvPr id="15" name="Text 13"/>
          <p:cNvSpPr txBox="1"/>
          <p:nvPr/>
        </p:nvSpPr>
        <p:spPr>
          <a:xfrm>
            <a:off x="4663440" y="3355848"/>
            <a:ext cx="1737360" cy="256032"/>
          </a:xfrm>
          <a:prstGeom prst="rect">
            <a:avLst/>
          </a:prstGeom>
          <a:noFill/>
          <a:ln/>
        </p:spPr>
        <p:txBody>
          <a:bodyPr wrap="square" lIns="0" tIns="0" rIns="0" bIns="0" rtlCol="0" anchor="ctr"/>
          <a:lstStyle/>
          <a:p>
            <a:pPr marL="0" indent="0">
              <a:buNone/>
            </a:pPr>
            <a:r>
              <a:rPr lang="en-US" sz="900" dirty="0" smtClean="0">
                <a:solidFill>
                  <a:srgbClr val="72D9F0"/>
                </a:solidFill>
                <a:latin typeface="Fira Code" pitchFamily="34" charset="0"/>
                <a:ea typeface="Fira Code" pitchFamily="34" charset="-122"/>
                <a:cs typeface="Fira Code" pitchFamily="34" charset="-120"/>
              </a:rPr>
              <a:t>60 to 105 </a:t>
            </a:r>
            <a:r>
              <a:rPr lang="en-US" sz="900" dirty="0">
                <a:solidFill>
                  <a:srgbClr val="72D9F0"/>
                </a:solidFill>
                <a:latin typeface="Fira Code" pitchFamily="34" charset="0"/>
                <a:ea typeface="Fira Code" pitchFamily="34" charset="-122"/>
                <a:cs typeface="Fira Code" pitchFamily="34" charset="-120"/>
              </a:rPr>
              <a:t>min</a:t>
            </a:r>
            <a:endParaRPr lang="en-US" sz="900" dirty="0"/>
          </a:p>
        </p:txBody>
      </p:sp>
      <p:sp>
        <p:nvSpPr>
          <p:cNvPr id="16" name="Text 14"/>
          <p:cNvSpPr txBox="1"/>
          <p:nvPr/>
        </p:nvSpPr>
        <p:spPr>
          <a:xfrm>
            <a:off x="6629400" y="2377440"/>
            <a:ext cx="1737360" cy="502920"/>
          </a:xfrm>
          <a:prstGeom prst="rect">
            <a:avLst/>
          </a:prstGeom>
          <a:noFill/>
          <a:ln/>
        </p:spPr>
        <p:txBody>
          <a:bodyPr wrap="square" lIns="0" tIns="0" rIns="0" bIns="0" rtlCol="0" anchor="ctr"/>
          <a:lstStyle/>
          <a:p>
            <a:pPr marL="0" indent="0">
              <a:buNone/>
            </a:pPr>
            <a:r>
              <a:rPr lang="en-US" sz="2800" b="1" dirty="0">
                <a:solidFill>
                  <a:srgbClr val="A5CF27"/>
                </a:solidFill>
                <a:latin typeface="Fira Code" pitchFamily="34" charset="0"/>
                <a:ea typeface="Fira Code" pitchFamily="34" charset="-122"/>
                <a:cs typeface="Fira Code" pitchFamily="34" charset="-120"/>
              </a:rPr>
              <a:t>04</a:t>
            </a:r>
            <a:endParaRPr lang="en-US" sz="2800" dirty="0"/>
          </a:p>
        </p:txBody>
      </p:sp>
      <p:sp>
        <p:nvSpPr>
          <p:cNvPr id="17" name="Text 15"/>
          <p:cNvSpPr txBox="1"/>
          <p:nvPr/>
        </p:nvSpPr>
        <p:spPr>
          <a:xfrm>
            <a:off x="6629400" y="2944368"/>
            <a:ext cx="1783080" cy="502920"/>
          </a:xfrm>
          <a:prstGeom prst="rect">
            <a:avLst/>
          </a:prstGeom>
          <a:noFill/>
          <a:ln/>
        </p:spPr>
        <p:txBody>
          <a:bodyPr wrap="square" lIns="0" tIns="0" rIns="0" bIns="0" rtlCol="0" anchor="t"/>
          <a:lstStyle/>
          <a:p>
            <a:pPr marL="0" indent="0">
              <a:buNone/>
            </a:pPr>
            <a:r>
              <a:rPr lang="en-US" sz="1300" b="1" dirty="0">
                <a:solidFill>
                  <a:srgbClr val="FFFFFF"/>
                </a:solidFill>
                <a:latin typeface="Fira Sans" pitchFamily="34" charset="0"/>
                <a:ea typeface="Fira Sans" pitchFamily="34" charset="-122"/>
                <a:cs typeface="Fira Sans" pitchFamily="34" charset="-120"/>
              </a:rPr>
              <a:t>Results + quiz</a:t>
            </a:r>
            <a:endParaRPr lang="en-US" sz="1300" dirty="0"/>
          </a:p>
        </p:txBody>
      </p:sp>
      <p:sp>
        <p:nvSpPr>
          <p:cNvPr id="18" name="Text 16"/>
          <p:cNvSpPr txBox="1"/>
          <p:nvPr/>
        </p:nvSpPr>
        <p:spPr>
          <a:xfrm>
            <a:off x="6629400" y="3447288"/>
            <a:ext cx="1783080" cy="411480"/>
          </a:xfrm>
          <a:prstGeom prst="rect">
            <a:avLst/>
          </a:prstGeom>
          <a:noFill/>
          <a:ln/>
        </p:spPr>
        <p:txBody>
          <a:bodyPr wrap="square" lIns="0" tIns="0" rIns="0" bIns="0" rtlCol="0" anchor="t"/>
          <a:lstStyle/>
          <a:p>
            <a:pPr marL="0" indent="0">
              <a:buNone/>
            </a:pPr>
            <a:r>
              <a:rPr lang="en-US" sz="850" dirty="0">
                <a:solidFill>
                  <a:srgbClr val="A9AFBA"/>
                </a:solidFill>
                <a:latin typeface="Fira Code" pitchFamily="34" charset="0"/>
                <a:ea typeface="Fira Code" pitchFamily="34" charset="-122"/>
                <a:cs typeface="Fira Code" pitchFamily="34" charset="-120"/>
              </a:rPr>
              <a:t>&lt; class results, quiz and feedback &gt;</a:t>
            </a:r>
            <a:endParaRPr lang="en-US" sz="850" dirty="0"/>
          </a:p>
        </p:txBody>
      </p:sp>
      <p:sp>
        <p:nvSpPr>
          <p:cNvPr id="19" name="Text 17"/>
          <p:cNvSpPr txBox="1"/>
          <p:nvPr/>
        </p:nvSpPr>
        <p:spPr>
          <a:xfrm>
            <a:off x="6629400" y="3858768"/>
            <a:ext cx="1737360" cy="256032"/>
          </a:xfrm>
          <a:prstGeom prst="rect">
            <a:avLst/>
          </a:prstGeom>
          <a:noFill/>
          <a:ln/>
        </p:spPr>
        <p:txBody>
          <a:bodyPr wrap="square" lIns="0" tIns="0" rIns="0" bIns="0" rtlCol="0" anchor="ctr"/>
          <a:lstStyle/>
          <a:p>
            <a:pPr marL="0" indent="0">
              <a:buNone/>
            </a:pPr>
            <a:r>
              <a:rPr lang="en-US" sz="900" dirty="0" smtClean="0">
                <a:solidFill>
                  <a:srgbClr val="A5CF27"/>
                </a:solidFill>
                <a:latin typeface="Fira Code" pitchFamily="34" charset="0"/>
                <a:ea typeface="Fira Code" pitchFamily="34" charset="-122"/>
                <a:cs typeface="Fira Code" pitchFamily="34" charset="-120"/>
              </a:rPr>
              <a:t>105 to 120 </a:t>
            </a:r>
            <a:r>
              <a:rPr lang="en-US" sz="900" dirty="0">
                <a:solidFill>
                  <a:srgbClr val="A5CF27"/>
                </a:solidFill>
                <a:latin typeface="Fira Code" pitchFamily="34" charset="0"/>
                <a:ea typeface="Fira Code" pitchFamily="34" charset="-122"/>
                <a:cs typeface="Fira Code" pitchFamily="34" charset="-120"/>
              </a:rPr>
              <a:t>min</a:t>
            </a:r>
            <a:endParaRPr lang="en-US" sz="9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ma14="http://schemas.microsoft.com/office/mac/drawingml/2011/main" xmlns=""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2</a:t>
            </a:fld>
            <a:endParaRPr lang="en-US"/>
          </a:p>
        </p:txBody>
      </p:sp>
    </p:spTree>
    <p:extLst>
      <p:ext uri="{BB962C8B-B14F-4D97-AF65-F5344CB8AC3E}">
        <p14:creationId xmlns:p14="http://schemas.microsoft.com/office/powerpoint/2010/main" val="35885601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energy_model</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749808"/>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An energy system model is a simplified, testable description of how energy is supplied and used</a:t>
            </a:r>
            <a:endParaRPr lang="en-US" sz="2200" dirty="0"/>
          </a:p>
        </p:txBody>
      </p:sp>
      <p:sp>
        <p:nvSpPr>
          <p:cNvPr id="4" name="Text 2"/>
          <p:cNvSpPr txBox="1"/>
          <p:nvPr/>
        </p:nvSpPr>
        <p:spPr>
          <a:xfrm>
            <a:off x="731520" y="1691640"/>
            <a:ext cx="640080" cy="457200"/>
          </a:xfrm>
          <a:prstGeom prst="rect">
            <a:avLst/>
          </a:prstGeom>
          <a:noFill/>
          <a:ln/>
        </p:spPr>
        <p:txBody>
          <a:bodyPr wrap="square" lIns="0" tIns="0" rIns="0" bIns="0" rtlCol="0" anchor="t"/>
          <a:lstStyle/>
          <a:p>
            <a:pPr marL="0" indent="0">
              <a:buNone/>
            </a:pPr>
            <a:r>
              <a:rPr lang="en-US" sz="2200" b="1" dirty="0">
                <a:solidFill>
                  <a:srgbClr val="FCC642"/>
                </a:solidFill>
                <a:latin typeface="Fira Code" pitchFamily="34" charset="0"/>
                <a:ea typeface="Fira Code" pitchFamily="34" charset="-122"/>
                <a:cs typeface="Fira Code" pitchFamily="34" charset="-120"/>
              </a:rPr>
              <a:t>01</a:t>
            </a:r>
            <a:endParaRPr lang="en-US" sz="2200" dirty="0"/>
          </a:p>
        </p:txBody>
      </p:sp>
      <p:sp>
        <p:nvSpPr>
          <p:cNvPr id="5" name="Text 3"/>
          <p:cNvSpPr txBox="1"/>
          <p:nvPr/>
        </p:nvSpPr>
        <p:spPr>
          <a:xfrm>
            <a:off x="1417320" y="1719072"/>
            <a:ext cx="4206240" cy="731520"/>
          </a:xfrm>
          <a:prstGeom prst="rect">
            <a:avLst/>
          </a:prstGeom>
          <a:noFill/>
          <a:ln/>
        </p:spPr>
        <p:txBody>
          <a:bodyPr wrap="square" lIns="0" tIns="0" rIns="0" bIns="0" rtlCol="0" anchor="t"/>
          <a:lstStyle/>
          <a:p>
            <a:pPr marL="0" indent="0">
              <a:buNone/>
            </a:pPr>
            <a:r>
              <a:rPr lang="en-US" sz="1300" dirty="0">
                <a:solidFill>
                  <a:srgbClr val="E7E7E7"/>
                </a:solidFill>
                <a:latin typeface="Fira Sans" pitchFamily="34" charset="0"/>
                <a:ea typeface="Fira Sans" pitchFamily="34" charset="-122"/>
                <a:cs typeface="Fira Sans" pitchFamily="34" charset="-120"/>
              </a:rPr>
              <a:t>It answers planning questions: how much capacity, when it runs, what it costs and what it emits.</a:t>
            </a:r>
            <a:endParaRPr lang="en-US" sz="1300" dirty="0"/>
          </a:p>
        </p:txBody>
      </p:sp>
      <p:sp>
        <p:nvSpPr>
          <p:cNvPr id="6" name="Text 4"/>
          <p:cNvSpPr txBox="1"/>
          <p:nvPr/>
        </p:nvSpPr>
        <p:spPr>
          <a:xfrm>
            <a:off x="731520" y="2560320"/>
            <a:ext cx="640080" cy="457200"/>
          </a:xfrm>
          <a:prstGeom prst="rect">
            <a:avLst/>
          </a:prstGeom>
          <a:noFill/>
          <a:ln/>
        </p:spPr>
        <p:txBody>
          <a:bodyPr wrap="square" lIns="0" tIns="0" rIns="0" bIns="0" rtlCol="0" anchor="t"/>
          <a:lstStyle/>
          <a:p>
            <a:pPr marL="0" indent="0">
              <a:buNone/>
            </a:pPr>
            <a:r>
              <a:rPr lang="en-US" sz="2200" b="1" dirty="0">
                <a:solidFill>
                  <a:srgbClr val="A5CF27"/>
                </a:solidFill>
                <a:latin typeface="Fira Code" pitchFamily="34" charset="0"/>
                <a:ea typeface="Fira Code" pitchFamily="34" charset="-122"/>
                <a:cs typeface="Fira Code" pitchFamily="34" charset="-120"/>
              </a:rPr>
              <a:t>02</a:t>
            </a:r>
            <a:endParaRPr lang="en-US" sz="2200" dirty="0"/>
          </a:p>
        </p:txBody>
      </p:sp>
      <p:sp>
        <p:nvSpPr>
          <p:cNvPr id="7" name="Text 5"/>
          <p:cNvSpPr txBox="1"/>
          <p:nvPr/>
        </p:nvSpPr>
        <p:spPr>
          <a:xfrm>
            <a:off x="1417320" y="2587752"/>
            <a:ext cx="4206240" cy="731520"/>
          </a:xfrm>
          <a:prstGeom prst="rect">
            <a:avLst/>
          </a:prstGeom>
          <a:noFill/>
          <a:ln/>
        </p:spPr>
        <p:txBody>
          <a:bodyPr wrap="square" lIns="0" tIns="0" rIns="0" bIns="0" rtlCol="0" anchor="t"/>
          <a:lstStyle/>
          <a:p>
            <a:pPr marL="0" indent="0">
              <a:buNone/>
            </a:pPr>
            <a:r>
              <a:rPr lang="en-US" sz="1300" dirty="0">
                <a:solidFill>
                  <a:srgbClr val="E7E7E7"/>
                </a:solidFill>
                <a:latin typeface="Fira Sans" pitchFamily="34" charset="0"/>
                <a:ea typeface="Fira Sans" pitchFamily="34" charset="-122"/>
                <a:cs typeface="Fira Sans" pitchFamily="34" charset="-120"/>
              </a:rPr>
              <a:t>Simulation follows fixed rules (Task 1). Optimisation finds the cheapest option (Task 2).</a:t>
            </a:r>
            <a:endParaRPr lang="en-US" sz="1300" dirty="0"/>
          </a:p>
        </p:txBody>
      </p:sp>
      <p:sp>
        <p:nvSpPr>
          <p:cNvPr id="8" name="Text 6"/>
          <p:cNvSpPr txBox="1"/>
          <p:nvPr/>
        </p:nvSpPr>
        <p:spPr>
          <a:xfrm>
            <a:off x="731520" y="3429000"/>
            <a:ext cx="640080" cy="457200"/>
          </a:xfrm>
          <a:prstGeom prst="rect">
            <a:avLst/>
          </a:prstGeom>
          <a:noFill/>
          <a:ln/>
        </p:spPr>
        <p:txBody>
          <a:bodyPr wrap="square" lIns="0" tIns="0" rIns="0" bIns="0" rtlCol="0" anchor="t"/>
          <a:lstStyle/>
          <a:p>
            <a:pPr marL="0" indent="0">
              <a:buNone/>
            </a:pPr>
            <a:r>
              <a:rPr lang="en-US" sz="2200" b="1" dirty="0">
                <a:solidFill>
                  <a:srgbClr val="FF5858"/>
                </a:solidFill>
                <a:latin typeface="Fira Code" pitchFamily="34" charset="0"/>
                <a:ea typeface="Fira Code" pitchFamily="34" charset="-122"/>
                <a:cs typeface="Fira Code" pitchFamily="34" charset="-120"/>
              </a:rPr>
              <a:t>03</a:t>
            </a:r>
            <a:endParaRPr lang="en-US" sz="2200" dirty="0"/>
          </a:p>
        </p:txBody>
      </p:sp>
      <p:sp>
        <p:nvSpPr>
          <p:cNvPr id="9" name="Text 7"/>
          <p:cNvSpPr txBox="1"/>
          <p:nvPr/>
        </p:nvSpPr>
        <p:spPr>
          <a:xfrm>
            <a:off x="1417320" y="3456432"/>
            <a:ext cx="4206240" cy="731520"/>
          </a:xfrm>
          <a:prstGeom prst="rect">
            <a:avLst/>
          </a:prstGeom>
          <a:noFill/>
          <a:ln/>
        </p:spPr>
        <p:txBody>
          <a:bodyPr wrap="square" lIns="0" tIns="0" rIns="0" bIns="0" rtlCol="0" anchor="t"/>
          <a:lstStyle/>
          <a:p>
            <a:r>
              <a:rPr lang="en-US" sz="1300" dirty="0" smtClean="0">
                <a:solidFill>
                  <a:srgbClr val="E7E7E7"/>
                </a:solidFill>
                <a:latin typeface="Fira Sans" pitchFamily="34" charset="0"/>
                <a:ea typeface="Fira Sans" pitchFamily="34" charset="-122"/>
                <a:cs typeface="Fira Sans" pitchFamily="34" charset="-120"/>
              </a:rPr>
              <a:t>The same methods scale from one home to a national grid or a whole continent.</a:t>
            </a:r>
            <a:endParaRPr lang="en-US" sz="1300" dirty="0"/>
          </a:p>
        </p:txBody>
      </p:sp>
      <p:sp>
        <p:nvSpPr>
          <p:cNvPr id="10" name="QR placeholder"/>
          <p:cNvSpPr/>
          <p:nvPr/>
        </p:nvSpPr>
        <p:spPr>
          <a:xfrm>
            <a:off x="6263640" y="1691640"/>
            <a:ext cx="2286000" cy="2286000"/>
          </a:xfrm>
          <a:prstGeom prst="rect">
            <a:avLst/>
          </a:prstGeom>
          <a:solidFill>
            <a:srgbClr val="16191F"/>
          </a:solidFill>
          <a:ln w="9525">
            <a:solidFill>
              <a:srgbClr val="3E434E"/>
            </a:solidFill>
            <a:prstDash val="dash"/>
          </a:ln>
        </p:spPr>
      </p:sp>
      <p:sp>
        <p:nvSpPr>
          <p:cNvPr id="12" name="Text 10"/>
          <p:cNvSpPr txBox="1"/>
          <p:nvPr/>
        </p:nvSpPr>
        <p:spPr>
          <a:xfrm>
            <a:off x="6263640" y="4041648"/>
            <a:ext cx="2286000" cy="228600"/>
          </a:xfrm>
          <a:prstGeom prst="rect">
            <a:avLst/>
          </a:prstGeom>
          <a:noFill/>
          <a:ln/>
        </p:spPr>
        <p:txBody>
          <a:bodyPr wrap="square" lIns="0" tIns="0" rIns="0" bIns="0" rtlCol="0" anchor="ctr"/>
          <a:lstStyle/>
          <a:p>
            <a:pPr marL="0" indent="0" algn="ctr">
              <a:buNone/>
            </a:pPr>
            <a:r>
              <a:rPr lang="en-US" sz="950" dirty="0">
                <a:solidFill>
                  <a:srgbClr val="A9AFBA"/>
                </a:solidFill>
                <a:latin typeface="Fira Sans" pitchFamily="34" charset="0"/>
                <a:ea typeface="Fira Sans" pitchFamily="34" charset="-122"/>
                <a:cs typeface="Fira Sans" pitchFamily="34" charset="-120"/>
              </a:rPr>
              <a:t>Every model simplifies: the assumptions decide the answer</a:t>
            </a:r>
            <a:endParaRPr lang="en-US" sz="95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3</a:t>
            </a:fld>
            <a:endParaRPr lang="en-US"/>
          </a:p>
        </p:txBody>
      </p:sp>
      <p:sp>
        <p:nvSpPr>
          <p:cNvPr id="26" name="Diagram inputs"/>
          <p:cNvSpPr/>
          <p:nvPr/>
        </p:nvSpPr>
        <p:spPr>
          <a:xfrm>
            <a:off x="6446520" y="1847088"/>
            <a:ext cx="1920240" cy="603504"/>
          </a:xfrm>
          <a:prstGeom prst="roundRect">
            <a:avLst>
              <a:gd name="adj" fmla="val 12000"/>
            </a:avLst>
          </a:prstGeom>
          <a:solidFill>
            <a:srgbClr val="22262E"/>
          </a:solidFill>
          <a:ln w="12700">
            <a:solidFill>
              <a:srgbClr val="FCC64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a:solidFill>
                  <a:srgbClr val="FCC642"/>
                </a:solidFill>
                <a:latin typeface="Fira Code"/>
              </a:rPr>
              <a:t>inputs</a:t>
            </a:r>
          </a:p>
          <a:p>
            <a:pPr algn="ctr"/>
            <a:r>
              <a:rPr sz="900">
                <a:solidFill>
                  <a:srgbClr val="E7E7E7"/>
                </a:solidFill>
                <a:latin typeface="Fira Code"/>
              </a:rPr>
              <a:t>demand · weather</a:t>
            </a:r>
          </a:p>
          <a:p>
            <a:pPr algn="ctr"/>
            <a:r>
              <a:rPr sz="900">
                <a:solidFill>
                  <a:srgbClr val="E7E7E7"/>
                </a:solidFill>
                <a:latin typeface="Fira Code"/>
              </a:rPr>
              <a:t>costs · assumptions</a:t>
            </a:r>
          </a:p>
        </p:txBody>
      </p:sp>
      <p:cxnSp>
        <p:nvCxnSpPr>
          <p:cNvPr id="27" name="Diagram arrow 1"/>
          <p:cNvCxnSpPr/>
          <p:nvPr/>
        </p:nvCxnSpPr>
        <p:spPr>
          <a:xfrm>
            <a:off x="7406640" y="2468880"/>
            <a:ext cx="0" cy="164592"/>
          </a:xfrm>
          <a:prstGeom prst="line">
            <a:avLst/>
          </a:prstGeom>
          <a:ln w="15875">
            <a:solidFill>
              <a:srgbClr val="A9AF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Diagram model"/>
          <p:cNvSpPr/>
          <p:nvPr/>
        </p:nvSpPr>
        <p:spPr>
          <a:xfrm>
            <a:off x="6812280" y="2651760"/>
            <a:ext cx="1188720" cy="365760"/>
          </a:xfrm>
          <a:prstGeom prst="roundRect">
            <a:avLst>
              <a:gd name="adj" fmla="val 50000"/>
            </a:avLst>
          </a:prstGeom>
          <a:solidFill>
            <a:srgbClr val="22262E"/>
          </a:solidFill>
          <a:ln w="12700">
            <a:solidFill>
              <a:srgbClr val="FF5858"/>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a:solidFill>
                  <a:srgbClr val="FF5858"/>
                </a:solidFill>
                <a:latin typeface="Fira Code"/>
              </a:rPr>
              <a:t>model</a:t>
            </a:r>
            <a:r>
              <a:rPr sz="1200">
                <a:solidFill>
                  <a:srgbClr val="E7E7E7"/>
                </a:solidFill>
                <a:latin typeface="Fira Code"/>
              </a:rPr>
              <a:t>()</a:t>
            </a:r>
          </a:p>
        </p:txBody>
      </p:sp>
      <p:cxnSp>
        <p:nvCxnSpPr>
          <p:cNvPr id="29" name="Diagram arrow 2"/>
          <p:cNvCxnSpPr/>
          <p:nvPr/>
        </p:nvCxnSpPr>
        <p:spPr>
          <a:xfrm>
            <a:off x="7406640" y="3035808"/>
            <a:ext cx="0" cy="164592"/>
          </a:xfrm>
          <a:prstGeom prst="line">
            <a:avLst/>
          </a:prstGeom>
          <a:ln w="15875">
            <a:solidFill>
              <a:srgbClr val="A9AF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Diagram results"/>
          <p:cNvSpPr/>
          <p:nvPr/>
        </p:nvSpPr>
        <p:spPr>
          <a:xfrm>
            <a:off x="6446520" y="3218688"/>
            <a:ext cx="1920240" cy="603504"/>
          </a:xfrm>
          <a:prstGeom prst="roundRect">
            <a:avLst>
              <a:gd name="adj" fmla="val 12000"/>
            </a:avLst>
          </a:prstGeom>
          <a:solidFill>
            <a:srgbClr val="22262E"/>
          </a:solidFill>
          <a:ln w="12700">
            <a:solidFill>
              <a:srgbClr val="A5CF2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a:solidFill>
                  <a:srgbClr val="A5CF27"/>
                </a:solidFill>
                <a:latin typeface="Fira Code"/>
              </a:rPr>
              <a:t>results</a:t>
            </a:r>
          </a:p>
          <a:p>
            <a:pPr algn="ctr"/>
            <a:r>
              <a:rPr sz="900">
                <a:solidFill>
                  <a:srgbClr val="E7E7E7"/>
                </a:solidFill>
                <a:latin typeface="Fira Code"/>
              </a:rPr>
              <a:t>capacity · dispatch</a:t>
            </a:r>
          </a:p>
          <a:p>
            <a:pPr algn="ctr"/>
            <a:r>
              <a:rPr sz="900">
                <a:solidFill>
                  <a:srgbClr val="E7E7E7"/>
                </a:solidFill>
                <a:latin typeface="Fira Code"/>
              </a:rPr>
              <a:t>cost · CO2</a:t>
            </a:r>
          </a:p>
        </p:txBody>
      </p:sp>
    </p:spTree>
    <p:extLst>
      <p:ext uri="{BB962C8B-B14F-4D97-AF65-F5344CB8AC3E}">
        <p14:creationId xmlns:p14="http://schemas.microsoft.com/office/powerpoint/2010/main" val="27790065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tools</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749808"/>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Open-source tools make energy models transparent, reusable and free to learn</a:t>
            </a:r>
            <a:endParaRPr lang="en-US" sz="2200" dirty="0"/>
          </a:p>
        </p:txBody>
      </p:sp>
      <p:sp>
        <p:nvSpPr>
          <p:cNvPr id="4" name="Text 2"/>
          <p:cNvSpPr txBox="1"/>
          <p:nvPr/>
        </p:nvSpPr>
        <p:spPr>
          <a:xfrm>
            <a:off x="731520" y="1965960"/>
            <a:ext cx="1920240" cy="731520"/>
          </a:xfrm>
          <a:prstGeom prst="rect">
            <a:avLst/>
          </a:prstGeom>
          <a:noFill/>
          <a:ln/>
        </p:spPr>
        <p:txBody>
          <a:bodyPr wrap="square" lIns="0" tIns="0" rIns="0" bIns="0" rtlCol="0" anchor="b"/>
          <a:lstStyle/>
          <a:p>
            <a:pPr marL="0" indent="0">
              <a:buNone/>
            </a:pPr>
            <a:r>
              <a:rPr lang="en-US" sz="2600" b="1" dirty="0">
                <a:solidFill>
                  <a:srgbClr val="FCC642"/>
                </a:solidFill>
                <a:latin typeface="Fira Code" pitchFamily="34" charset="0"/>
                <a:ea typeface="Fira Code" pitchFamily="34" charset="-122"/>
                <a:cs typeface="Fira Code" pitchFamily="34" charset="-120"/>
              </a:rPr>
              <a:t>PyPSA</a:t>
            </a:r>
            <a:endParaRPr lang="en-US" sz="3600" dirty="0"/>
          </a:p>
        </p:txBody>
      </p:sp>
      <p:sp>
        <p:nvSpPr>
          <p:cNvPr id="5" name="Text 3"/>
          <p:cNvSpPr txBox="1"/>
          <p:nvPr/>
        </p:nvSpPr>
        <p:spPr>
          <a:xfrm>
            <a:off x="731520" y="2788920"/>
            <a:ext cx="1783080" cy="548640"/>
          </a:xfrm>
          <a:prstGeom prst="rect">
            <a:avLst/>
          </a:prstGeom>
          <a:noFill/>
          <a:ln/>
        </p:spPr>
        <p:txBody>
          <a:bodyPr wrap="square" lIns="0" tIns="0" rIns="0" bIns="0" rtlCol="0" anchor="t"/>
          <a:lstStyle/>
          <a:p>
            <a:pPr marL="0" indent="0">
              <a:buNone/>
            </a:pPr>
            <a:r>
              <a:rPr lang="en-US" sz="1100" dirty="0">
                <a:solidFill>
                  <a:srgbClr val="E7E7E7"/>
                </a:solidFill>
                <a:latin typeface="Fira Sans" pitchFamily="34" charset="0"/>
                <a:ea typeface="Fira Sans" pitchFamily="34" charset="-122"/>
                <a:cs typeface="Fira Sans" pitchFamily="34" charset="-120"/>
              </a:rPr>
              <a:t>Python; power and sector-coupled systems, from a home to a continent</a:t>
            </a:r>
            <a:endParaRPr lang="en-US" sz="1100" dirty="0"/>
          </a:p>
        </p:txBody>
      </p:sp>
      <p:sp>
        <p:nvSpPr>
          <p:cNvPr id="6" name="Text 4"/>
          <p:cNvSpPr txBox="1"/>
          <p:nvPr/>
        </p:nvSpPr>
        <p:spPr>
          <a:xfrm>
            <a:off x="2743200" y="1965960"/>
            <a:ext cx="1920240" cy="731520"/>
          </a:xfrm>
          <a:prstGeom prst="rect">
            <a:avLst/>
          </a:prstGeom>
          <a:noFill/>
          <a:ln/>
        </p:spPr>
        <p:txBody>
          <a:bodyPr wrap="square" lIns="0" tIns="0" rIns="0" bIns="0" rtlCol="0" anchor="b"/>
          <a:lstStyle/>
          <a:p>
            <a:pPr marL="0" indent="0">
              <a:buNone/>
            </a:pPr>
            <a:r>
              <a:rPr lang="en-US" sz="2600" b="1" dirty="0">
                <a:solidFill>
                  <a:srgbClr val="A5CF27"/>
                </a:solidFill>
                <a:latin typeface="Fira Code" pitchFamily="34" charset="0"/>
                <a:ea typeface="Fira Code" pitchFamily="34" charset="-122"/>
                <a:cs typeface="Fira Code" pitchFamily="34" charset="-120"/>
              </a:rPr>
              <a:t>oemof</a:t>
            </a:r>
            <a:endParaRPr lang="en-US" sz="3600" dirty="0"/>
          </a:p>
        </p:txBody>
      </p:sp>
      <p:sp>
        <p:nvSpPr>
          <p:cNvPr id="7" name="Text 5"/>
          <p:cNvSpPr txBox="1"/>
          <p:nvPr/>
        </p:nvSpPr>
        <p:spPr>
          <a:xfrm>
            <a:off x="2743200" y="2788920"/>
            <a:ext cx="1783080" cy="548640"/>
          </a:xfrm>
          <a:prstGeom prst="rect">
            <a:avLst/>
          </a:prstGeom>
          <a:noFill/>
          <a:ln/>
        </p:spPr>
        <p:txBody>
          <a:bodyPr wrap="square" lIns="0" tIns="0" rIns="0" bIns="0" rtlCol="0" anchor="t"/>
          <a:lstStyle/>
          <a:p>
            <a:pPr marL="0" indent="0">
              <a:buNone/>
            </a:pPr>
            <a:r>
              <a:rPr lang="en-US" sz="1100" dirty="0" smtClean="0">
                <a:solidFill>
                  <a:srgbClr val="E7E7E7"/>
                </a:solidFill>
                <a:latin typeface="Fira Sans" pitchFamily="34" charset="0"/>
                <a:ea typeface="Fira Sans" pitchFamily="34" charset="-122"/>
                <a:cs typeface="Fira Sans" pitchFamily="34" charset="-120"/>
              </a:rPr>
              <a:t>Open Energy Modelling Framework</a:t>
            </a:r>
            <a:r>
              <a:rPr lang="en-US" sz="1100" dirty="0">
                <a:solidFill>
                  <a:srgbClr val="E7E7E7"/>
                </a:solidFill>
                <a:latin typeface="Fira Sans" pitchFamily="34" charset="0"/>
                <a:ea typeface="Fira Sans" pitchFamily="34" charset="-122"/>
                <a:cs typeface="Fira Sans" pitchFamily="34" charset="-120"/>
              </a:rPr>
              <a:t> (Python)</a:t>
            </a:r>
            <a:endParaRPr lang="en-US" sz="1100" dirty="0"/>
          </a:p>
        </p:txBody>
      </p:sp>
      <p:sp>
        <p:nvSpPr>
          <p:cNvPr id="8" name="Text 6"/>
          <p:cNvSpPr txBox="1"/>
          <p:nvPr/>
        </p:nvSpPr>
        <p:spPr>
          <a:xfrm>
            <a:off x="4754880" y="1965960"/>
            <a:ext cx="1920240" cy="731520"/>
          </a:xfrm>
          <a:prstGeom prst="rect">
            <a:avLst/>
          </a:prstGeom>
          <a:noFill/>
          <a:ln/>
        </p:spPr>
        <p:txBody>
          <a:bodyPr wrap="square" lIns="0" tIns="0" rIns="0" bIns="0" rtlCol="0" anchor="b"/>
          <a:lstStyle/>
          <a:p>
            <a:pPr marL="0" indent="0">
              <a:buNone/>
            </a:pPr>
            <a:r>
              <a:rPr lang="en-US" sz="2600" b="1" dirty="0">
                <a:solidFill>
                  <a:srgbClr val="72D9F0"/>
                </a:solidFill>
                <a:latin typeface="Fira Code" pitchFamily="34" charset="0"/>
                <a:ea typeface="Fira Code" pitchFamily="34" charset="-122"/>
                <a:cs typeface="Fira Code" pitchFamily="34" charset="-120"/>
              </a:rPr>
              <a:t>Calliope</a:t>
            </a:r>
            <a:endParaRPr lang="en-US" sz="3600" dirty="0"/>
          </a:p>
        </p:txBody>
      </p:sp>
      <p:sp>
        <p:nvSpPr>
          <p:cNvPr id="9" name="Text 7"/>
          <p:cNvSpPr txBox="1"/>
          <p:nvPr/>
        </p:nvSpPr>
        <p:spPr>
          <a:xfrm>
            <a:off x="4754880" y="2788920"/>
            <a:ext cx="1783080" cy="548640"/>
          </a:xfrm>
          <a:prstGeom prst="rect">
            <a:avLst/>
          </a:prstGeom>
          <a:noFill/>
          <a:ln/>
        </p:spPr>
        <p:txBody>
          <a:bodyPr wrap="square" lIns="0" tIns="0" rIns="0" bIns="0" rtlCol="0" anchor="t"/>
          <a:lstStyle/>
          <a:p>
            <a:pPr marL="0" indent="0">
              <a:buNone/>
            </a:pPr>
            <a:r>
              <a:rPr lang="en-US" sz="1100" dirty="0">
                <a:solidFill>
                  <a:srgbClr val="E7E7E7"/>
                </a:solidFill>
                <a:latin typeface="Fira Sans" pitchFamily="34" charset="0"/>
                <a:ea typeface="Fira Sans" pitchFamily="34" charset="-122"/>
                <a:cs typeface="Fira Sans" pitchFamily="34" charset="-120"/>
              </a:rPr>
              <a:t>Python; multi-scale models defined in simple text files</a:t>
            </a:r>
            <a:endParaRPr lang="en-US" sz="1100" dirty="0"/>
          </a:p>
        </p:txBody>
      </p:sp>
      <p:sp>
        <p:nvSpPr>
          <p:cNvPr id="10" name="Text 8"/>
          <p:cNvSpPr txBox="1"/>
          <p:nvPr/>
        </p:nvSpPr>
        <p:spPr>
          <a:xfrm>
            <a:off x="6766560" y="1965960"/>
            <a:ext cx="1920240" cy="731520"/>
          </a:xfrm>
          <a:prstGeom prst="rect">
            <a:avLst/>
          </a:prstGeom>
          <a:noFill/>
          <a:ln/>
        </p:spPr>
        <p:txBody>
          <a:bodyPr wrap="square" lIns="0" tIns="0" rIns="0" bIns="0" rtlCol="0" anchor="b"/>
          <a:lstStyle/>
          <a:p>
            <a:pPr marL="0" indent="0">
              <a:buNone/>
            </a:pPr>
            <a:r>
              <a:rPr lang="en-US" sz="2600" b="1" dirty="0">
                <a:solidFill>
                  <a:srgbClr val="FF5858"/>
                </a:solidFill>
                <a:latin typeface="Fira Code" pitchFamily="34" charset="0"/>
                <a:ea typeface="Fira Code" pitchFamily="34" charset="-122"/>
                <a:cs typeface="Fira Code" pitchFamily="34" charset="-120"/>
              </a:rPr>
              <a:t>PLEXOS</a:t>
            </a:r>
            <a:endParaRPr lang="en-US" sz="3000" dirty="0"/>
          </a:p>
        </p:txBody>
      </p:sp>
      <p:sp>
        <p:nvSpPr>
          <p:cNvPr id="11" name="Text 9"/>
          <p:cNvSpPr txBox="1"/>
          <p:nvPr/>
        </p:nvSpPr>
        <p:spPr>
          <a:xfrm>
            <a:off x="6766560" y="2788920"/>
            <a:ext cx="1783080" cy="548640"/>
          </a:xfrm>
          <a:prstGeom prst="rect">
            <a:avLst/>
          </a:prstGeom>
          <a:noFill/>
          <a:ln/>
        </p:spPr>
        <p:txBody>
          <a:bodyPr wrap="square" lIns="0" tIns="0" rIns="0" bIns="0" rtlCol="0" anchor="t"/>
          <a:lstStyle/>
          <a:p>
            <a:pPr marL="0" indent="0">
              <a:buNone/>
            </a:pPr>
            <a:r>
              <a:rPr lang="en-US" sz="1100" dirty="0">
                <a:solidFill>
                  <a:srgbClr val="E7E7E7"/>
                </a:solidFill>
                <a:latin typeface="Fira Sans" pitchFamily="34" charset="0"/>
                <a:ea typeface="Fira Sans" pitchFamily="34" charset="-122"/>
                <a:cs typeface="Fira Sans" pitchFamily="34" charset="-120"/>
              </a:rPr>
              <a:t>commercial market and dispatch software used in industry</a:t>
            </a:r>
            <a:endParaRPr lang="en-US" sz="1100" dirty="0"/>
          </a:p>
        </p:txBody>
      </p:sp>
      <p:sp>
        <p:nvSpPr>
          <p:cNvPr id="12" name="Text 10"/>
          <p:cNvSpPr txBox="1"/>
          <p:nvPr/>
        </p:nvSpPr>
        <p:spPr>
          <a:xfrm>
            <a:off x="731520" y="3931920"/>
            <a:ext cx="7680960" cy="274320"/>
          </a:xfrm>
          <a:prstGeom prst="rect">
            <a:avLst/>
          </a:prstGeom>
          <a:noFill/>
          <a:ln/>
        </p:spPr>
        <p:txBody>
          <a:bodyPr wrap="square" lIns="0" tIns="0" rIns="0" bIns="0" rtlCol="0" anchor="t"/>
          <a:lstStyle/>
          <a:p>
            <a:pPr marL="0" indent="0">
              <a:buNone/>
            </a:pPr>
            <a:r>
              <a:rPr lang="en-US" sz="1100" dirty="0">
                <a:solidFill>
                  <a:srgbClr val="707070"/>
                </a:solidFill>
                <a:latin typeface="Fira Code" pitchFamily="34" charset="0"/>
                <a:ea typeface="Fira Code" pitchFamily="34" charset="-122"/>
                <a:cs typeface="Fira Code" pitchFamily="34" charset="-120"/>
              </a:rPr>
              <a:t># open source: anyone can inspect the code, check the assumptions and reproduce the results</a:t>
            </a:r>
            <a:endParaRPr lang="en-US" sz="11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4</a:t>
            </a:fld>
            <a:endParaRPr lang="en-US"/>
          </a:p>
        </p:txBody>
      </p:sp>
    </p:spTree>
    <p:extLst>
      <p:ext uri="{BB962C8B-B14F-4D97-AF65-F5344CB8AC3E}">
        <p14:creationId xmlns:p14="http://schemas.microsoft.com/office/powerpoint/2010/main" val="15269406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685800" y="822960"/>
            <a:ext cx="2743200" cy="822960"/>
          </a:xfrm>
          <a:prstGeom prst="rect">
            <a:avLst/>
          </a:prstGeom>
          <a:noFill/>
          <a:ln/>
        </p:spPr>
        <p:txBody>
          <a:bodyPr wrap="square" lIns="0" tIns="0" rIns="0" bIns="0" rtlCol="0" anchor="t"/>
          <a:lstStyle/>
          <a:p>
            <a:pPr marL="0" indent="0">
              <a:buNone/>
            </a:pPr>
            <a:r>
              <a:rPr lang="en-US" sz="4800" dirty="0">
                <a:solidFill>
                  <a:srgbClr val="FF5858"/>
                </a:solidFill>
                <a:latin typeface="Fira Code" pitchFamily="34" charset="0"/>
                <a:ea typeface="Fira Code" pitchFamily="34" charset="-122"/>
                <a:cs typeface="Fira Code" pitchFamily="34" charset="-120"/>
              </a:rPr>
              <a:t>01</a:t>
            </a:r>
            <a:r>
              <a:rPr lang="en-US" sz="4800" dirty="0">
                <a:solidFill>
                  <a:srgbClr val="E7E7E7"/>
                </a:solidFill>
                <a:latin typeface="Fira Code" pitchFamily="34" charset="0"/>
                <a:ea typeface="Fira Code" pitchFamily="34" charset="-122"/>
                <a:cs typeface="Fira Code" pitchFamily="34" charset="-120"/>
              </a:rPr>
              <a:t> {</a:t>
            </a:r>
            <a:endParaRPr lang="en-US" sz="4800" dirty="0"/>
          </a:p>
        </p:txBody>
      </p:sp>
      <p:sp>
        <p:nvSpPr>
          <p:cNvPr id="4" name="Shape 1"/>
          <p:cNvSpPr/>
          <p:nvPr/>
        </p:nvSpPr>
        <p:spPr>
          <a:xfrm>
            <a:off x="868680" y="1691640"/>
            <a:ext cx="0" cy="1828800"/>
          </a:xfrm>
          <a:prstGeom prst="line">
            <a:avLst/>
          </a:prstGeom>
          <a:noFill/>
          <a:ln w="12700">
            <a:solidFill>
              <a:srgbClr val="3E434E"/>
            </a:solidFill>
            <a:prstDash val="solid"/>
          </a:ln>
        </p:spPr>
      </p:sp>
      <p:sp>
        <p:nvSpPr>
          <p:cNvPr id="5" name="Text 2"/>
          <p:cNvSpPr txBox="1"/>
          <p:nvPr/>
        </p:nvSpPr>
        <p:spPr>
          <a:xfrm>
            <a:off x="1051560" y="1783080"/>
            <a:ext cx="3931920" cy="457200"/>
          </a:xfrm>
          <a:prstGeom prst="rect">
            <a:avLst/>
          </a:prstGeom>
          <a:noFill/>
          <a:ln/>
        </p:spPr>
        <p:txBody>
          <a:bodyPr wrap="square" lIns="0" tIns="0" rIns="0" bIns="0" rtlCol="0" anchor="t"/>
          <a:lstStyle/>
          <a:p>
            <a:pPr marL="0" indent="0">
              <a:buNone/>
            </a:pPr>
            <a:r>
              <a:rPr lang="en-US" sz="2200" dirty="0">
                <a:solidFill>
                  <a:srgbClr val="DBA0DB"/>
                </a:solidFill>
                <a:latin typeface="Fira Code" pitchFamily="34" charset="0"/>
                <a:ea typeface="Fira Code" pitchFamily="34" charset="-122"/>
                <a:cs typeface="Fira Code" pitchFamily="34" charset="-120"/>
              </a:rPr>
              <a:t>[Why code in energy?]</a:t>
            </a:r>
            <a:endParaRPr lang="en-US" sz="2200" dirty="0"/>
          </a:p>
        </p:txBody>
      </p:sp>
      <p:sp>
        <p:nvSpPr>
          <p:cNvPr id="6" name="Text 3"/>
          <p:cNvSpPr txBox="1"/>
          <p:nvPr/>
        </p:nvSpPr>
        <p:spPr>
          <a:xfrm>
            <a:off x="1051560" y="2377440"/>
            <a:ext cx="3566160" cy="914400"/>
          </a:xfrm>
          <a:prstGeom prst="rect">
            <a:avLst/>
          </a:prstGeom>
          <a:noFill/>
          <a:ln/>
        </p:spPr>
        <p:txBody>
          <a:bodyPr wrap="square" lIns="0" tIns="0" rIns="0" bIns="0" rtlCol="0" anchor="t"/>
          <a:lstStyle/>
          <a:p>
            <a:r>
              <a:rPr lang="en-US" sz="1400" dirty="0" smtClean="0">
                <a:solidFill>
                  <a:schemeClr val="bg1"/>
                </a:solidFill>
              </a:rPr>
              <a:t>Spreadsheets </a:t>
            </a:r>
            <a:r>
              <a:rPr lang="en-US" sz="1400" dirty="0">
                <a:solidFill>
                  <a:schemeClr val="bg1"/>
                </a:solidFill>
              </a:rPr>
              <a:t>struggle once 8,760 hours meet several assets and many scenarios. Code makes every assumption visible and every run repeatable.</a:t>
            </a:r>
          </a:p>
        </p:txBody>
      </p:sp>
      <p:sp>
        <p:nvSpPr>
          <p:cNvPr id="7" name="Text 4"/>
          <p:cNvSpPr txBox="1"/>
          <p:nvPr/>
        </p:nvSpPr>
        <p:spPr>
          <a:xfrm>
            <a:off x="685800" y="3611880"/>
            <a:ext cx="365760" cy="548640"/>
          </a:xfrm>
          <a:prstGeom prst="rect">
            <a:avLst/>
          </a:prstGeom>
          <a:noFill/>
          <a:ln/>
        </p:spPr>
        <p:txBody>
          <a:bodyPr wrap="square" lIns="0" tIns="0" rIns="0" bIns="0" rtlCol="0" anchor="t"/>
          <a:lstStyle/>
          <a:p>
            <a:pPr marL="0" indent="0">
              <a:buNone/>
            </a:pPr>
            <a:r>
              <a:rPr lang="en-US" sz="3200" dirty="0">
                <a:solidFill>
                  <a:srgbClr val="E7E7E7"/>
                </a:solidFill>
                <a:latin typeface="Fira Code" pitchFamily="34" charset="0"/>
                <a:ea typeface="Fira Code" pitchFamily="34" charset="-122"/>
                <a:cs typeface="Fira Code" pitchFamily="34" charset="-120"/>
              </a:rPr>
              <a:t>}</a:t>
            </a:r>
            <a:endParaRPr lang="en-US" sz="32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5</a:t>
            </a:fld>
            <a:endParaRPr lang="en-US"/>
          </a:p>
        </p:txBody>
      </p:sp>
      <p:pic>
        <p:nvPicPr>
          <p:cNvPr id="10" name="Google Shape;442;p42"/>
          <p:cNvPicPr preferRelativeResize="0"/>
          <p:nvPr/>
        </p:nvPicPr>
        <p:blipFill rotWithShape="1">
          <a:blip r:embed="rId3">
            <a:alphaModFix/>
          </a:blip>
          <a:srcRect l="6807" r="6807"/>
          <a:stretch/>
        </p:blipFill>
        <p:spPr>
          <a:xfrm>
            <a:off x="5261113" y="395417"/>
            <a:ext cx="3087756" cy="4259964"/>
          </a:xfrm>
          <a:prstGeom prst="rect">
            <a:avLst/>
          </a:prstGeom>
          <a:noFill/>
          <a:ln>
            <a:noFill/>
          </a:ln>
          <a:effectLst>
            <a:outerShdw blurRad="128588" dist="19050" dir="5400000" algn="bl" rotWithShape="0">
              <a:schemeClr val="accent4"/>
            </a:outerShdw>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scale</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749808"/>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One household year is 8,760 hourly decisions, so scenarios quickly outgrow a spreadsheet</a:t>
            </a:r>
            <a:endParaRPr lang="en-US" sz="2200" dirty="0"/>
          </a:p>
        </p:txBody>
      </p:sp>
      <p:sp>
        <p:nvSpPr>
          <p:cNvPr id="4" name="Text 2"/>
          <p:cNvSpPr txBox="1"/>
          <p:nvPr/>
        </p:nvSpPr>
        <p:spPr>
          <a:xfrm>
            <a:off x="731520" y="1965960"/>
            <a:ext cx="1920240" cy="731520"/>
          </a:xfrm>
          <a:prstGeom prst="rect">
            <a:avLst/>
          </a:prstGeom>
          <a:noFill/>
          <a:ln/>
        </p:spPr>
        <p:txBody>
          <a:bodyPr wrap="square" lIns="0" tIns="0" rIns="0" bIns="0" rtlCol="0" anchor="b"/>
          <a:lstStyle/>
          <a:p>
            <a:pPr marL="0" indent="0">
              <a:buNone/>
            </a:pPr>
            <a:r>
              <a:rPr lang="en-US" sz="3600" b="1" dirty="0">
                <a:solidFill>
                  <a:srgbClr val="FCC642"/>
                </a:solidFill>
                <a:latin typeface="Fira Code" pitchFamily="34" charset="0"/>
                <a:ea typeface="Fira Code" pitchFamily="34" charset="-122"/>
                <a:cs typeface="Fira Code" pitchFamily="34" charset="-120"/>
              </a:rPr>
              <a:t>8,760</a:t>
            </a:r>
            <a:endParaRPr lang="en-US" sz="3600" dirty="0"/>
          </a:p>
        </p:txBody>
      </p:sp>
      <p:sp>
        <p:nvSpPr>
          <p:cNvPr id="5" name="Text 3"/>
          <p:cNvSpPr txBox="1"/>
          <p:nvPr/>
        </p:nvSpPr>
        <p:spPr>
          <a:xfrm>
            <a:off x="731520" y="2788920"/>
            <a:ext cx="1783080" cy="548640"/>
          </a:xfrm>
          <a:prstGeom prst="rect">
            <a:avLst/>
          </a:prstGeom>
          <a:noFill/>
          <a:ln/>
        </p:spPr>
        <p:txBody>
          <a:bodyPr wrap="square" lIns="0" tIns="0" rIns="0" bIns="0" rtlCol="0" anchor="t"/>
          <a:lstStyle/>
          <a:p>
            <a:pPr marL="0" indent="0">
              <a:buNone/>
            </a:pPr>
            <a:r>
              <a:rPr lang="en-US" sz="1100" dirty="0">
                <a:solidFill>
                  <a:srgbClr val="E7E7E7"/>
                </a:solidFill>
                <a:latin typeface="Fira Sans" pitchFamily="34" charset="0"/>
                <a:ea typeface="Fira Sans" pitchFamily="34" charset="-122"/>
                <a:cs typeface="Fira Sans" pitchFamily="34" charset="-120"/>
              </a:rPr>
              <a:t>hours in one year of a single home</a:t>
            </a:r>
            <a:endParaRPr lang="en-US" sz="1100" dirty="0"/>
          </a:p>
        </p:txBody>
      </p:sp>
      <p:sp>
        <p:nvSpPr>
          <p:cNvPr id="6" name="Text 4"/>
          <p:cNvSpPr txBox="1"/>
          <p:nvPr/>
        </p:nvSpPr>
        <p:spPr>
          <a:xfrm>
            <a:off x="2743200" y="1965960"/>
            <a:ext cx="1920240" cy="731520"/>
          </a:xfrm>
          <a:prstGeom prst="rect">
            <a:avLst/>
          </a:prstGeom>
          <a:noFill/>
          <a:ln/>
        </p:spPr>
        <p:txBody>
          <a:bodyPr wrap="square" lIns="0" tIns="0" rIns="0" bIns="0" rtlCol="0" anchor="b"/>
          <a:lstStyle/>
          <a:p>
            <a:pPr marL="0" indent="0">
              <a:buNone/>
            </a:pPr>
            <a:r>
              <a:rPr lang="en-US" sz="3600" b="1" dirty="0">
                <a:solidFill>
                  <a:srgbClr val="A5CF27"/>
                </a:solidFill>
                <a:latin typeface="Fira Code" pitchFamily="34" charset="0"/>
                <a:ea typeface="Fira Code" pitchFamily="34" charset="-122"/>
                <a:cs typeface="Fira Code" pitchFamily="34" charset="-120"/>
              </a:rPr>
              <a:t>× 4</a:t>
            </a:r>
            <a:endParaRPr lang="en-US" sz="3600" dirty="0"/>
          </a:p>
        </p:txBody>
      </p:sp>
      <p:sp>
        <p:nvSpPr>
          <p:cNvPr id="7" name="Text 5"/>
          <p:cNvSpPr txBox="1"/>
          <p:nvPr/>
        </p:nvSpPr>
        <p:spPr>
          <a:xfrm>
            <a:off x="2743200" y="2788920"/>
            <a:ext cx="1783080" cy="548640"/>
          </a:xfrm>
          <a:prstGeom prst="rect">
            <a:avLst/>
          </a:prstGeom>
          <a:noFill/>
          <a:ln/>
        </p:spPr>
        <p:txBody>
          <a:bodyPr wrap="square" lIns="0" tIns="0" rIns="0" bIns="0" rtlCol="0" anchor="t"/>
          <a:lstStyle/>
          <a:p>
            <a:pPr marL="0" indent="0">
              <a:buNone/>
            </a:pPr>
            <a:r>
              <a:rPr lang="en-US" sz="1100" dirty="0" smtClean="0">
                <a:solidFill>
                  <a:srgbClr val="E7E7E7"/>
                </a:solidFill>
                <a:latin typeface="Fira Sans" pitchFamily="34" charset="0"/>
                <a:ea typeface="Fira Sans" pitchFamily="34" charset="-122"/>
                <a:cs typeface="Fira Sans" pitchFamily="34" charset="-120"/>
              </a:rPr>
              <a:t>components: </a:t>
            </a:r>
            <a:r>
              <a:rPr lang="en-US" sz="1100" dirty="0">
                <a:solidFill>
                  <a:srgbClr val="E7E7E7"/>
                </a:solidFill>
                <a:latin typeface="Fira Sans" pitchFamily="34" charset="0"/>
                <a:ea typeface="Fira Sans" pitchFamily="34" charset="-122"/>
                <a:cs typeface="Fira Sans" pitchFamily="34" charset="-120"/>
              </a:rPr>
              <a:t>solar, battery, grid, demand</a:t>
            </a:r>
            <a:endParaRPr lang="en-US" sz="1100" dirty="0"/>
          </a:p>
        </p:txBody>
      </p:sp>
      <p:sp>
        <p:nvSpPr>
          <p:cNvPr id="8" name="Text 6"/>
          <p:cNvSpPr txBox="1"/>
          <p:nvPr/>
        </p:nvSpPr>
        <p:spPr>
          <a:xfrm>
            <a:off x="4754880" y="1965960"/>
            <a:ext cx="1920240" cy="731520"/>
          </a:xfrm>
          <a:prstGeom prst="rect">
            <a:avLst/>
          </a:prstGeom>
          <a:noFill/>
          <a:ln/>
        </p:spPr>
        <p:txBody>
          <a:bodyPr wrap="square" lIns="0" tIns="0" rIns="0" bIns="0" rtlCol="0" anchor="b"/>
          <a:lstStyle/>
          <a:p>
            <a:pPr marL="0" indent="0">
              <a:buNone/>
            </a:pPr>
            <a:r>
              <a:rPr lang="en-US" sz="3600" b="1" dirty="0">
                <a:solidFill>
                  <a:srgbClr val="72D9F0"/>
                </a:solidFill>
                <a:latin typeface="Fira Code" pitchFamily="34" charset="0"/>
                <a:ea typeface="Fira Code" pitchFamily="34" charset="-122"/>
                <a:cs typeface="Fira Code" pitchFamily="34" charset="-120"/>
              </a:rPr>
              <a:t>× 10</a:t>
            </a:r>
            <a:endParaRPr lang="en-US" sz="3600" dirty="0"/>
          </a:p>
        </p:txBody>
      </p:sp>
      <p:sp>
        <p:nvSpPr>
          <p:cNvPr id="9" name="Text 7"/>
          <p:cNvSpPr txBox="1"/>
          <p:nvPr/>
        </p:nvSpPr>
        <p:spPr>
          <a:xfrm>
            <a:off x="4754880" y="2788920"/>
            <a:ext cx="1783080" cy="548640"/>
          </a:xfrm>
          <a:prstGeom prst="rect">
            <a:avLst/>
          </a:prstGeom>
          <a:noFill/>
          <a:ln/>
        </p:spPr>
        <p:txBody>
          <a:bodyPr wrap="square" lIns="0" tIns="0" rIns="0" bIns="0" rtlCol="0" anchor="t"/>
          <a:lstStyle/>
          <a:p>
            <a:pPr marL="0" indent="0">
              <a:buNone/>
            </a:pPr>
            <a:r>
              <a:rPr lang="en-US" sz="1100" dirty="0">
                <a:solidFill>
                  <a:srgbClr val="E7E7E7"/>
                </a:solidFill>
                <a:latin typeface="Fira Sans" pitchFamily="34" charset="0"/>
                <a:ea typeface="Fira Sans" pitchFamily="34" charset="-122"/>
                <a:cs typeface="Fira Sans" pitchFamily="34" charset="-120"/>
              </a:rPr>
              <a:t>scenarios: tariffs, battery sizes, weather</a:t>
            </a:r>
            <a:endParaRPr lang="en-US" sz="1100" dirty="0"/>
          </a:p>
        </p:txBody>
      </p:sp>
      <p:sp>
        <p:nvSpPr>
          <p:cNvPr id="10" name="Text 8"/>
          <p:cNvSpPr txBox="1"/>
          <p:nvPr/>
        </p:nvSpPr>
        <p:spPr>
          <a:xfrm>
            <a:off x="6766560" y="1965960"/>
            <a:ext cx="1920240" cy="731520"/>
          </a:xfrm>
          <a:prstGeom prst="rect">
            <a:avLst/>
          </a:prstGeom>
          <a:noFill/>
          <a:ln/>
        </p:spPr>
        <p:txBody>
          <a:bodyPr wrap="square" lIns="0" tIns="0" rIns="0" bIns="0" rtlCol="0" anchor="b"/>
          <a:lstStyle/>
          <a:p>
            <a:pPr marL="0" indent="0">
              <a:buNone/>
            </a:pPr>
            <a:r>
              <a:rPr lang="en-US" sz="3000" b="1" dirty="0">
                <a:solidFill>
                  <a:srgbClr val="FF5858"/>
                </a:solidFill>
                <a:latin typeface="Fira Code" pitchFamily="34" charset="0"/>
                <a:ea typeface="Fira Code" pitchFamily="34" charset="-122"/>
                <a:cs typeface="Fira Code" pitchFamily="34" charset="-120"/>
              </a:rPr>
              <a:t>350,400</a:t>
            </a:r>
            <a:endParaRPr lang="en-US" sz="3000" dirty="0"/>
          </a:p>
        </p:txBody>
      </p:sp>
      <p:sp>
        <p:nvSpPr>
          <p:cNvPr id="11" name="Text 9"/>
          <p:cNvSpPr txBox="1"/>
          <p:nvPr/>
        </p:nvSpPr>
        <p:spPr>
          <a:xfrm>
            <a:off x="6766560" y="2788920"/>
            <a:ext cx="1783080" cy="548640"/>
          </a:xfrm>
          <a:prstGeom prst="rect">
            <a:avLst/>
          </a:prstGeom>
          <a:noFill/>
          <a:ln/>
        </p:spPr>
        <p:txBody>
          <a:bodyPr wrap="square" lIns="0" tIns="0" rIns="0" bIns="0" rtlCol="0" anchor="t"/>
          <a:lstStyle/>
          <a:p>
            <a:pPr marL="0" indent="0">
              <a:buNone/>
            </a:pPr>
            <a:r>
              <a:rPr lang="en-US" sz="1100" dirty="0">
                <a:solidFill>
                  <a:srgbClr val="E7E7E7"/>
                </a:solidFill>
                <a:latin typeface="Fira Sans" pitchFamily="34" charset="0"/>
                <a:ea typeface="Fira Sans" pitchFamily="34" charset="-122"/>
                <a:cs typeface="Fira Sans" pitchFamily="34" charset="-120"/>
              </a:rPr>
              <a:t>values to compute and compare</a:t>
            </a:r>
            <a:endParaRPr lang="en-US" sz="1100" dirty="0"/>
          </a:p>
        </p:txBody>
      </p:sp>
      <p:sp>
        <p:nvSpPr>
          <p:cNvPr id="12" name="Text 10"/>
          <p:cNvSpPr txBox="1"/>
          <p:nvPr/>
        </p:nvSpPr>
        <p:spPr>
          <a:xfrm>
            <a:off x="731520" y="3931920"/>
            <a:ext cx="7680960" cy="274320"/>
          </a:xfrm>
          <a:prstGeom prst="rect">
            <a:avLst/>
          </a:prstGeom>
          <a:noFill/>
          <a:ln/>
        </p:spPr>
        <p:txBody>
          <a:bodyPr wrap="square" lIns="0" tIns="0" rIns="0" bIns="0" rtlCol="0" anchor="t"/>
          <a:lstStyle/>
          <a:p>
            <a:pPr marL="0" indent="0">
              <a:buNone/>
            </a:pPr>
            <a:r>
              <a:rPr lang="en-US" sz="1100" dirty="0">
                <a:solidFill>
                  <a:srgbClr val="707070"/>
                </a:solidFill>
                <a:latin typeface="Fira Code" pitchFamily="34" charset="0"/>
                <a:ea typeface="Fira Code" pitchFamily="34" charset="-122"/>
                <a:cs typeface="Fira Code" pitchFamily="34" charset="-120"/>
              </a:rPr>
              <a:t># change one assumption → rerun everything in seconds</a:t>
            </a:r>
            <a:endParaRPr lang="en-US" sz="11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workflow</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749808"/>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A PyPSA model follows one pipeline: data, network, optimisation, results</a:t>
            </a:r>
            <a:endParaRPr lang="en-US" sz="2200" dirty="0"/>
          </a:p>
        </p:txBody>
      </p:sp>
      <p:sp>
        <p:nvSpPr>
          <p:cNvPr id="4" name="Data table"/>
          <p:cNvSpPr/>
          <p:nvPr/>
        </p:nvSpPr>
        <p:spPr>
          <a:xfrm>
            <a:off x="731520" y="1783080"/>
            <a:ext cx="1828800" cy="1600200"/>
          </a:xfrm>
          <a:prstGeom prst="rect">
            <a:avLst/>
          </a:prstGeom>
          <a:solidFill>
            <a:srgbClr val="16191F"/>
          </a:solidFill>
          <a:ln w="9525">
            <a:solidFill>
              <a:srgbClr val="3E434E"/>
            </a:solidFill>
            <a:prstDash val="solid"/>
          </a:ln>
        </p:spPr>
      </p:sp>
      <p:sp>
        <p:nvSpPr>
          <p:cNvPr id="5" name="Text 3"/>
          <p:cNvSpPr txBox="1"/>
          <p:nvPr/>
        </p:nvSpPr>
        <p:spPr>
          <a:xfrm>
            <a:off x="868680" y="1892808"/>
            <a:ext cx="1645920" cy="1417320"/>
          </a:xfrm>
          <a:prstGeom prst="rect">
            <a:avLst/>
          </a:prstGeom>
          <a:noFill/>
          <a:ln/>
        </p:spPr>
        <p:txBody>
          <a:bodyPr wrap="square" lIns="0" tIns="0" rIns="0" bIns="0" rtlCol="0" anchor="t"/>
          <a:lstStyle/>
          <a:p>
            <a:pPr marL="0" indent="0">
              <a:lnSpc>
                <a:spcPct val="125000"/>
              </a:lnSpc>
              <a:buNone/>
            </a:pPr>
            <a:r>
              <a:rPr lang="en-US" sz="900" dirty="0">
                <a:solidFill>
                  <a:srgbClr val="707070"/>
                </a:solidFill>
                <a:latin typeface="Fira Code" pitchFamily="34" charset="0"/>
                <a:ea typeface="Fira Code" pitchFamily="34" charset="-122"/>
                <a:cs typeface="Fira Code" pitchFamily="34" charset="-120"/>
              </a:rPr>
              <a:t>hour  demand pv</a:t>
            </a:r>
            <a:endParaRPr lang="en-US" sz="900" dirty="0"/>
          </a:p>
          <a:p>
            <a:pPr marL="0" indent="0">
              <a:lnSpc>
                <a:spcPct val="125000"/>
              </a:lnSpc>
              <a:buNone/>
            </a:pPr>
            <a:r>
              <a:rPr lang="en-US" sz="900" dirty="0">
                <a:solidFill>
                  <a:srgbClr val="E7E7E7"/>
                </a:solidFill>
                <a:latin typeface="Fira Code" pitchFamily="34" charset="0"/>
                <a:ea typeface="Fira Code" pitchFamily="34" charset="-122"/>
                <a:cs typeface="Fira Code" pitchFamily="34" charset="-120"/>
              </a:rPr>
              <a:t>00:00 </a:t>
            </a:r>
            <a:r>
              <a:rPr lang="en-US" sz="900" dirty="0">
                <a:solidFill>
                  <a:srgbClr val="A5CF27"/>
                </a:solidFill>
                <a:latin typeface="Fira Code" pitchFamily="34" charset="0"/>
                <a:ea typeface="Fira Code" pitchFamily="34" charset="-122"/>
                <a:cs typeface="Fira Code" pitchFamily="34" charset="-120"/>
              </a:rPr>
              <a:t>0.31   0.00</a:t>
            </a:r>
            <a:endParaRPr lang="en-US" sz="900" dirty="0"/>
          </a:p>
          <a:p>
            <a:pPr marL="0" indent="0">
              <a:lnSpc>
                <a:spcPct val="125000"/>
              </a:lnSpc>
              <a:buNone/>
            </a:pPr>
            <a:r>
              <a:rPr lang="en-US" sz="900" dirty="0">
                <a:solidFill>
                  <a:srgbClr val="E7E7E7"/>
                </a:solidFill>
                <a:latin typeface="Fira Code" pitchFamily="34" charset="0"/>
                <a:ea typeface="Fira Code" pitchFamily="34" charset="-122"/>
                <a:cs typeface="Fira Code" pitchFamily="34" charset="-120"/>
              </a:rPr>
              <a:t>06:00 </a:t>
            </a:r>
            <a:r>
              <a:rPr lang="en-US" sz="900" dirty="0">
                <a:solidFill>
                  <a:srgbClr val="A5CF27"/>
                </a:solidFill>
                <a:latin typeface="Fira Code" pitchFamily="34" charset="0"/>
                <a:ea typeface="Fira Code" pitchFamily="34" charset="-122"/>
                <a:cs typeface="Fira Code" pitchFamily="34" charset="-120"/>
              </a:rPr>
              <a:t>0.42   0.05</a:t>
            </a:r>
            <a:endParaRPr lang="en-US" sz="900" dirty="0"/>
          </a:p>
          <a:p>
            <a:pPr marL="0" indent="0">
              <a:lnSpc>
                <a:spcPct val="125000"/>
              </a:lnSpc>
              <a:buNone/>
            </a:pPr>
            <a:r>
              <a:rPr lang="en-US" sz="900" dirty="0">
                <a:solidFill>
                  <a:srgbClr val="E7E7E7"/>
                </a:solidFill>
                <a:latin typeface="Fira Code" pitchFamily="34" charset="0"/>
                <a:ea typeface="Fira Code" pitchFamily="34" charset="-122"/>
                <a:cs typeface="Fira Code" pitchFamily="34" charset="-120"/>
              </a:rPr>
              <a:t>12:00 </a:t>
            </a:r>
            <a:r>
              <a:rPr lang="en-US" sz="900" dirty="0">
                <a:solidFill>
                  <a:srgbClr val="A5CF27"/>
                </a:solidFill>
                <a:latin typeface="Fira Code" pitchFamily="34" charset="0"/>
                <a:ea typeface="Fira Code" pitchFamily="34" charset="-122"/>
                <a:cs typeface="Fira Code" pitchFamily="34" charset="-120"/>
              </a:rPr>
              <a:t>0.38   </a:t>
            </a:r>
            <a:r>
              <a:rPr lang="en-US" sz="900" dirty="0">
                <a:solidFill>
                  <a:srgbClr val="FCC642"/>
                </a:solidFill>
                <a:latin typeface="Fira Code" pitchFamily="34" charset="0"/>
                <a:ea typeface="Fira Code" pitchFamily="34" charset="-122"/>
                <a:cs typeface="Fira Code" pitchFamily="34" charset="-120"/>
              </a:rPr>
              <a:t>1.92</a:t>
            </a:r>
            <a:endParaRPr lang="en-US" sz="900" dirty="0"/>
          </a:p>
          <a:p>
            <a:pPr marL="0" indent="0">
              <a:lnSpc>
                <a:spcPct val="125000"/>
              </a:lnSpc>
              <a:buNone/>
            </a:pPr>
            <a:r>
              <a:rPr lang="en-US" sz="900" dirty="0">
                <a:solidFill>
                  <a:srgbClr val="E7E7E7"/>
                </a:solidFill>
                <a:latin typeface="Fira Code" pitchFamily="34" charset="0"/>
                <a:ea typeface="Fira Code" pitchFamily="34" charset="-122"/>
                <a:cs typeface="Fira Code" pitchFamily="34" charset="-120"/>
              </a:rPr>
              <a:t>18:00 </a:t>
            </a:r>
            <a:r>
              <a:rPr lang="en-US" sz="900" dirty="0">
                <a:solidFill>
                  <a:srgbClr val="FF5858"/>
                </a:solidFill>
                <a:latin typeface="Fira Code" pitchFamily="34" charset="0"/>
                <a:ea typeface="Fira Code" pitchFamily="34" charset="-122"/>
                <a:cs typeface="Fira Code" pitchFamily="34" charset="-120"/>
              </a:rPr>
              <a:t>0.95   </a:t>
            </a:r>
            <a:r>
              <a:rPr lang="en-US" sz="900" dirty="0">
                <a:solidFill>
                  <a:srgbClr val="A5CF27"/>
                </a:solidFill>
                <a:latin typeface="Fira Code" pitchFamily="34" charset="0"/>
                <a:ea typeface="Fira Code" pitchFamily="34" charset="-122"/>
                <a:cs typeface="Fira Code" pitchFamily="34" charset="-120"/>
              </a:rPr>
              <a:t>0.12</a:t>
            </a:r>
            <a:endParaRPr lang="en-US" sz="900" dirty="0"/>
          </a:p>
          <a:p>
            <a:pPr marL="0" indent="0">
              <a:lnSpc>
                <a:spcPct val="125000"/>
              </a:lnSpc>
              <a:buNone/>
            </a:pPr>
            <a:r>
              <a:rPr lang="en-US" sz="900" dirty="0">
                <a:solidFill>
                  <a:srgbClr val="707070"/>
                </a:solidFill>
                <a:latin typeface="Fira Code" pitchFamily="34" charset="0"/>
                <a:ea typeface="Fira Code" pitchFamily="34" charset="-122"/>
                <a:cs typeface="Fira Code" pitchFamily="34" charset="-120"/>
              </a:rPr>
              <a:t>…8,760 rows · kWh</a:t>
            </a:r>
            <a:endParaRPr lang="en-US" sz="900" dirty="0"/>
          </a:p>
        </p:txBody>
      </p:sp>
      <p:sp>
        <p:nvSpPr>
          <p:cNvPr id="6" name="Shape 4"/>
          <p:cNvSpPr/>
          <p:nvPr/>
        </p:nvSpPr>
        <p:spPr>
          <a:xfrm>
            <a:off x="2651760" y="2587752"/>
            <a:ext cx="411480" cy="0"/>
          </a:xfrm>
          <a:prstGeom prst="line">
            <a:avLst/>
          </a:prstGeom>
          <a:noFill/>
          <a:ln w="15875">
            <a:solidFill>
              <a:srgbClr val="A9AFBA"/>
            </a:solidFill>
            <a:prstDash val="solid"/>
            <a:tailEnd type="triangle"/>
          </a:ln>
        </p:spPr>
      </p:sp>
      <p:sp>
        <p:nvSpPr>
          <p:cNvPr id="7" name="Shape 5"/>
          <p:cNvSpPr/>
          <p:nvPr/>
        </p:nvSpPr>
        <p:spPr>
          <a:xfrm>
            <a:off x="3200400" y="2743200"/>
            <a:ext cx="1828800" cy="0"/>
          </a:xfrm>
          <a:prstGeom prst="line">
            <a:avLst/>
          </a:prstGeom>
          <a:noFill/>
          <a:ln w="50800">
            <a:solidFill>
              <a:srgbClr val="E7E7E7"/>
            </a:solidFill>
            <a:prstDash val="solid"/>
          </a:ln>
        </p:spPr>
      </p:sp>
      <p:sp>
        <p:nvSpPr>
          <p:cNvPr id="8" name="Shape 6"/>
          <p:cNvSpPr/>
          <p:nvPr/>
        </p:nvSpPr>
        <p:spPr>
          <a:xfrm>
            <a:off x="3337560" y="1965960"/>
            <a:ext cx="384048" cy="384048"/>
          </a:xfrm>
          <a:prstGeom prst="ellipse">
            <a:avLst/>
          </a:prstGeom>
          <a:solidFill>
            <a:srgbClr val="2E323B"/>
          </a:solidFill>
          <a:ln w="25400">
            <a:solidFill>
              <a:srgbClr val="FCC642"/>
            </a:solidFill>
            <a:prstDash val="solid"/>
          </a:ln>
        </p:spPr>
      </p:sp>
      <p:sp>
        <p:nvSpPr>
          <p:cNvPr id="9" name="Text 7"/>
          <p:cNvSpPr txBox="1"/>
          <p:nvPr/>
        </p:nvSpPr>
        <p:spPr>
          <a:xfrm>
            <a:off x="3337560" y="1965960"/>
            <a:ext cx="384048" cy="384048"/>
          </a:xfrm>
          <a:prstGeom prst="rect">
            <a:avLst/>
          </a:prstGeom>
          <a:noFill/>
          <a:ln/>
        </p:spPr>
        <p:txBody>
          <a:bodyPr wrap="square" lIns="0" tIns="0" rIns="0" bIns="0" rtlCol="0" anchor="ctr"/>
          <a:lstStyle/>
          <a:p>
            <a:pPr marL="0" indent="0" algn="ctr">
              <a:buNone/>
            </a:pPr>
            <a:r>
              <a:rPr lang="en-US" sz="1400" dirty="0">
                <a:solidFill>
                  <a:srgbClr val="FCC642"/>
                </a:solidFill>
                <a:latin typeface="Fira Code" pitchFamily="34" charset="0"/>
                <a:ea typeface="Fira Code" pitchFamily="34" charset="-122"/>
                <a:cs typeface="Fira Code" pitchFamily="34" charset="-120"/>
              </a:rPr>
              <a:t>~</a:t>
            </a:r>
            <a:endParaRPr lang="en-US" sz="1400" dirty="0"/>
          </a:p>
        </p:txBody>
      </p:sp>
      <p:sp>
        <p:nvSpPr>
          <p:cNvPr id="10" name="Shape 8"/>
          <p:cNvSpPr/>
          <p:nvPr/>
        </p:nvSpPr>
        <p:spPr>
          <a:xfrm>
            <a:off x="3529584" y="2350008"/>
            <a:ext cx="0" cy="393192"/>
          </a:xfrm>
          <a:prstGeom prst="line">
            <a:avLst/>
          </a:prstGeom>
          <a:noFill/>
          <a:ln w="19050">
            <a:solidFill>
              <a:srgbClr val="E7E7E7"/>
            </a:solidFill>
            <a:prstDash val="solid"/>
          </a:ln>
        </p:spPr>
      </p:sp>
      <p:sp>
        <p:nvSpPr>
          <p:cNvPr id="11" name="Shape 9"/>
          <p:cNvSpPr/>
          <p:nvPr/>
        </p:nvSpPr>
        <p:spPr>
          <a:xfrm>
            <a:off x="3977640" y="1965960"/>
            <a:ext cx="310896" cy="384048"/>
          </a:xfrm>
          <a:prstGeom prst="rect">
            <a:avLst/>
          </a:prstGeom>
          <a:solidFill>
            <a:srgbClr val="2E323B"/>
          </a:solidFill>
          <a:ln w="25400">
            <a:solidFill>
              <a:srgbClr val="A5CF27"/>
            </a:solidFill>
            <a:prstDash val="solid"/>
          </a:ln>
        </p:spPr>
      </p:sp>
      <p:sp>
        <p:nvSpPr>
          <p:cNvPr id="12" name="Shape 10"/>
          <p:cNvSpPr/>
          <p:nvPr/>
        </p:nvSpPr>
        <p:spPr>
          <a:xfrm>
            <a:off x="4050792" y="1911096"/>
            <a:ext cx="164592" cy="54864"/>
          </a:xfrm>
          <a:prstGeom prst="rect">
            <a:avLst/>
          </a:prstGeom>
          <a:solidFill>
            <a:srgbClr val="A5CF27"/>
          </a:solidFill>
          <a:ln w="12700">
            <a:solidFill>
              <a:srgbClr val="A5CF27"/>
            </a:solidFill>
            <a:prstDash val="solid"/>
          </a:ln>
        </p:spPr>
      </p:sp>
      <p:sp>
        <p:nvSpPr>
          <p:cNvPr id="13" name="Shape 11"/>
          <p:cNvSpPr/>
          <p:nvPr/>
        </p:nvSpPr>
        <p:spPr>
          <a:xfrm>
            <a:off x="4133088" y="2350008"/>
            <a:ext cx="0" cy="393192"/>
          </a:xfrm>
          <a:prstGeom prst="line">
            <a:avLst/>
          </a:prstGeom>
          <a:noFill/>
          <a:ln w="19050">
            <a:solidFill>
              <a:srgbClr val="E7E7E7"/>
            </a:solidFill>
            <a:prstDash val="solid"/>
          </a:ln>
        </p:spPr>
      </p:sp>
      <p:sp>
        <p:nvSpPr>
          <p:cNvPr id="14" name="Shape 12"/>
          <p:cNvSpPr/>
          <p:nvPr/>
        </p:nvSpPr>
        <p:spPr>
          <a:xfrm>
            <a:off x="4709160" y="2743200"/>
            <a:ext cx="0" cy="411480"/>
          </a:xfrm>
          <a:prstGeom prst="line">
            <a:avLst/>
          </a:prstGeom>
          <a:noFill/>
          <a:ln w="19050">
            <a:solidFill>
              <a:srgbClr val="E7E7E7"/>
            </a:solidFill>
            <a:prstDash val="solid"/>
            <a:tailEnd type="triangle"/>
          </a:ln>
        </p:spPr>
      </p:sp>
      <p:sp>
        <p:nvSpPr>
          <p:cNvPr id="15" name="Text 13"/>
          <p:cNvSpPr txBox="1"/>
          <p:nvPr/>
        </p:nvSpPr>
        <p:spPr>
          <a:xfrm>
            <a:off x="3200400" y="1673352"/>
            <a:ext cx="658368" cy="228600"/>
          </a:xfrm>
          <a:prstGeom prst="rect">
            <a:avLst/>
          </a:prstGeom>
          <a:noFill/>
          <a:ln/>
        </p:spPr>
        <p:txBody>
          <a:bodyPr wrap="square" lIns="0" tIns="0" rIns="0" bIns="0" rtlCol="0" anchor="ctr"/>
          <a:lstStyle/>
          <a:p>
            <a:pPr marL="0" indent="0" algn="ctr">
              <a:buNone/>
            </a:pPr>
            <a:r>
              <a:rPr lang="en-US" sz="800" dirty="0">
                <a:solidFill>
                  <a:srgbClr val="FCC642"/>
                </a:solidFill>
                <a:latin typeface="Fira Code" pitchFamily="34" charset="0"/>
                <a:ea typeface="Fira Code" pitchFamily="34" charset="-122"/>
                <a:cs typeface="Fira Code" pitchFamily="34" charset="-120"/>
              </a:rPr>
              <a:t>PV</a:t>
            </a:r>
            <a:endParaRPr lang="en-US" sz="800" dirty="0"/>
          </a:p>
        </p:txBody>
      </p:sp>
      <p:sp>
        <p:nvSpPr>
          <p:cNvPr id="16" name="Text 14"/>
          <p:cNvSpPr txBox="1"/>
          <p:nvPr/>
        </p:nvSpPr>
        <p:spPr>
          <a:xfrm>
            <a:off x="3767328" y="1673352"/>
            <a:ext cx="731520" cy="228600"/>
          </a:xfrm>
          <a:prstGeom prst="rect">
            <a:avLst/>
          </a:prstGeom>
          <a:noFill/>
          <a:ln/>
        </p:spPr>
        <p:txBody>
          <a:bodyPr wrap="square" lIns="0" tIns="0" rIns="0" bIns="0" rtlCol="0" anchor="ctr"/>
          <a:lstStyle/>
          <a:p>
            <a:pPr marL="0" indent="0" algn="ctr">
              <a:buNone/>
            </a:pPr>
            <a:r>
              <a:rPr lang="en-US" sz="800" dirty="0">
                <a:solidFill>
                  <a:srgbClr val="A5CF27"/>
                </a:solidFill>
                <a:latin typeface="Fira Code" pitchFamily="34" charset="0"/>
                <a:ea typeface="Fira Code" pitchFamily="34" charset="-122"/>
                <a:cs typeface="Fira Code" pitchFamily="34" charset="-120"/>
              </a:rPr>
              <a:t>battery</a:t>
            </a:r>
            <a:endParaRPr lang="en-US" sz="800" dirty="0"/>
          </a:p>
        </p:txBody>
      </p:sp>
      <p:sp>
        <p:nvSpPr>
          <p:cNvPr id="17" name="Text 15"/>
          <p:cNvSpPr txBox="1"/>
          <p:nvPr/>
        </p:nvSpPr>
        <p:spPr>
          <a:xfrm>
            <a:off x="4480560" y="3200400"/>
            <a:ext cx="457200" cy="201168"/>
          </a:xfrm>
          <a:prstGeom prst="rect">
            <a:avLst/>
          </a:prstGeom>
          <a:noFill/>
          <a:ln/>
        </p:spPr>
        <p:txBody>
          <a:bodyPr wrap="square" lIns="0" tIns="0" rIns="0" bIns="0" rtlCol="0" anchor="ctr"/>
          <a:lstStyle/>
          <a:p>
            <a:pPr marL="0" indent="0" algn="ctr">
              <a:buNone/>
            </a:pPr>
            <a:r>
              <a:rPr lang="en-US" sz="800" dirty="0">
                <a:solidFill>
                  <a:srgbClr val="E7E7E7"/>
                </a:solidFill>
                <a:latin typeface="Fira Code" pitchFamily="34" charset="0"/>
                <a:ea typeface="Fira Code" pitchFamily="34" charset="-122"/>
                <a:cs typeface="Fira Code" pitchFamily="34" charset="-120"/>
              </a:rPr>
              <a:t>load</a:t>
            </a:r>
            <a:endParaRPr lang="en-US" sz="800" dirty="0"/>
          </a:p>
        </p:txBody>
      </p:sp>
      <p:sp>
        <p:nvSpPr>
          <p:cNvPr id="18" name="Text 16"/>
          <p:cNvSpPr txBox="1"/>
          <p:nvPr/>
        </p:nvSpPr>
        <p:spPr>
          <a:xfrm>
            <a:off x="3200400" y="2816352"/>
            <a:ext cx="457200" cy="201168"/>
          </a:xfrm>
          <a:prstGeom prst="rect">
            <a:avLst/>
          </a:prstGeom>
          <a:noFill/>
          <a:ln/>
        </p:spPr>
        <p:txBody>
          <a:bodyPr wrap="square" lIns="0" tIns="0" rIns="0" bIns="0" rtlCol="0" anchor="ctr"/>
          <a:lstStyle/>
          <a:p>
            <a:pPr marL="0" indent="0">
              <a:buNone/>
            </a:pPr>
            <a:r>
              <a:rPr lang="en-US" sz="800" dirty="0">
                <a:solidFill>
                  <a:srgbClr val="707070"/>
                </a:solidFill>
                <a:latin typeface="Fira Code" pitchFamily="34" charset="0"/>
                <a:ea typeface="Fira Code" pitchFamily="34" charset="-122"/>
                <a:cs typeface="Fira Code" pitchFamily="34" charset="-120"/>
              </a:rPr>
              <a:t>bus</a:t>
            </a:r>
            <a:endParaRPr lang="en-US" sz="800" dirty="0"/>
          </a:p>
        </p:txBody>
      </p:sp>
      <p:sp>
        <p:nvSpPr>
          <p:cNvPr id="19" name="Shape 17"/>
          <p:cNvSpPr/>
          <p:nvPr/>
        </p:nvSpPr>
        <p:spPr>
          <a:xfrm>
            <a:off x="5212080" y="2587752"/>
            <a:ext cx="1051560" cy="0"/>
          </a:xfrm>
          <a:prstGeom prst="line">
            <a:avLst/>
          </a:prstGeom>
          <a:noFill/>
          <a:ln w="25400">
            <a:solidFill>
              <a:srgbClr val="FF5858"/>
            </a:solidFill>
            <a:prstDash val="solid"/>
            <a:tailEnd type="triangle"/>
          </a:ln>
        </p:spPr>
      </p:sp>
      <p:sp>
        <p:nvSpPr>
          <p:cNvPr id="20" name="Text 18"/>
          <p:cNvSpPr txBox="1"/>
          <p:nvPr/>
        </p:nvSpPr>
        <p:spPr>
          <a:xfrm>
            <a:off x="5074920" y="2240280"/>
            <a:ext cx="1325880" cy="274320"/>
          </a:xfrm>
          <a:prstGeom prst="rect">
            <a:avLst/>
          </a:prstGeom>
          <a:noFill/>
          <a:ln/>
        </p:spPr>
        <p:txBody>
          <a:bodyPr wrap="square" lIns="0" tIns="0" rIns="0" bIns="0" rtlCol="0" anchor="ctr"/>
          <a:lstStyle/>
          <a:p>
            <a:pPr marL="0" indent="0" algn="ctr">
              <a:buNone/>
            </a:pPr>
            <a:r>
              <a:rPr lang="en-US" sz="950" dirty="0">
                <a:solidFill>
                  <a:srgbClr val="FFFFFF"/>
                </a:solidFill>
                <a:latin typeface="Fira Code" pitchFamily="34" charset="0"/>
                <a:ea typeface="Fira Code" pitchFamily="34" charset="-122"/>
                <a:cs typeface="Fira Code" pitchFamily="34" charset="-120"/>
              </a:rPr>
              <a:t>n.optimize()</a:t>
            </a:r>
            <a:endParaRPr lang="en-US" sz="950" dirty="0"/>
          </a:p>
        </p:txBody>
      </p:sp>
      <p:sp>
        <p:nvSpPr>
          <p:cNvPr id="21" name="Text 19"/>
          <p:cNvSpPr txBox="1"/>
          <p:nvPr/>
        </p:nvSpPr>
        <p:spPr>
          <a:xfrm>
            <a:off x="5074920" y="2679192"/>
            <a:ext cx="1325880" cy="228600"/>
          </a:xfrm>
          <a:prstGeom prst="rect">
            <a:avLst/>
          </a:prstGeom>
          <a:noFill/>
          <a:ln/>
        </p:spPr>
        <p:txBody>
          <a:bodyPr wrap="square" lIns="0" tIns="0" rIns="0" bIns="0" rtlCol="0" anchor="ctr"/>
          <a:lstStyle/>
          <a:p>
            <a:pPr marL="0" indent="0" algn="ctr">
              <a:buNone/>
            </a:pPr>
            <a:r>
              <a:rPr lang="en-US" sz="800" dirty="0">
                <a:solidFill>
                  <a:srgbClr val="707070"/>
                </a:solidFill>
                <a:latin typeface="Fira Code" pitchFamily="34" charset="0"/>
                <a:ea typeface="Fira Code" pitchFamily="34" charset="-122"/>
                <a:cs typeface="Fira Code" pitchFamily="34" charset="-120"/>
              </a:rPr>
              <a:t>HiGHS solver</a:t>
            </a:r>
            <a:endParaRPr lang="en-US" sz="800" dirty="0"/>
          </a:p>
        </p:txBody>
      </p:sp>
      <p:sp>
        <p:nvSpPr>
          <p:cNvPr id="22" name="Shape 20"/>
          <p:cNvSpPr/>
          <p:nvPr/>
        </p:nvSpPr>
        <p:spPr>
          <a:xfrm>
            <a:off x="6419088" y="1653407"/>
            <a:ext cx="2331720" cy="1786393"/>
          </a:xfrm>
          <a:prstGeom prst="rect">
            <a:avLst/>
          </a:prstGeom>
          <a:solidFill>
            <a:srgbClr val="16191F"/>
          </a:solidFill>
          <a:ln w="9525">
            <a:solidFill>
              <a:srgbClr val="3E434E"/>
            </a:solidFill>
            <a:prstDash val="solid"/>
          </a:ln>
        </p:spPr>
      </p:sp>
      <p:graphicFrame>
        <p:nvGraphicFramePr>
          <p:cNvPr id="23" name="Chart 0"/>
          <p:cNvGraphicFramePr/>
          <p:nvPr>
            <p:extLst>
              <p:ext uri="{D42A27DB-BD31-4B8C-83A1-F6EECF244321}">
                <p14:modId xmlns:p14="http://schemas.microsoft.com/office/powerpoint/2010/main" val="2649269480"/>
              </p:ext>
            </p:extLst>
          </p:nvPr>
        </p:nvGraphicFramePr>
        <p:xfrm>
          <a:off x="6492239" y="1673352"/>
          <a:ext cx="2221991" cy="1645920"/>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 21"/>
          <p:cNvSpPr txBox="1"/>
          <p:nvPr/>
        </p:nvSpPr>
        <p:spPr>
          <a:xfrm>
            <a:off x="731520" y="3611880"/>
            <a:ext cx="2011680" cy="594360"/>
          </a:xfrm>
          <a:prstGeom prst="rect">
            <a:avLst/>
          </a:prstGeom>
          <a:noFill/>
          <a:ln/>
        </p:spPr>
        <p:txBody>
          <a:bodyPr wrap="square" lIns="0" tIns="0" rIns="0" bIns="0" rtlCol="0" anchor="t"/>
          <a:lstStyle/>
          <a:p>
            <a:pPr marL="0" indent="0">
              <a:buNone/>
            </a:pPr>
            <a:r>
              <a:rPr lang="en-US" sz="1300" b="1" dirty="0" smtClean="0">
                <a:solidFill>
                  <a:srgbClr val="FCC642"/>
                </a:solidFill>
                <a:latin typeface="Fira Code" pitchFamily="34" charset="0"/>
                <a:ea typeface="Fira Code" pitchFamily="34" charset="-122"/>
                <a:cs typeface="Fira Code" pitchFamily="34" charset="-120"/>
              </a:rPr>
              <a:t>data</a:t>
            </a:r>
            <a:endParaRPr lang="en-US" sz="1300" dirty="0"/>
          </a:p>
          <a:p>
            <a:pPr marL="0" indent="0">
              <a:buNone/>
            </a:pPr>
            <a:r>
              <a:rPr lang="en-US" sz="1050" dirty="0">
                <a:solidFill>
                  <a:srgbClr val="A9AFBA"/>
                </a:solidFill>
                <a:latin typeface="Fira Sans" pitchFamily="34" charset="0"/>
                <a:ea typeface="Fira Sans" pitchFamily="34" charset="-122"/>
                <a:cs typeface="Fira Sans" pitchFamily="34" charset="-120"/>
              </a:rPr>
              <a:t>pandas time series</a:t>
            </a:r>
            <a:endParaRPr lang="en-US" sz="1300" dirty="0"/>
          </a:p>
        </p:txBody>
      </p:sp>
      <p:sp>
        <p:nvSpPr>
          <p:cNvPr id="25" name="Text 22"/>
          <p:cNvSpPr txBox="1"/>
          <p:nvPr/>
        </p:nvSpPr>
        <p:spPr>
          <a:xfrm>
            <a:off x="3200400" y="3611880"/>
            <a:ext cx="2011680" cy="594360"/>
          </a:xfrm>
          <a:prstGeom prst="rect">
            <a:avLst/>
          </a:prstGeom>
          <a:noFill/>
          <a:ln/>
        </p:spPr>
        <p:txBody>
          <a:bodyPr wrap="square" lIns="0" tIns="0" rIns="0" bIns="0" rtlCol="0" anchor="t"/>
          <a:lstStyle/>
          <a:p>
            <a:pPr marL="0" indent="0">
              <a:buNone/>
            </a:pPr>
            <a:r>
              <a:rPr lang="en-US" sz="1300" b="1" dirty="0" smtClean="0">
                <a:solidFill>
                  <a:srgbClr val="A5CF27"/>
                </a:solidFill>
                <a:latin typeface="Fira Code" pitchFamily="34" charset="0"/>
                <a:ea typeface="Fira Code" pitchFamily="34" charset="-122"/>
                <a:cs typeface="Fira Code" pitchFamily="34" charset="-120"/>
              </a:rPr>
              <a:t>network</a:t>
            </a:r>
            <a:endParaRPr lang="en-US" sz="1300" dirty="0"/>
          </a:p>
          <a:p>
            <a:pPr marL="0" indent="0">
              <a:buNone/>
            </a:pPr>
            <a:r>
              <a:rPr lang="en-US" sz="1050" dirty="0">
                <a:solidFill>
                  <a:srgbClr val="A9AFBA"/>
                </a:solidFill>
                <a:latin typeface="Fira Sans" pitchFamily="34" charset="0"/>
                <a:ea typeface="Fira Sans" pitchFamily="34" charset="-122"/>
                <a:cs typeface="Fira Sans" pitchFamily="34" charset="-120"/>
              </a:rPr>
              <a:t>PyPSA components</a:t>
            </a:r>
            <a:endParaRPr lang="en-US" sz="1300" dirty="0"/>
          </a:p>
        </p:txBody>
      </p:sp>
      <p:sp>
        <p:nvSpPr>
          <p:cNvPr id="26" name="Text 23"/>
          <p:cNvSpPr txBox="1"/>
          <p:nvPr/>
        </p:nvSpPr>
        <p:spPr>
          <a:xfrm>
            <a:off x="5074920" y="3611880"/>
            <a:ext cx="2011680" cy="594360"/>
          </a:xfrm>
          <a:prstGeom prst="rect">
            <a:avLst/>
          </a:prstGeom>
          <a:noFill/>
          <a:ln/>
        </p:spPr>
        <p:txBody>
          <a:bodyPr wrap="square" lIns="0" tIns="0" rIns="0" bIns="0" rtlCol="0" anchor="t"/>
          <a:lstStyle/>
          <a:p>
            <a:pPr marL="0" indent="0">
              <a:buNone/>
            </a:pPr>
            <a:r>
              <a:rPr lang="en-US" sz="1300" b="1" dirty="0" err="1" smtClean="0">
                <a:solidFill>
                  <a:srgbClr val="FF5858"/>
                </a:solidFill>
                <a:latin typeface="Fira Code" pitchFamily="34" charset="0"/>
                <a:ea typeface="Fira Code" pitchFamily="34" charset="-122"/>
                <a:cs typeface="Fira Code" pitchFamily="34" charset="-120"/>
              </a:rPr>
              <a:t>optimise</a:t>
            </a:r>
            <a:endParaRPr lang="en-US" sz="1300" dirty="0"/>
          </a:p>
          <a:p>
            <a:pPr marL="0" indent="0">
              <a:buNone/>
            </a:pPr>
            <a:r>
              <a:rPr lang="en-US" sz="1050" dirty="0">
                <a:solidFill>
                  <a:srgbClr val="A9AFBA"/>
                </a:solidFill>
                <a:latin typeface="Fira Sans" pitchFamily="34" charset="0"/>
                <a:ea typeface="Fira Sans" pitchFamily="34" charset="-122"/>
                <a:cs typeface="Fira Sans" pitchFamily="34" charset="-120"/>
              </a:rPr>
              <a:t>linopy + HiGHS</a:t>
            </a:r>
            <a:endParaRPr lang="en-US" sz="1300" dirty="0"/>
          </a:p>
        </p:txBody>
      </p:sp>
      <p:sp>
        <p:nvSpPr>
          <p:cNvPr id="27" name="Text 24"/>
          <p:cNvSpPr txBox="1"/>
          <p:nvPr/>
        </p:nvSpPr>
        <p:spPr>
          <a:xfrm>
            <a:off x="6446520" y="3611880"/>
            <a:ext cx="2011680" cy="594360"/>
          </a:xfrm>
          <a:prstGeom prst="rect">
            <a:avLst/>
          </a:prstGeom>
          <a:noFill/>
          <a:ln/>
        </p:spPr>
        <p:txBody>
          <a:bodyPr wrap="square" lIns="0" tIns="0" rIns="0" bIns="0" rtlCol="0" anchor="t"/>
          <a:lstStyle/>
          <a:p>
            <a:pPr marL="0" indent="0">
              <a:buNone/>
            </a:pPr>
            <a:r>
              <a:rPr lang="en-US" sz="1300" b="1" dirty="0" smtClean="0">
                <a:solidFill>
                  <a:srgbClr val="72D9F0"/>
                </a:solidFill>
                <a:latin typeface="Fira Code" pitchFamily="34" charset="0"/>
                <a:ea typeface="Fira Code" pitchFamily="34" charset="-122"/>
                <a:cs typeface="Fira Code" pitchFamily="34" charset="-120"/>
              </a:rPr>
              <a:t>results</a:t>
            </a:r>
            <a:endParaRPr lang="en-US" sz="1300" dirty="0"/>
          </a:p>
          <a:p>
            <a:pPr marL="0" indent="0">
              <a:buNone/>
            </a:pPr>
            <a:r>
              <a:rPr lang="en-US" sz="1050" dirty="0">
                <a:solidFill>
                  <a:srgbClr val="A9AFBA"/>
                </a:solidFill>
                <a:latin typeface="Fira Sans" pitchFamily="34" charset="0"/>
                <a:ea typeface="Fira Sans" pitchFamily="34" charset="-122"/>
                <a:cs typeface="Fira Sans" pitchFamily="34" charset="-120"/>
              </a:rPr>
              <a:t>dispatch · £ · tCO₂</a:t>
            </a:r>
            <a:endParaRPr lang="en-US" sz="1300" dirty="0"/>
          </a:p>
        </p:txBody>
      </p:sp>
      <p:sp>
        <p:nvSpPr>
          <p:cNvPr id="28"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txBox="1"/>
          <p:nvPr/>
        </p:nvSpPr>
        <p:spPr>
          <a:xfrm>
            <a:off x="685800" y="457200"/>
            <a:ext cx="4114800" cy="274320"/>
          </a:xfrm>
          <a:prstGeom prst="rect">
            <a:avLst/>
          </a:prstGeom>
          <a:noFill/>
          <a:ln/>
        </p:spPr>
        <p:txBody>
          <a:bodyPr wrap="square" lIns="0" tIns="0" rIns="0" bIns="0" rtlCol="0" anchor="t"/>
          <a:lstStyle/>
          <a:p>
            <a:pPr marL="0" indent="0">
              <a:buNone/>
            </a:pPr>
            <a:r>
              <a:rPr lang="en-US" sz="1100" dirty="0">
                <a:solidFill>
                  <a:srgbClr val="FF5858"/>
                </a:solidFill>
                <a:latin typeface="Fira Code" pitchFamily="34" charset="0"/>
                <a:ea typeface="Fira Code" pitchFamily="34" charset="-122"/>
                <a:cs typeface="Fira Code" pitchFamily="34" charset="-120"/>
              </a:rPr>
              <a:t>pypsa</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4" name="Text 1"/>
          <p:cNvSpPr txBox="1"/>
          <p:nvPr/>
        </p:nvSpPr>
        <p:spPr>
          <a:xfrm>
            <a:off x="685800" y="768096"/>
            <a:ext cx="4114800" cy="868680"/>
          </a:xfrm>
          <a:prstGeom prst="rect">
            <a:avLst/>
          </a:prstGeom>
          <a:noFill/>
          <a:ln/>
        </p:spPr>
        <p:txBody>
          <a:bodyPr wrap="square" lIns="0" tIns="0" rIns="0" bIns="0" rtlCol="0" anchor="t"/>
          <a:lstStyle/>
          <a:p>
            <a:pPr marL="0" indent="0">
              <a:buNone/>
            </a:pPr>
            <a:r>
              <a:rPr lang="en-US" sz="1700" b="1" dirty="0">
                <a:solidFill>
                  <a:srgbClr val="FFFFFF"/>
                </a:solidFill>
                <a:latin typeface="Fira Sans" pitchFamily="34" charset="0"/>
                <a:ea typeface="Fira Sans" pitchFamily="34" charset="-122"/>
                <a:cs typeface="Fira Sans" pitchFamily="34" charset="-120"/>
              </a:rPr>
              <a:t>PyPSA: Python for Power System Analysis, open source and widely used</a:t>
            </a:r>
            <a:endParaRPr lang="en-US" sz="1700" dirty="0"/>
          </a:p>
        </p:txBody>
      </p:sp>
      <p:sp>
        <p:nvSpPr>
          <p:cNvPr id="5" name="Shape 2"/>
          <p:cNvSpPr/>
          <p:nvPr/>
        </p:nvSpPr>
        <p:spPr>
          <a:xfrm>
            <a:off x="685800" y="1737360"/>
            <a:ext cx="4114800" cy="457200"/>
          </a:xfrm>
          <a:prstGeom prst="rect">
            <a:avLst/>
          </a:prstGeom>
          <a:solidFill>
            <a:srgbClr val="16191F"/>
          </a:solidFill>
          <a:ln w="9525">
            <a:solidFill>
              <a:srgbClr val="3E434E"/>
            </a:solidFill>
            <a:prstDash val="solid"/>
          </a:ln>
        </p:spPr>
      </p:sp>
      <p:sp>
        <p:nvSpPr>
          <p:cNvPr id="6" name="Shape 3"/>
          <p:cNvSpPr/>
          <p:nvPr/>
        </p:nvSpPr>
        <p:spPr>
          <a:xfrm>
            <a:off x="685800" y="1737360"/>
            <a:ext cx="4114800" cy="457200"/>
          </a:xfrm>
          <a:prstGeom prst="rect">
            <a:avLst/>
          </a:prstGeom>
          <a:solidFill>
            <a:srgbClr val="A5CF27">
              <a:alpha val="12000"/>
            </a:srgbClr>
          </a:solidFill>
          <a:ln w="12700">
            <a:solidFill>
              <a:srgbClr val="A5CF27"/>
            </a:solidFill>
            <a:prstDash val="solid"/>
          </a:ln>
        </p:spPr>
      </p:sp>
      <p:sp>
        <p:nvSpPr>
          <p:cNvPr id="7" name="Text 4"/>
          <p:cNvSpPr txBox="1"/>
          <p:nvPr/>
        </p:nvSpPr>
        <p:spPr>
          <a:xfrm>
            <a:off x="804672" y="1737360"/>
            <a:ext cx="3931920" cy="457200"/>
          </a:xfrm>
          <a:prstGeom prst="rect">
            <a:avLst/>
          </a:prstGeom>
          <a:noFill/>
          <a:ln/>
        </p:spPr>
        <p:txBody>
          <a:bodyPr wrap="square" lIns="0" tIns="0" rIns="0" bIns="0" rtlCol="0" anchor="ctr"/>
          <a:lstStyle/>
          <a:p>
            <a:pPr marL="0" indent="0">
              <a:buNone/>
            </a:pPr>
            <a:r>
              <a:rPr lang="en-US" sz="900" dirty="0">
                <a:solidFill>
                  <a:srgbClr val="E7E7E7"/>
                </a:solidFill>
                <a:latin typeface="Fira Code" pitchFamily="34" charset="0"/>
                <a:ea typeface="Fira Code" pitchFamily="34" charset="-122"/>
                <a:cs typeface="Fira Code" pitchFamily="34" charset="-120"/>
              </a:rPr>
              <a:t>import pypsa</a:t>
            </a:r>
            <a:r>
              <a:rPr lang="en-US" sz="900" dirty="0">
                <a:solidFill>
                  <a:srgbClr val="707070"/>
                </a:solidFill>
                <a:latin typeface="Fira Code" pitchFamily="34" charset="0"/>
                <a:ea typeface="Fira Code" pitchFamily="34" charset="-122"/>
                <a:cs typeface="Fira Code" pitchFamily="34" charset="-120"/>
              </a:rPr>
              <a:t>   # free and open source, MIT licence</a:t>
            </a:r>
            <a:endParaRPr lang="en-US" sz="900" dirty="0"/>
          </a:p>
        </p:txBody>
      </p:sp>
      <p:sp>
        <p:nvSpPr>
          <p:cNvPr id="8" name="Text 5"/>
          <p:cNvSpPr txBox="1"/>
          <p:nvPr/>
        </p:nvSpPr>
        <p:spPr>
          <a:xfrm>
            <a:off x="685800" y="2377440"/>
            <a:ext cx="4114800" cy="123444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Build: buses, loads, generators, storage, lines</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Add time series: demand and weather, hour by hour</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Optimise: n.optimize() finds the least-cost plan</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Read results: dispatch, prices, costs, emissions</a:t>
            </a:r>
            <a:endParaRPr lang="en-US" sz="1150" dirty="0"/>
          </a:p>
        </p:txBody>
      </p:sp>
      <p:sp>
        <p:nvSpPr>
          <p:cNvPr id="9" name="Text 6"/>
          <p:cNvSpPr txBox="1"/>
          <p:nvPr/>
        </p:nvSpPr>
        <p:spPr>
          <a:xfrm>
            <a:off x="685800" y="3931920"/>
            <a:ext cx="4206240" cy="411480"/>
          </a:xfrm>
          <a:prstGeom prst="rect">
            <a:avLst/>
          </a:prstGeom>
          <a:noFill/>
          <a:ln/>
        </p:spPr>
        <p:txBody>
          <a:bodyPr wrap="square" lIns="0" tIns="0" rIns="0" bIns="0" rtlCol="0" anchor="t"/>
          <a:lstStyle/>
          <a:p>
            <a:r>
              <a:rPr lang="en-US" sz="850" dirty="0">
                <a:solidFill>
                  <a:srgbClr val="72D9F0"/>
                </a:solidFill>
                <a:latin typeface="Fira Code" pitchFamily="34" charset="0"/>
                <a:ea typeface="Fira Code" pitchFamily="34" charset="-122"/>
                <a:cs typeface="Fira Code" pitchFamily="34" charset="-120"/>
              </a:rPr>
              <a:t>used_by = </a:t>
            </a:r>
            <a:r>
              <a:rPr lang="en-US" sz="850" dirty="0" smtClean="0">
                <a:solidFill>
                  <a:srgbClr val="A5CF27"/>
                </a:solidFill>
                <a:latin typeface="Fira Code" pitchFamily="34" charset="0"/>
                <a:ea typeface="Fira Code" pitchFamily="34" charset="-122"/>
                <a:cs typeface="Fira Code" pitchFamily="34" charset="-120"/>
              </a:rPr>
              <a:t>IEA · ENTSO-E · grid operators · </a:t>
            </a:r>
            <a:r>
              <a:rPr lang="en-US" sz="850" dirty="0" err="1" smtClean="0">
                <a:solidFill>
                  <a:srgbClr val="A5CF27"/>
                </a:solidFill>
                <a:latin typeface="Fira Code" pitchFamily="34" charset="0"/>
                <a:ea typeface="Fira Code" pitchFamily="34" charset="-122"/>
                <a:cs typeface="Fira Code" pitchFamily="34" charset="-120"/>
              </a:rPr>
              <a:t>PyPSA</a:t>
            </a:r>
            <a:r>
              <a:rPr lang="en-US" sz="850" dirty="0" smtClean="0">
                <a:solidFill>
                  <a:srgbClr val="A5CF27"/>
                </a:solidFill>
                <a:latin typeface="Fira Code" pitchFamily="34" charset="0"/>
                <a:ea typeface="Fira Code" pitchFamily="34" charset="-122"/>
                <a:cs typeface="Fira Code" pitchFamily="34" charset="-120"/>
              </a:rPr>
              <a:t>-GB</a:t>
            </a:r>
            <a:r>
              <a:rPr lang="en-US" sz="850" dirty="0" smtClean="0">
                <a:solidFill>
                  <a:srgbClr val="707070"/>
                </a:solidFill>
                <a:latin typeface="Fira Code" pitchFamily="34" charset="0"/>
                <a:ea typeface="Fira Code" pitchFamily="34" charset="-122"/>
                <a:cs typeface="Fira Code" pitchFamily="34" charset="-120"/>
              </a:rPr>
              <a:t> </a:t>
            </a:r>
            <a:r>
              <a:rPr lang="en-US" sz="850" dirty="0">
                <a:solidFill>
                  <a:srgbClr val="A5CF27"/>
                </a:solidFill>
                <a:latin typeface="Fira Code" pitchFamily="34" charset="0"/>
                <a:ea typeface="Fira Code" pitchFamily="34" charset="-122"/>
                <a:cs typeface="Fira Code" pitchFamily="34" charset="-120"/>
              </a:rPr>
              <a:t>· </a:t>
            </a:r>
            <a:r>
              <a:rPr lang="en-US" sz="850" dirty="0" err="1" smtClean="0">
                <a:solidFill>
                  <a:srgbClr val="A5CF27"/>
                </a:solidFill>
                <a:latin typeface="Fira Code" pitchFamily="34" charset="0"/>
                <a:ea typeface="Fira Code" pitchFamily="34" charset="-122"/>
                <a:cs typeface="Fira Code" pitchFamily="34" charset="-120"/>
              </a:rPr>
              <a:t>PyPSA</a:t>
            </a:r>
            <a:r>
              <a:rPr lang="en-US" sz="850" dirty="0" smtClean="0">
                <a:solidFill>
                  <a:srgbClr val="A5CF27"/>
                </a:solidFill>
                <a:latin typeface="Fira Code" pitchFamily="34" charset="0"/>
                <a:ea typeface="Fira Code" pitchFamily="34" charset="-122"/>
                <a:cs typeface="Fira Code" pitchFamily="34" charset="-120"/>
              </a:rPr>
              <a:t>-IMG</a:t>
            </a:r>
            <a:r>
              <a:rPr lang="en-US" sz="850" dirty="0" smtClean="0">
                <a:solidFill>
                  <a:srgbClr val="707070"/>
                </a:solidFill>
                <a:latin typeface="Fira Code" pitchFamily="34" charset="0"/>
                <a:ea typeface="Fira Code" pitchFamily="34" charset="-122"/>
                <a:cs typeface="Fira Code" pitchFamily="34" charset="-120"/>
              </a:rPr>
              <a:t> </a:t>
            </a:r>
            <a:endParaRPr lang="en-US" sz="85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8</a:t>
            </a:fld>
            <a:endParaRPr lang="en-US"/>
          </a:p>
        </p:txBody>
      </p:sp>
      <p:pic>
        <p:nvPicPr>
          <p:cNvPr id="12" name="Google Shape;315;p37"/>
          <p:cNvPicPr preferRelativeResize="0"/>
          <p:nvPr/>
        </p:nvPicPr>
        <p:blipFill rotWithShape="1">
          <a:blip r:embed="rId3">
            <a:alphaModFix/>
          </a:blip>
          <a:srcRect/>
          <a:stretch/>
        </p:blipFill>
        <p:spPr>
          <a:xfrm>
            <a:off x="5612296" y="667657"/>
            <a:ext cx="2435875" cy="3741057"/>
          </a:xfrm>
          <a:prstGeom prst="rect">
            <a:avLst/>
          </a:prstGeom>
          <a:noFill/>
          <a:ln>
            <a:noFill/>
          </a:ln>
          <a:effectLst>
            <a:outerShdw blurRad="128588" dist="19050" dir="5400000" algn="bl" rotWithShape="0">
              <a:schemeClr val="accent4"/>
            </a:outerShdw>
          </a:effectLst>
        </p:spPr>
      </p:pic>
    </p:spTree>
    <p:extLst>
      <p:ext uri="{BB962C8B-B14F-4D97-AF65-F5344CB8AC3E}">
        <p14:creationId xmlns:p14="http://schemas.microsoft.com/office/powerpoint/2010/main" val="28518347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pypsa</a:t>
            </a:r>
            <a:r>
              <a:rPr lang="en-US" sz="1100" dirty="0">
                <a:solidFill>
                  <a:srgbClr val="E7E7E7"/>
                </a:solidFill>
                <a:latin typeface="Fira Code" pitchFamily="34" charset="0"/>
                <a:ea typeface="Fira Code" pitchFamily="34" charset="-122"/>
                <a:cs typeface="Fira Code" pitchFamily="34" charset="-120"/>
              </a:rPr>
              <a:t>(applications):</a:t>
            </a:r>
            <a:endParaRPr lang="en-US" sz="1100" dirty="0"/>
          </a:p>
        </p:txBody>
      </p:sp>
      <p:sp>
        <p:nvSpPr>
          <p:cNvPr id="3" name="Text 22"/>
          <p:cNvSpPr>
            <a:spLocks noGrp="1"/>
          </p:cNvSpPr>
          <p:nvPr>
            <p:ph type="title" idx="123" hasCustomPrompt="1"/>
          </p:nvPr>
        </p:nvSpPr>
        <p:spPr>
          <a:xfrm>
            <a:off x="685800" y="768096"/>
            <a:ext cx="7863840" cy="749808"/>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With PyPSA you can plan, operate and decarbonise energy systems, from one site to a continent</a:t>
            </a:r>
            <a:endParaRPr lang="en-US" sz="2200" dirty="0"/>
          </a:p>
        </p:txBody>
      </p:sp>
      <p:sp>
        <p:nvSpPr>
          <p:cNvPr id="4" name="Text 2"/>
          <p:cNvSpPr txBox="1"/>
          <p:nvPr/>
        </p:nvSpPr>
        <p:spPr>
          <a:xfrm>
            <a:off x="731520" y="1965960"/>
            <a:ext cx="1920240" cy="731520"/>
          </a:xfrm>
          <a:prstGeom prst="rect">
            <a:avLst/>
          </a:prstGeom>
          <a:noFill/>
          <a:ln/>
        </p:spPr>
        <p:txBody>
          <a:bodyPr wrap="square" lIns="0" tIns="0" rIns="0" bIns="0" rtlCol="0" anchor="b"/>
          <a:lstStyle/>
          <a:p>
            <a:pPr marL="0" indent="0">
              <a:buNone/>
            </a:pPr>
            <a:r>
              <a:rPr lang="en-US" sz="2600" b="1" dirty="0">
                <a:solidFill>
                  <a:srgbClr val="FCC642"/>
                </a:solidFill>
                <a:latin typeface="Fira Code" pitchFamily="34" charset="0"/>
                <a:ea typeface="Fira Code" pitchFamily="34" charset="-122"/>
                <a:cs typeface="Fira Code" pitchFamily="34" charset="-120"/>
              </a:rPr>
              <a:t>plan</a:t>
            </a:r>
            <a:endParaRPr lang="en-US" sz="3600" dirty="0"/>
          </a:p>
        </p:txBody>
      </p:sp>
      <p:sp>
        <p:nvSpPr>
          <p:cNvPr id="5" name="Text 3"/>
          <p:cNvSpPr txBox="1"/>
          <p:nvPr/>
        </p:nvSpPr>
        <p:spPr>
          <a:xfrm>
            <a:off x="731520" y="2788920"/>
            <a:ext cx="1783080" cy="548640"/>
          </a:xfrm>
          <a:prstGeom prst="rect">
            <a:avLst/>
          </a:prstGeom>
          <a:noFill/>
          <a:ln/>
        </p:spPr>
        <p:txBody>
          <a:bodyPr wrap="square" lIns="0" tIns="0" rIns="0" bIns="0" rtlCol="0" anchor="t"/>
          <a:lstStyle/>
          <a:p>
            <a:pPr marL="0" indent="0">
              <a:buNone/>
            </a:pPr>
            <a:r>
              <a:rPr lang="en-US" sz="1100" dirty="0">
                <a:solidFill>
                  <a:srgbClr val="E7E7E7"/>
                </a:solidFill>
                <a:latin typeface="Fira Sans" pitchFamily="34" charset="0"/>
                <a:ea typeface="Fira Sans" pitchFamily="34" charset="-122"/>
                <a:cs typeface="Fira Sans" pitchFamily="34" charset="-120"/>
              </a:rPr>
              <a:t>choose the least-cost mix of solar, wind, storage and grid to build</a:t>
            </a:r>
            <a:endParaRPr lang="en-US" sz="1100" dirty="0"/>
          </a:p>
        </p:txBody>
      </p:sp>
      <p:sp>
        <p:nvSpPr>
          <p:cNvPr id="6" name="Text 4"/>
          <p:cNvSpPr txBox="1"/>
          <p:nvPr/>
        </p:nvSpPr>
        <p:spPr>
          <a:xfrm>
            <a:off x="2743200" y="1965960"/>
            <a:ext cx="1920240" cy="731520"/>
          </a:xfrm>
          <a:prstGeom prst="rect">
            <a:avLst/>
          </a:prstGeom>
          <a:noFill/>
          <a:ln/>
        </p:spPr>
        <p:txBody>
          <a:bodyPr wrap="square" lIns="0" tIns="0" rIns="0" bIns="0" rtlCol="0" anchor="b"/>
          <a:lstStyle/>
          <a:p>
            <a:pPr marL="0" indent="0">
              <a:buNone/>
            </a:pPr>
            <a:r>
              <a:rPr lang="en-US" sz="2600" b="1" dirty="0">
                <a:solidFill>
                  <a:srgbClr val="A5CF27"/>
                </a:solidFill>
                <a:latin typeface="Fira Code" pitchFamily="34" charset="0"/>
                <a:ea typeface="Fira Code" pitchFamily="34" charset="-122"/>
                <a:cs typeface="Fira Code" pitchFamily="34" charset="-120"/>
              </a:rPr>
              <a:t>operate</a:t>
            </a:r>
            <a:endParaRPr lang="en-US" sz="3600" dirty="0"/>
          </a:p>
        </p:txBody>
      </p:sp>
      <p:sp>
        <p:nvSpPr>
          <p:cNvPr id="7" name="Text 5"/>
          <p:cNvSpPr txBox="1"/>
          <p:nvPr/>
        </p:nvSpPr>
        <p:spPr>
          <a:xfrm>
            <a:off x="2743200" y="2788920"/>
            <a:ext cx="1783080" cy="548640"/>
          </a:xfrm>
          <a:prstGeom prst="rect">
            <a:avLst/>
          </a:prstGeom>
          <a:noFill/>
          <a:ln/>
        </p:spPr>
        <p:txBody>
          <a:bodyPr wrap="square" lIns="0" tIns="0" rIns="0" bIns="0" rtlCol="0" anchor="t"/>
          <a:lstStyle/>
          <a:p>
            <a:pPr marL="0" indent="0">
              <a:buNone/>
            </a:pPr>
            <a:r>
              <a:rPr lang="en-US" sz="1100" dirty="0" smtClean="0">
                <a:solidFill>
                  <a:srgbClr val="E7E7E7"/>
                </a:solidFill>
                <a:latin typeface="Fira Sans" pitchFamily="34" charset="0"/>
                <a:ea typeface="Fira Sans" pitchFamily="34" charset="-122"/>
                <a:cs typeface="Fira Sans" pitchFamily="34" charset="-120"/>
              </a:rPr>
              <a:t>schedule generators and batteries hour by hour; find prices and emissions</a:t>
            </a:r>
            <a:endParaRPr lang="en-US" sz="1100" dirty="0"/>
          </a:p>
        </p:txBody>
      </p:sp>
      <p:sp>
        <p:nvSpPr>
          <p:cNvPr id="8" name="Text 6"/>
          <p:cNvSpPr txBox="1"/>
          <p:nvPr/>
        </p:nvSpPr>
        <p:spPr>
          <a:xfrm>
            <a:off x="4754880" y="1965960"/>
            <a:ext cx="1920240" cy="731520"/>
          </a:xfrm>
          <a:prstGeom prst="rect">
            <a:avLst/>
          </a:prstGeom>
          <a:noFill/>
          <a:ln/>
        </p:spPr>
        <p:txBody>
          <a:bodyPr wrap="square" lIns="0" tIns="0" rIns="0" bIns="0" rtlCol="0" anchor="b"/>
          <a:lstStyle/>
          <a:p>
            <a:pPr marL="0" indent="0">
              <a:buNone/>
            </a:pPr>
            <a:r>
              <a:rPr lang="en-US" sz="2600" b="1" dirty="0">
                <a:solidFill>
                  <a:srgbClr val="72D9F0"/>
                </a:solidFill>
                <a:latin typeface="Fira Code" pitchFamily="34" charset="0"/>
                <a:ea typeface="Fira Code" pitchFamily="34" charset="-122"/>
                <a:cs typeface="Fira Code" pitchFamily="34" charset="-120"/>
              </a:rPr>
              <a:t>couple</a:t>
            </a:r>
            <a:endParaRPr lang="en-US" sz="3600" dirty="0"/>
          </a:p>
        </p:txBody>
      </p:sp>
      <p:sp>
        <p:nvSpPr>
          <p:cNvPr id="9" name="Text 7"/>
          <p:cNvSpPr txBox="1"/>
          <p:nvPr/>
        </p:nvSpPr>
        <p:spPr>
          <a:xfrm>
            <a:off x="4754880" y="2788920"/>
            <a:ext cx="1783080" cy="548640"/>
          </a:xfrm>
          <a:prstGeom prst="rect">
            <a:avLst/>
          </a:prstGeom>
          <a:noFill/>
          <a:ln/>
        </p:spPr>
        <p:txBody>
          <a:bodyPr wrap="square" lIns="0" tIns="0" rIns="0" bIns="0" rtlCol="0" anchor="t"/>
          <a:lstStyle/>
          <a:p>
            <a:pPr marL="0" indent="0">
              <a:buNone/>
            </a:pPr>
            <a:r>
              <a:rPr lang="en-US" sz="1100" dirty="0">
                <a:solidFill>
                  <a:srgbClr val="E7E7E7"/>
                </a:solidFill>
                <a:latin typeface="Fira Sans" pitchFamily="34" charset="0"/>
                <a:ea typeface="Fira Sans" pitchFamily="34" charset="-122"/>
                <a:cs typeface="Fira Sans" pitchFamily="34" charset="-120"/>
              </a:rPr>
              <a:t>link power with heat, transport and hydrogen: heat pumps, EVs, electrolysers</a:t>
            </a:r>
            <a:endParaRPr lang="en-US" sz="1100" dirty="0"/>
          </a:p>
        </p:txBody>
      </p:sp>
      <p:sp>
        <p:nvSpPr>
          <p:cNvPr id="10" name="Text 8"/>
          <p:cNvSpPr txBox="1"/>
          <p:nvPr/>
        </p:nvSpPr>
        <p:spPr>
          <a:xfrm>
            <a:off x="6766560" y="1965960"/>
            <a:ext cx="1920240" cy="731520"/>
          </a:xfrm>
          <a:prstGeom prst="rect">
            <a:avLst/>
          </a:prstGeom>
          <a:noFill/>
          <a:ln/>
        </p:spPr>
        <p:txBody>
          <a:bodyPr wrap="square" lIns="0" tIns="0" rIns="0" bIns="0" rtlCol="0" anchor="b"/>
          <a:lstStyle/>
          <a:p>
            <a:pPr marL="0" indent="0">
              <a:buNone/>
            </a:pPr>
            <a:r>
              <a:rPr lang="en-US" sz="2600" b="1" dirty="0">
                <a:solidFill>
                  <a:srgbClr val="FF5858"/>
                </a:solidFill>
                <a:latin typeface="Fira Code" pitchFamily="34" charset="0"/>
                <a:ea typeface="Fira Code" pitchFamily="34" charset="-122"/>
                <a:cs typeface="Fira Code" pitchFamily="34" charset="-120"/>
              </a:rPr>
              <a:t>scale</a:t>
            </a:r>
            <a:endParaRPr lang="en-US" sz="3000" dirty="0"/>
          </a:p>
        </p:txBody>
      </p:sp>
      <p:sp>
        <p:nvSpPr>
          <p:cNvPr id="11" name="Text 9"/>
          <p:cNvSpPr txBox="1"/>
          <p:nvPr/>
        </p:nvSpPr>
        <p:spPr>
          <a:xfrm>
            <a:off x="6766560" y="2788920"/>
            <a:ext cx="1783080" cy="548640"/>
          </a:xfrm>
          <a:prstGeom prst="rect">
            <a:avLst/>
          </a:prstGeom>
          <a:noFill/>
          <a:ln/>
        </p:spPr>
        <p:txBody>
          <a:bodyPr wrap="square" lIns="0" tIns="0" rIns="0" bIns="0" rtlCol="0" anchor="t"/>
          <a:lstStyle/>
          <a:p>
            <a:pPr marL="0" indent="0">
              <a:buNone/>
            </a:pPr>
            <a:r>
              <a:rPr lang="en-US" sz="1100" dirty="0">
                <a:solidFill>
                  <a:srgbClr val="E7E7E7"/>
                </a:solidFill>
                <a:latin typeface="Fira Sans" pitchFamily="34" charset="0"/>
                <a:ea typeface="Fira Sans" pitchFamily="34" charset="-122"/>
                <a:cs typeface="Fira Sans" pitchFamily="34" charset="-120"/>
              </a:rPr>
              <a:t>start from open models: PyPSA-GB, PyPSA-Eur and </a:t>
            </a:r>
            <a:r>
              <a:rPr lang="en-US" sz="1100" dirty="0" err="1" smtClean="0">
                <a:solidFill>
                  <a:srgbClr val="E7E7E7"/>
                </a:solidFill>
                <a:latin typeface="Fira Sans" pitchFamily="34" charset="0"/>
                <a:ea typeface="Fira Sans" pitchFamily="34" charset="-122"/>
                <a:cs typeface="Fira Sans" pitchFamily="34" charset="-120"/>
              </a:rPr>
              <a:t>PyPSA</a:t>
            </a:r>
            <a:r>
              <a:rPr lang="en-US" sz="1100" dirty="0" smtClean="0">
                <a:solidFill>
                  <a:srgbClr val="E7E7E7"/>
                </a:solidFill>
                <a:latin typeface="Fira Sans" pitchFamily="34" charset="0"/>
                <a:ea typeface="Fira Sans" pitchFamily="34" charset="-122"/>
                <a:cs typeface="Fira Sans" pitchFamily="34" charset="-120"/>
              </a:rPr>
              <a:t>-Earth, </a:t>
            </a:r>
            <a:r>
              <a:rPr lang="en-US" sz="1100" dirty="0" err="1" smtClean="0">
                <a:solidFill>
                  <a:srgbClr val="E7E7E7"/>
                </a:solidFill>
                <a:latin typeface="Fira Sans" pitchFamily="34" charset="0"/>
                <a:ea typeface="Fira Sans" pitchFamily="34" charset="-122"/>
                <a:cs typeface="Fira Sans" pitchFamily="34" charset="-120"/>
              </a:rPr>
              <a:t>PyPSA</a:t>
            </a:r>
            <a:r>
              <a:rPr lang="en-US" sz="1100" dirty="0" smtClean="0">
                <a:solidFill>
                  <a:srgbClr val="E7E7E7"/>
                </a:solidFill>
                <a:latin typeface="Fira Sans" pitchFamily="34" charset="0"/>
                <a:ea typeface="Fira Sans" pitchFamily="34" charset="-122"/>
                <a:cs typeface="Fira Sans" pitchFamily="34" charset="-120"/>
              </a:rPr>
              <a:t>-IMG</a:t>
            </a:r>
            <a:endParaRPr lang="en-US" sz="1100" dirty="0"/>
          </a:p>
        </p:txBody>
      </p:sp>
      <p:sp>
        <p:nvSpPr>
          <p:cNvPr id="12" name="Text 10"/>
          <p:cNvSpPr txBox="1"/>
          <p:nvPr/>
        </p:nvSpPr>
        <p:spPr>
          <a:xfrm>
            <a:off x="731520" y="3931920"/>
            <a:ext cx="7680960" cy="274320"/>
          </a:xfrm>
          <a:prstGeom prst="rect">
            <a:avLst/>
          </a:prstGeom>
          <a:noFill/>
          <a:ln/>
        </p:spPr>
        <p:txBody>
          <a:bodyPr wrap="square" lIns="0" tIns="0" rIns="0" bIns="0" rtlCol="0" anchor="t"/>
          <a:lstStyle/>
          <a:p>
            <a:pPr marL="0" indent="0">
              <a:buNone/>
            </a:pPr>
            <a:r>
              <a:rPr lang="en-US" sz="1100" dirty="0">
                <a:solidFill>
                  <a:srgbClr val="707070"/>
                </a:solidFill>
                <a:latin typeface="Fira Code" pitchFamily="34" charset="0"/>
                <a:ea typeface="Fira Code" pitchFamily="34" charset="-122"/>
                <a:cs typeface="Fira Code" pitchFamily="34" charset="-120"/>
              </a:rPr>
              <a:t># </a:t>
            </a:r>
            <a:r>
              <a:rPr lang="en-US" sz="1100" dirty="0" smtClean="0">
                <a:solidFill>
                  <a:srgbClr val="707070"/>
                </a:solidFill>
                <a:latin typeface="Fira Code" pitchFamily="34" charset="0"/>
                <a:ea typeface="Fira Code" pitchFamily="34" charset="-122"/>
                <a:cs typeface="Fira Code" pitchFamily="34" charset="-120"/>
              </a:rPr>
              <a:t>Research project </a:t>
            </a:r>
            <a:r>
              <a:rPr lang="en-US" sz="1100" dirty="0">
                <a:solidFill>
                  <a:srgbClr val="707070"/>
                </a:solidFill>
                <a:latin typeface="Fira Code" pitchFamily="34" charset="0"/>
                <a:ea typeface="Fira Code" pitchFamily="34" charset="-122"/>
                <a:cs typeface="Fira Code" pitchFamily="34" charset="-120"/>
              </a:rPr>
              <a:t>ideas: campus solar + storage, local heat pumps, industrial hydrogen</a:t>
            </a:r>
            <a:endParaRPr lang="en-US" sz="11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9</a:t>
            </a:fld>
            <a:endParaRPr lang="en-US"/>
          </a:p>
        </p:txBody>
      </p:sp>
    </p:spTree>
    <p:extLst>
      <p:ext uri="{BB962C8B-B14F-4D97-AF65-F5344CB8AC3E}">
        <p14:creationId xmlns:p14="http://schemas.microsoft.com/office/powerpoint/2010/main" val="41575502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build</a:t>
            </a:r>
            <a:r>
              <a:rPr lang="en-US" sz="1100" dirty="0">
                <a:solidFill>
                  <a:srgbClr val="E7E7E7"/>
                </a:solidFill>
                <a:latin typeface="Fira Code" pitchFamily="34" charset="0"/>
                <a:ea typeface="Fira Code" pitchFamily="34" charset="-122"/>
                <a:cs typeface="Fira Code" pitchFamily="34" charset="-120"/>
              </a:rPr>
              <a:t>(</a:t>
            </a:r>
            <a:r>
              <a:rPr lang="en-US" sz="1100" dirty="0">
                <a:solidFill>
                  <a:srgbClr val="FCC642"/>
                </a:solidFill>
                <a:latin typeface="Fira Code" pitchFamily="34" charset="0"/>
                <a:ea typeface="Fira Code" pitchFamily="34" charset="-122"/>
                <a:cs typeface="Fira Code" pitchFamily="34" charset="-120"/>
              </a:rPr>
              <a:t>household</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749808"/>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Ten lines of PyPSA describe a household with solar, battery and grid</a:t>
            </a:r>
            <a:endParaRPr lang="en-US" sz="2200" dirty="0"/>
          </a:p>
        </p:txBody>
      </p:sp>
      <p:sp>
        <p:nvSpPr>
          <p:cNvPr id="4" name="Code panel"/>
          <p:cNvSpPr/>
          <p:nvPr/>
        </p:nvSpPr>
        <p:spPr>
          <a:xfrm>
            <a:off x="731520" y="1691640"/>
            <a:ext cx="5669280" cy="2697480"/>
          </a:xfrm>
          <a:prstGeom prst="rect">
            <a:avLst/>
          </a:prstGeom>
          <a:solidFill>
            <a:srgbClr val="16191F"/>
          </a:solidFill>
          <a:ln w="9525">
            <a:solidFill>
              <a:srgbClr val="3E434E"/>
            </a:solidFill>
            <a:prstDash val="solid"/>
          </a:ln>
        </p:spPr>
      </p:sp>
      <p:sp>
        <p:nvSpPr>
          <p:cNvPr id="5" name="Highlight"/>
          <p:cNvSpPr/>
          <p:nvPr/>
        </p:nvSpPr>
        <p:spPr>
          <a:xfrm>
            <a:off x="731520" y="3479292"/>
            <a:ext cx="5669280" cy="410220"/>
          </a:xfrm>
          <a:prstGeom prst="rect">
            <a:avLst/>
          </a:prstGeom>
          <a:solidFill>
            <a:srgbClr val="A5CF27">
              <a:alpha val="15000"/>
            </a:srgbClr>
          </a:solidFill>
          <a:ln w="12700">
            <a:solidFill>
              <a:srgbClr val="A5CF27"/>
            </a:solidFill>
            <a:prstDash val="solid"/>
          </a:ln>
        </p:spPr>
      </p:sp>
      <p:sp>
        <p:nvSpPr>
          <p:cNvPr id="6" name="Text 4"/>
          <p:cNvSpPr txBox="1"/>
          <p:nvPr/>
        </p:nvSpPr>
        <p:spPr>
          <a:xfrm>
            <a:off x="868680" y="1828800"/>
            <a:ext cx="5486400" cy="2253996"/>
          </a:xfrm>
          <a:prstGeom prst="rect">
            <a:avLst/>
          </a:prstGeom>
          <a:noFill/>
          <a:ln/>
        </p:spPr>
        <p:txBody>
          <a:bodyPr wrap="square" lIns="0" tIns="0" rIns="0" bIns="0" rtlCol="0" anchor="t"/>
          <a:lstStyle/>
          <a:p>
            <a:pPr marL="0" indent="0">
              <a:lnSpc>
                <a:spcPts val="1550"/>
              </a:lnSpc>
              <a:buNone/>
            </a:pPr>
            <a:r>
              <a:rPr lang="en-US" sz="900" dirty="0">
                <a:solidFill>
                  <a:srgbClr val="FF5858"/>
                </a:solidFill>
                <a:latin typeface="Fira Code" pitchFamily="34" charset="0"/>
                <a:ea typeface="Fira Code" pitchFamily="34" charset="-122"/>
                <a:cs typeface="Fira Code" pitchFamily="34" charset="-120"/>
              </a:rPr>
              <a:t>import</a:t>
            </a:r>
            <a:r>
              <a:rPr lang="en-US" sz="900" dirty="0">
                <a:solidFill>
                  <a:srgbClr val="E7E7E7"/>
                </a:solidFill>
                <a:latin typeface="Fira Code" pitchFamily="34" charset="0"/>
                <a:ea typeface="Fira Code" pitchFamily="34" charset="-122"/>
                <a:cs typeface="Fira Code" pitchFamily="34" charset="-120"/>
              </a:rPr>
              <a:t> pypsa</a:t>
            </a:r>
            <a:endParaRPr lang="en-US" sz="900" dirty="0"/>
          </a:p>
          <a:p>
            <a:pPr marL="0" indent="0">
              <a:lnSpc>
                <a:spcPts val="1550"/>
              </a:lnSpc>
              <a:buNone/>
            </a:pPr>
            <a:r>
              <a:rPr lang="en-US" sz="900" dirty="0">
                <a:solidFill>
                  <a:srgbClr val="000000"/>
                </a:solidFill>
                <a:latin typeface="Fira Code" pitchFamily="34" charset="0"/>
                <a:ea typeface="Fira Code" pitchFamily="34" charset="-122"/>
                <a:cs typeface="Fira Code" pitchFamily="34" charset="-120"/>
              </a:rPr>
              <a:t> </a:t>
            </a:r>
            <a:endParaRPr lang="en-US" sz="900" dirty="0"/>
          </a:p>
          <a:p>
            <a:pPr marL="0" indent="0">
              <a:lnSpc>
                <a:spcPts val="1550"/>
              </a:lnSpc>
              <a:buNone/>
            </a:pPr>
            <a:r>
              <a:rPr lang="en-US" sz="900" dirty="0">
                <a:solidFill>
                  <a:srgbClr val="E7E7E7"/>
                </a:solidFill>
                <a:latin typeface="Fira Code" pitchFamily="34" charset="0"/>
                <a:ea typeface="Fira Code" pitchFamily="34" charset="-122"/>
                <a:cs typeface="Fira Code" pitchFamily="34" charset="-120"/>
              </a:rPr>
              <a:t>n = pypsa.</a:t>
            </a:r>
            <a:r>
              <a:rPr lang="en-US" sz="900" dirty="0">
                <a:solidFill>
                  <a:srgbClr val="72D9F0"/>
                </a:solidFill>
                <a:latin typeface="Fira Code" pitchFamily="34" charset="0"/>
                <a:ea typeface="Fira Code" pitchFamily="34" charset="-122"/>
                <a:cs typeface="Fira Code" pitchFamily="34" charset="-120"/>
              </a:rPr>
              <a:t>Network</a:t>
            </a:r>
            <a:r>
              <a:rPr lang="en-US" sz="900" dirty="0">
                <a:solidFill>
                  <a:srgbClr val="E7E7E7"/>
                </a:solidFill>
                <a:latin typeface="Fira Code" pitchFamily="34" charset="0"/>
                <a:ea typeface="Fira Code" pitchFamily="34" charset="-122"/>
                <a:cs typeface="Fira Code" pitchFamily="34" charset="-120"/>
              </a:rPr>
              <a:t>()</a:t>
            </a:r>
            <a:endParaRPr lang="en-US" sz="900" dirty="0"/>
          </a:p>
          <a:p>
            <a:pPr marL="0" indent="0">
              <a:lnSpc>
                <a:spcPts val="1550"/>
              </a:lnSpc>
              <a:buNone/>
            </a:pPr>
            <a:r>
              <a:rPr lang="en-US" sz="900" dirty="0">
                <a:solidFill>
                  <a:srgbClr val="E7E7E7"/>
                </a:solidFill>
                <a:latin typeface="Fira Code" pitchFamily="34" charset="0"/>
                <a:ea typeface="Fira Code" pitchFamily="34" charset="-122"/>
                <a:cs typeface="Fira Code" pitchFamily="34" charset="-120"/>
              </a:rPr>
              <a:t>n.</a:t>
            </a:r>
            <a:r>
              <a:rPr lang="en-US" sz="900" dirty="0">
                <a:solidFill>
                  <a:srgbClr val="72D9F0"/>
                </a:solidFill>
                <a:latin typeface="Fira Code" pitchFamily="34" charset="0"/>
                <a:ea typeface="Fira Code" pitchFamily="34" charset="-122"/>
                <a:cs typeface="Fira Code" pitchFamily="34" charset="-120"/>
              </a:rPr>
              <a:t>set_snapshots</a:t>
            </a:r>
            <a:r>
              <a:rPr lang="en-US" sz="900" dirty="0">
                <a:solidFill>
                  <a:srgbClr val="E7E7E7"/>
                </a:solidFill>
                <a:latin typeface="Fira Code" pitchFamily="34" charset="0"/>
                <a:ea typeface="Fira Code" pitchFamily="34" charset="-122"/>
                <a:cs typeface="Fira Code" pitchFamily="34" charset="-120"/>
              </a:rPr>
              <a:t>(demand.index)       </a:t>
            </a:r>
            <a:r>
              <a:rPr lang="en-US" sz="900" dirty="0">
                <a:solidFill>
                  <a:srgbClr val="707070"/>
                </a:solidFill>
                <a:latin typeface="Fira Code" pitchFamily="34" charset="0"/>
                <a:ea typeface="Fira Code" pitchFamily="34" charset="-122"/>
                <a:cs typeface="Fira Code" pitchFamily="34" charset="-120"/>
              </a:rPr>
              <a:t># 8,760 hours</a:t>
            </a:r>
            <a:endParaRPr lang="en-US" sz="900" dirty="0"/>
          </a:p>
          <a:p>
            <a:pPr marL="0" indent="0">
              <a:lnSpc>
                <a:spcPts val="1550"/>
              </a:lnSpc>
              <a:buNone/>
            </a:pPr>
            <a:r>
              <a:rPr lang="en-US" sz="900" dirty="0">
                <a:solidFill>
                  <a:srgbClr val="E7E7E7"/>
                </a:solidFill>
                <a:latin typeface="Fira Code" pitchFamily="34" charset="0"/>
                <a:ea typeface="Fira Code" pitchFamily="34" charset="-122"/>
                <a:cs typeface="Fira Code" pitchFamily="34" charset="-120"/>
              </a:rPr>
              <a:t>n.</a:t>
            </a:r>
            <a:r>
              <a:rPr lang="en-US" sz="900" dirty="0">
                <a:solidFill>
                  <a:srgbClr val="72D9F0"/>
                </a:solidFill>
                <a:latin typeface="Fira Code" pitchFamily="34" charset="0"/>
                <a:ea typeface="Fira Code" pitchFamily="34" charset="-122"/>
                <a:cs typeface="Fira Code" pitchFamily="34" charset="-120"/>
              </a:rPr>
              <a:t>add</a:t>
            </a:r>
            <a:r>
              <a:rPr lang="en-US" sz="900" dirty="0">
                <a:solidFill>
                  <a:srgbClr val="E7E7E7"/>
                </a:solidFill>
                <a:latin typeface="Fira Code" pitchFamily="34" charset="0"/>
                <a:ea typeface="Fira Code" pitchFamily="34" charset="-122"/>
                <a:cs typeface="Fira Code" pitchFamily="34" charset="-120"/>
              </a:rPr>
              <a:t>(</a:t>
            </a:r>
            <a:r>
              <a:rPr lang="en-US" sz="900" dirty="0">
                <a:solidFill>
                  <a:srgbClr val="FCC642"/>
                </a:solidFill>
                <a:latin typeface="Fira Code" pitchFamily="34" charset="0"/>
                <a:ea typeface="Fira Code" pitchFamily="34" charset="-122"/>
                <a:cs typeface="Fira Code" pitchFamily="34" charset="-120"/>
              </a:rPr>
              <a:t>"Bus"</a:t>
            </a:r>
            <a:r>
              <a:rPr lang="en-US" sz="900" dirty="0">
                <a:solidFill>
                  <a:srgbClr val="E7E7E7"/>
                </a:solidFill>
                <a:latin typeface="Fira Code" pitchFamily="34" charset="0"/>
                <a:ea typeface="Fira Code" pitchFamily="34" charset="-122"/>
                <a:cs typeface="Fira Code" pitchFamily="34" charset="-120"/>
              </a:rPr>
              <a:t>, </a:t>
            </a:r>
            <a:r>
              <a:rPr lang="en-US" sz="900" dirty="0">
                <a:solidFill>
                  <a:srgbClr val="FCC642"/>
                </a:solidFill>
                <a:latin typeface="Fira Code" pitchFamily="34" charset="0"/>
                <a:ea typeface="Fira Code" pitchFamily="34" charset="-122"/>
                <a:cs typeface="Fira Code" pitchFamily="34" charset="-120"/>
              </a:rPr>
              <a:t>"home"</a:t>
            </a:r>
            <a:r>
              <a:rPr lang="en-US" sz="900" dirty="0">
                <a:solidFill>
                  <a:srgbClr val="E7E7E7"/>
                </a:solidFill>
                <a:latin typeface="Fira Code" pitchFamily="34" charset="0"/>
                <a:ea typeface="Fira Code" pitchFamily="34" charset="-122"/>
                <a:cs typeface="Fira Code" pitchFamily="34" charset="-120"/>
              </a:rPr>
              <a:t>)</a:t>
            </a:r>
            <a:endParaRPr lang="en-US" sz="900" dirty="0"/>
          </a:p>
          <a:p>
            <a:pPr marL="0" indent="0">
              <a:lnSpc>
                <a:spcPts val="1550"/>
              </a:lnSpc>
              <a:buNone/>
            </a:pPr>
            <a:r>
              <a:rPr lang="en-US" sz="900" dirty="0">
                <a:solidFill>
                  <a:srgbClr val="E7E7E7"/>
                </a:solidFill>
                <a:latin typeface="Fira Code" pitchFamily="34" charset="0"/>
                <a:ea typeface="Fira Code" pitchFamily="34" charset="-122"/>
                <a:cs typeface="Fira Code" pitchFamily="34" charset="-120"/>
              </a:rPr>
              <a:t>n.</a:t>
            </a:r>
            <a:r>
              <a:rPr lang="en-US" sz="900" dirty="0">
                <a:solidFill>
                  <a:srgbClr val="72D9F0"/>
                </a:solidFill>
                <a:latin typeface="Fira Code" pitchFamily="34" charset="0"/>
                <a:ea typeface="Fira Code" pitchFamily="34" charset="-122"/>
                <a:cs typeface="Fira Code" pitchFamily="34" charset="-120"/>
              </a:rPr>
              <a:t>add</a:t>
            </a:r>
            <a:r>
              <a:rPr lang="en-US" sz="900" dirty="0">
                <a:solidFill>
                  <a:srgbClr val="E7E7E7"/>
                </a:solidFill>
                <a:latin typeface="Fira Code" pitchFamily="34" charset="0"/>
                <a:ea typeface="Fira Code" pitchFamily="34" charset="-122"/>
                <a:cs typeface="Fira Code" pitchFamily="34" charset="-120"/>
              </a:rPr>
              <a:t>(</a:t>
            </a:r>
            <a:r>
              <a:rPr lang="en-US" sz="900" dirty="0">
                <a:solidFill>
                  <a:srgbClr val="FCC642"/>
                </a:solidFill>
                <a:latin typeface="Fira Code" pitchFamily="34" charset="0"/>
                <a:ea typeface="Fira Code" pitchFamily="34" charset="-122"/>
                <a:cs typeface="Fira Code" pitchFamily="34" charset="-120"/>
              </a:rPr>
              <a:t>"Load"</a:t>
            </a:r>
            <a:r>
              <a:rPr lang="en-US" sz="900" dirty="0">
                <a:solidFill>
                  <a:srgbClr val="E7E7E7"/>
                </a:solidFill>
                <a:latin typeface="Fira Code" pitchFamily="34" charset="0"/>
                <a:ea typeface="Fira Code" pitchFamily="34" charset="-122"/>
                <a:cs typeface="Fira Code" pitchFamily="34" charset="-120"/>
              </a:rPr>
              <a:t>, </a:t>
            </a:r>
            <a:r>
              <a:rPr lang="en-US" sz="900" dirty="0">
                <a:solidFill>
                  <a:srgbClr val="FCC642"/>
                </a:solidFill>
                <a:latin typeface="Fira Code" pitchFamily="34" charset="0"/>
                <a:ea typeface="Fira Code" pitchFamily="34" charset="-122"/>
                <a:cs typeface="Fira Code" pitchFamily="34" charset="-120"/>
              </a:rPr>
              <a:t>"demand"</a:t>
            </a:r>
            <a:r>
              <a:rPr lang="en-US" sz="900" dirty="0">
                <a:solidFill>
                  <a:srgbClr val="E7E7E7"/>
                </a:solidFill>
                <a:latin typeface="Fira Code" pitchFamily="34" charset="0"/>
                <a:ea typeface="Fira Code" pitchFamily="34" charset="-122"/>
                <a:cs typeface="Fira Code" pitchFamily="34" charset="-120"/>
              </a:rPr>
              <a:t>, bus=</a:t>
            </a:r>
            <a:r>
              <a:rPr lang="en-US" sz="900" dirty="0">
                <a:solidFill>
                  <a:srgbClr val="FCC642"/>
                </a:solidFill>
                <a:latin typeface="Fira Code" pitchFamily="34" charset="0"/>
                <a:ea typeface="Fira Code" pitchFamily="34" charset="-122"/>
                <a:cs typeface="Fira Code" pitchFamily="34" charset="-120"/>
              </a:rPr>
              <a:t>"home"</a:t>
            </a:r>
            <a:r>
              <a:rPr lang="en-US" sz="900" dirty="0">
                <a:solidFill>
                  <a:srgbClr val="E7E7E7"/>
                </a:solidFill>
                <a:latin typeface="Fira Code" pitchFamily="34" charset="0"/>
                <a:ea typeface="Fira Code" pitchFamily="34" charset="-122"/>
                <a:cs typeface="Fira Code" pitchFamily="34" charset="-120"/>
              </a:rPr>
              <a:t>, p_set=demand)</a:t>
            </a:r>
            <a:endParaRPr lang="en-US" sz="900" dirty="0"/>
          </a:p>
          <a:p>
            <a:pPr marL="0" indent="0">
              <a:lnSpc>
                <a:spcPts val="1550"/>
              </a:lnSpc>
              <a:buNone/>
            </a:pPr>
            <a:r>
              <a:rPr lang="en-US" sz="900" dirty="0">
                <a:solidFill>
                  <a:srgbClr val="E7E7E7"/>
                </a:solidFill>
                <a:latin typeface="Fira Code" pitchFamily="34" charset="0"/>
                <a:ea typeface="Fira Code" pitchFamily="34" charset="-122"/>
                <a:cs typeface="Fira Code" pitchFamily="34" charset="-120"/>
              </a:rPr>
              <a:t>n.</a:t>
            </a:r>
            <a:r>
              <a:rPr lang="en-US" sz="900" dirty="0">
                <a:solidFill>
                  <a:srgbClr val="72D9F0"/>
                </a:solidFill>
                <a:latin typeface="Fira Code" pitchFamily="34" charset="0"/>
                <a:ea typeface="Fira Code" pitchFamily="34" charset="-122"/>
                <a:cs typeface="Fira Code" pitchFamily="34" charset="-120"/>
              </a:rPr>
              <a:t>add</a:t>
            </a:r>
            <a:r>
              <a:rPr lang="en-US" sz="900" dirty="0">
                <a:solidFill>
                  <a:srgbClr val="E7E7E7"/>
                </a:solidFill>
                <a:latin typeface="Fira Code" pitchFamily="34" charset="0"/>
                <a:ea typeface="Fira Code" pitchFamily="34" charset="-122"/>
                <a:cs typeface="Fira Code" pitchFamily="34" charset="-120"/>
              </a:rPr>
              <a:t>(</a:t>
            </a:r>
            <a:r>
              <a:rPr lang="en-US" sz="900" dirty="0">
                <a:solidFill>
                  <a:srgbClr val="FCC642"/>
                </a:solidFill>
                <a:latin typeface="Fira Code" pitchFamily="34" charset="0"/>
                <a:ea typeface="Fira Code" pitchFamily="34" charset="-122"/>
                <a:cs typeface="Fira Code" pitchFamily="34" charset="-120"/>
              </a:rPr>
              <a:t>"Generator"</a:t>
            </a:r>
            <a:r>
              <a:rPr lang="en-US" sz="900" dirty="0">
                <a:solidFill>
                  <a:srgbClr val="E7E7E7"/>
                </a:solidFill>
                <a:latin typeface="Fira Code" pitchFamily="34" charset="0"/>
                <a:ea typeface="Fira Code" pitchFamily="34" charset="-122"/>
                <a:cs typeface="Fira Code" pitchFamily="34" charset="-120"/>
              </a:rPr>
              <a:t>, </a:t>
            </a:r>
            <a:r>
              <a:rPr lang="en-US" sz="900" dirty="0">
                <a:solidFill>
                  <a:srgbClr val="FCC642"/>
                </a:solidFill>
                <a:latin typeface="Fira Code" pitchFamily="34" charset="0"/>
                <a:ea typeface="Fira Code" pitchFamily="34" charset="-122"/>
                <a:cs typeface="Fira Code" pitchFamily="34" charset="-120"/>
              </a:rPr>
              <a:t>"pv"</a:t>
            </a:r>
            <a:r>
              <a:rPr lang="en-US" sz="900" dirty="0">
                <a:solidFill>
                  <a:srgbClr val="E7E7E7"/>
                </a:solidFill>
                <a:latin typeface="Fira Code" pitchFamily="34" charset="0"/>
                <a:ea typeface="Fira Code" pitchFamily="34" charset="-122"/>
                <a:cs typeface="Fira Code" pitchFamily="34" charset="-120"/>
              </a:rPr>
              <a:t>, bus=</a:t>
            </a:r>
            <a:r>
              <a:rPr lang="en-US" sz="900" dirty="0">
                <a:solidFill>
                  <a:srgbClr val="FCC642"/>
                </a:solidFill>
                <a:latin typeface="Fira Code" pitchFamily="34" charset="0"/>
                <a:ea typeface="Fira Code" pitchFamily="34" charset="-122"/>
                <a:cs typeface="Fira Code" pitchFamily="34" charset="-120"/>
              </a:rPr>
              <a:t>"home"</a:t>
            </a:r>
            <a:r>
              <a:rPr lang="en-US" sz="900" dirty="0">
                <a:solidFill>
                  <a:srgbClr val="E7E7E7"/>
                </a:solidFill>
                <a:latin typeface="Fira Code" pitchFamily="34" charset="0"/>
                <a:ea typeface="Fira Code" pitchFamily="34" charset="-122"/>
                <a:cs typeface="Fira Code" pitchFamily="34" charset="-120"/>
              </a:rPr>
              <a:t>, p_nom=</a:t>
            </a:r>
            <a:r>
              <a:rPr lang="en-US" sz="900" dirty="0">
                <a:solidFill>
                  <a:srgbClr val="A5CF27"/>
                </a:solidFill>
                <a:latin typeface="Fira Code" pitchFamily="34" charset="0"/>
                <a:ea typeface="Fira Code" pitchFamily="34" charset="-122"/>
                <a:cs typeface="Fira Code" pitchFamily="34" charset="-120"/>
              </a:rPr>
              <a:t>4</a:t>
            </a:r>
            <a:r>
              <a:rPr lang="en-US" sz="900" dirty="0">
                <a:solidFill>
                  <a:srgbClr val="E7E7E7"/>
                </a:solidFill>
                <a:latin typeface="Fira Code" pitchFamily="34" charset="0"/>
                <a:ea typeface="Fira Code" pitchFamily="34" charset="-122"/>
                <a:cs typeface="Fira Code" pitchFamily="34" charset="-120"/>
              </a:rPr>
              <a:t>, p_max_pu=pv_cf)</a:t>
            </a:r>
            <a:endParaRPr lang="en-US" sz="900" dirty="0"/>
          </a:p>
          <a:p>
            <a:pPr marL="0" indent="0">
              <a:lnSpc>
                <a:spcPts val="1550"/>
              </a:lnSpc>
              <a:buNone/>
            </a:pPr>
            <a:r>
              <a:rPr lang="en-US" sz="900" dirty="0">
                <a:solidFill>
                  <a:srgbClr val="E7E7E7"/>
                </a:solidFill>
                <a:latin typeface="Fira Code" pitchFamily="34" charset="0"/>
                <a:ea typeface="Fira Code" pitchFamily="34" charset="-122"/>
                <a:cs typeface="Fira Code" pitchFamily="34" charset="-120"/>
              </a:rPr>
              <a:t>n.</a:t>
            </a:r>
            <a:r>
              <a:rPr lang="en-US" sz="900" dirty="0">
                <a:solidFill>
                  <a:srgbClr val="72D9F0"/>
                </a:solidFill>
                <a:latin typeface="Fira Code" pitchFamily="34" charset="0"/>
                <a:ea typeface="Fira Code" pitchFamily="34" charset="-122"/>
                <a:cs typeface="Fira Code" pitchFamily="34" charset="-120"/>
              </a:rPr>
              <a:t>add</a:t>
            </a:r>
            <a:r>
              <a:rPr lang="en-US" sz="900" dirty="0">
                <a:solidFill>
                  <a:srgbClr val="E7E7E7"/>
                </a:solidFill>
                <a:latin typeface="Fira Code" pitchFamily="34" charset="0"/>
                <a:ea typeface="Fira Code" pitchFamily="34" charset="-122"/>
                <a:cs typeface="Fira Code" pitchFamily="34" charset="-120"/>
              </a:rPr>
              <a:t>(</a:t>
            </a:r>
            <a:r>
              <a:rPr lang="en-US" sz="900" dirty="0">
                <a:solidFill>
                  <a:srgbClr val="FCC642"/>
                </a:solidFill>
                <a:latin typeface="Fira Code" pitchFamily="34" charset="0"/>
                <a:ea typeface="Fira Code" pitchFamily="34" charset="-122"/>
                <a:cs typeface="Fira Code" pitchFamily="34" charset="-120"/>
              </a:rPr>
              <a:t>"Generator"</a:t>
            </a:r>
            <a:r>
              <a:rPr lang="en-US" sz="900" dirty="0">
                <a:solidFill>
                  <a:srgbClr val="E7E7E7"/>
                </a:solidFill>
                <a:latin typeface="Fira Code" pitchFamily="34" charset="0"/>
                <a:ea typeface="Fira Code" pitchFamily="34" charset="-122"/>
                <a:cs typeface="Fira Code" pitchFamily="34" charset="-120"/>
              </a:rPr>
              <a:t>, </a:t>
            </a:r>
            <a:r>
              <a:rPr lang="en-US" sz="900" dirty="0">
                <a:solidFill>
                  <a:srgbClr val="FCC642"/>
                </a:solidFill>
                <a:latin typeface="Fira Code" pitchFamily="34" charset="0"/>
                <a:ea typeface="Fira Code" pitchFamily="34" charset="-122"/>
                <a:cs typeface="Fira Code" pitchFamily="34" charset="-120"/>
              </a:rPr>
              <a:t>"grid"</a:t>
            </a:r>
            <a:r>
              <a:rPr lang="en-US" sz="900" dirty="0">
                <a:solidFill>
                  <a:srgbClr val="E7E7E7"/>
                </a:solidFill>
                <a:latin typeface="Fira Code" pitchFamily="34" charset="0"/>
                <a:ea typeface="Fira Code" pitchFamily="34" charset="-122"/>
                <a:cs typeface="Fira Code" pitchFamily="34" charset="-120"/>
              </a:rPr>
              <a:t>, bus=</a:t>
            </a:r>
            <a:r>
              <a:rPr lang="en-US" sz="900" dirty="0">
                <a:solidFill>
                  <a:srgbClr val="FCC642"/>
                </a:solidFill>
                <a:latin typeface="Fira Code" pitchFamily="34" charset="0"/>
                <a:ea typeface="Fira Code" pitchFamily="34" charset="-122"/>
                <a:cs typeface="Fira Code" pitchFamily="34" charset="-120"/>
              </a:rPr>
              <a:t>"home"</a:t>
            </a:r>
            <a:r>
              <a:rPr lang="en-US" sz="900" dirty="0">
                <a:solidFill>
                  <a:srgbClr val="E7E7E7"/>
                </a:solidFill>
                <a:latin typeface="Fira Code" pitchFamily="34" charset="0"/>
                <a:ea typeface="Fira Code" pitchFamily="34" charset="-122"/>
                <a:cs typeface="Fira Code" pitchFamily="34" charset="-120"/>
              </a:rPr>
              <a:t>, p_nom=</a:t>
            </a:r>
            <a:r>
              <a:rPr lang="en-US" sz="900" dirty="0">
                <a:solidFill>
                  <a:srgbClr val="A5CF27"/>
                </a:solidFill>
                <a:latin typeface="Fira Code" pitchFamily="34" charset="0"/>
                <a:ea typeface="Fira Code" pitchFamily="34" charset="-122"/>
                <a:cs typeface="Fira Code" pitchFamily="34" charset="-120"/>
              </a:rPr>
              <a:t>10</a:t>
            </a:r>
            <a:r>
              <a:rPr lang="en-US" sz="900" dirty="0">
                <a:solidFill>
                  <a:srgbClr val="E7E7E7"/>
                </a:solidFill>
                <a:latin typeface="Fira Code" pitchFamily="34" charset="0"/>
                <a:ea typeface="Fira Code" pitchFamily="34" charset="-122"/>
                <a:cs typeface="Fira Code" pitchFamily="34" charset="-120"/>
              </a:rPr>
              <a:t>, marginal_cost=</a:t>
            </a:r>
            <a:r>
              <a:rPr lang="en-US" sz="900" dirty="0">
                <a:solidFill>
                  <a:srgbClr val="A5CF27"/>
                </a:solidFill>
                <a:latin typeface="Fira Code" pitchFamily="34" charset="0"/>
                <a:ea typeface="Fira Code" pitchFamily="34" charset="-122"/>
                <a:cs typeface="Fira Code" pitchFamily="34" charset="-120"/>
              </a:rPr>
              <a:t>0.25</a:t>
            </a:r>
            <a:r>
              <a:rPr lang="en-US" sz="900" dirty="0">
                <a:solidFill>
                  <a:srgbClr val="E7E7E7"/>
                </a:solidFill>
                <a:latin typeface="Fira Code" pitchFamily="34" charset="0"/>
                <a:ea typeface="Fira Code" pitchFamily="34" charset="-122"/>
                <a:cs typeface="Fira Code" pitchFamily="34" charset="-120"/>
              </a:rPr>
              <a:t>)</a:t>
            </a:r>
            <a:endParaRPr lang="en-US" sz="900" dirty="0"/>
          </a:p>
          <a:p>
            <a:pPr marL="0" indent="0">
              <a:lnSpc>
                <a:spcPts val="1550"/>
              </a:lnSpc>
              <a:buNone/>
            </a:pPr>
            <a:r>
              <a:rPr lang="en-US" sz="900" dirty="0">
                <a:solidFill>
                  <a:srgbClr val="E7E7E7"/>
                </a:solidFill>
                <a:latin typeface="Fira Code" pitchFamily="34" charset="0"/>
                <a:ea typeface="Fira Code" pitchFamily="34" charset="-122"/>
                <a:cs typeface="Fira Code" pitchFamily="34" charset="-120"/>
              </a:rPr>
              <a:t>n.</a:t>
            </a:r>
            <a:r>
              <a:rPr lang="en-US" sz="900" dirty="0">
                <a:solidFill>
                  <a:srgbClr val="72D9F0"/>
                </a:solidFill>
                <a:latin typeface="Fira Code" pitchFamily="34" charset="0"/>
                <a:ea typeface="Fira Code" pitchFamily="34" charset="-122"/>
                <a:cs typeface="Fira Code" pitchFamily="34" charset="-120"/>
              </a:rPr>
              <a:t>add</a:t>
            </a:r>
            <a:r>
              <a:rPr lang="en-US" sz="900" dirty="0">
                <a:solidFill>
                  <a:srgbClr val="E7E7E7"/>
                </a:solidFill>
                <a:latin typeface="Fira Code" pitchFamily="34" charset="0"/>
                <a:ea typeface="Fira Code" pitchFamily="34" charset="-122"/>
                <a:cs typeface="Fira Code" pitchFamily="34" charset="-120"/>
              </a:rPr>
              <a:t>(</a:t>
            </a:r>
            <a:r>
              <a:rPr lang="en-US" sz="900" dirty="0">
                <a:solidFill>
                  <a:srgbClr val="FCC642"/>
                </a:solidFill>
                <a:latin typeface="Fira Code" pitchFamily="34" charset="0"/>
                <a:ea typeface="Fira Code" pitchFamily="34" charset="-122"/>
                <a:cs typeface="Fira Code" pitchFamily="34" charset="-120"/>
              </a:rPr>
              <a:t>"StorageUnit"</a:t>
            </a:r>
            <a:r>
              <a:rPr lang="en-US" sz="900" dirty="0">
                <a:solidFill>
                  <a:srgbClr val="E7E7E7"/>
                </a:solidFill>
                <a:latin typeface="Fira Code" pitchFamily="34" charset="0"/>
                <a:ea typeface="Fira Code" pitchFamily="34" charset="-122"/>
                <a:cs typeface="Fira Code" pitchFamily="34" charset="-120"/>
              </a:rPr>
              <a:t>, </a:t>
            </a:r>
            <a:r>
              <a:rPr lang="en-US" sz="900" dirty="0">
                <a:solidFill>
                  <a:srgbClr val="FCC642"/>
                </a:solidFill>
                <a:latin typeface="Fira Code" pitchFamily="34" charset="0"/>
                <a:ea typeface="Fira Code" pitchFamily="34" charset="-122"/>
                <a:cs typeface="Fira Code" pitchFamily="34" charset="-120"/>
              </a:rPr>
              <a:t>"battery"</a:t>
            </a:r>
            <a:r>
              <a:rPr lang="en-US" sz="900" dirty="0">
                <a:solidFill>
                  <a:srgbClr val="E7E7E7"/>
                </a:solidFill>
                <a:latin typeface="Fira Code" pitchFamily="34" charset="0"/>
                <a:ea typeface="Fira Code" pitchFamily="34" charset="-122"/>
                <a:cs typeface="Fira Code" pitchFamily="34" charset="-120"/>
              </a:rPr>
              <a:t>, bus=</a:t>
            </a:r>
            <a:r>
              <a:rPr lang="en-US" sz="900" dirty="0">
                <a:solidFill>
                  <a:srgbClr val="FCC642"/>
                </a:solidFill>
                <a:latin typeface="Fira Code" pitchFamily="34" charset="0"/>
                <a:ea typeface="Fira Code" pitchFamily="34" charset="-122"/>
                <a:cs typeface="Fira Code" pitchFamily="34" charset="-120"/>
              </a:rPr>
              <a:t>"home"</a:t>
            </a:r>
            <a:r>
              <a:rPr lang="en-US" sz="900" dirty="0">
                <a:solidFill>
                  <a:srgbClr val="E7E7E7"/>
                </a:solidFill>
                <a:latin typeface="Fira Code" pitchFamily="34" charset="0"/>
                <a:ea typeface="Fira Code" pitchFamily="34" charset="-122"/>
                <a:cs typeface="Fira Code" pitchFamily="34" charset="-120"/>
              </a:rPr>
              <a:t>,</a:t>
            </a:r>
            <a:endParaRPr lang="en-US" sz="900" dirty="0"/>
          </a:p>
          <a:p>
            <a:pPr marL="0" indent="0">
              <a:lnSpc>
                <a:spcPts val="1550"/>
              </a:lnSpc>
              <a:buNone/>
            </a:pPr>
            <a:r>
              <a:rPr lang="en-US" sz="900" dirty="0">
                <a:solidFill>
                  <a:srgbClr val="E7E7E7"/>
                </a:solidFill>
                <a:latin typeface="Fira Code" pitchFamily="34" charset="0"/>
                <a:ea typeface="Fira Code" pitchFamily="34" charset="-122"/>
                <a:cs typeface="Fira Code" pitchFamily="34" charset="-120"/>
              </a:rPr>
              <a:t>      p_nom_extendable=</a:t>
            </a:r>
            <a:r>
              <a:rPr lang="en-US" sz="900" dirty="0">
                <a:solidFill>
                  <a:srgbClr val="FF5858"/>
                </a:solidFill>
                <a:latin typeface="Fira Code" pitchFamily="34" charset="0"/>
                <a:ea typeface="Fira Code" pitchFamily="34" charset="-122"/>
                <a:cs typeface="Fira Code" pitchFamily="34" charset="-120"/>
              </a:rPr>
              <a:t>True</a:t>
            </a:r>
            <a:r>
              <a:rPr lang="en-US" sz="900" dirty="0">
                <a:solidFill>
                  <a:srgbClr val="E7E7E7"/>
                </a:solidFill>
                <a:latin typeface="Fira Code" pitchFamily="34" charset="0"/>
                <a:ea typeface="Fira Code" pitchFamily="34" charset="-122"/>
                <a:cs typeface="Fira Code" pitchFamily="34" charset="-120"/>
              </a:rPr>
              <a:t>, max_hours=</a:t>
            </a:r>
            <a:r>
              <a:rPr lang="en-US" sz="900" dirty="0">
                <a:solidFill>
                  <a:srgbClr val="A5CF27"/>
                </a:solidFill>
                <a:latin typeface="Fira Code" pitchFamily="34" charset="0"/>
                <a:ea typeface="Fira Code" pitchFamily="34" charset="-122"/>
                <a:cs typeface="Fira Code" pitchFamily="34" charset="-120"/>
              </a:rPr>
              <a:t>2</a:t>
            </a:r>
            <a:r>
              <a:rPr lang="en-US" sz="900" dirty="0">
                <a:solidFill>
                  <a:srgbClr val="E7E7E7"/>
                </a:solidFill>
                <a:latin typeface="Fira Code" pitchFamily="34" charset="0"/>
                <a:ea typeface="Fira Code" pitchFamily="34" charset="-122"/>
                <a:cs typeface="Fira Code" pitchFamily="34" charset="-120"/>
              </a:rPr>
              <a:t>, capital_cost=</a:t>
            </a:r>
            <a:r>
              <a:rPr lang="en-US" sz="900" dirty="0">
                <a:solidFill>
                  <a:srgbClr val="A5CF27"/>
                </a:solidFill>
                <a:latin typeface="Fira Code" pitchFamily="34" charset="0"/>
                <a:ea typeface="Fira Code" pitchFamily="34" charset="-122"/>
                <a:cs typeface="Fira Code" pitchFamily="34" charset="-120"/>
              </a:rPr>
              <a:t>60</a:t>
            </a:r>
            <a:r>
              <a:rPr lang="en-US" sz="900" dirty="0">
                <a:solidFill>
                  <a:srgbClr val="E7E7E7"/>
                </a:solidFill>
                <a:latin typeface="Fira Code" pitchFamily="34" charset="0"/>
                <a:ea typeface="Fira Code" pitchFamily="34" charset="-122"/>
                <a:cs typeface="Fira Code" pitchFamily="34" charset="-120"/>
              </a:rPr>
              <a:t>)</a:t>
            </a:r>
            <a:endParaRPr lang="en-US" sz="900" dirty="0"/>
          </a:p>
          <a:p>
            <a:pPr marL="0" indent="0">
              <a:lnSpc>
                <a:spcPts val="1550"/>
              </a:lnSpc>
              <a:buNone/>
            </a:pPr>
            <a:r>
              <a:rPr lang="en-US" sz="900" dirty="0">
                <a:solidFill>
                  <a:srgbClr val="E7E7E7"/>
                </a:solidFill>
                <a:latin typeface="Fira Code" pitchFamily="34" charset="0"/>
                <a:ea typeface="Fira Code" pitchFamily="34" charset="-122"/>
                <a:cs typeface="Fira Code" pitchFamily="34" charset="-120"/>
              </a:rPr>
              <a:t>n.</a:t>
            </a:r>
            <a:r>
              <a:rPr lang="en-US" sz="900" dirty="0">
                <a:solidFill>
                  <a:srgbClr val="72D9F0"/>
                </a:solidFill>
                <a:latin typeface="Fira Code" pitchFamily="34" charset="0"/>
                <a:ea typeface="Fira Code" pitchFamily="34" charset="-122"/>
                <a:cs typeface="Fira Code" pitchFamily="34" charset="-120"/>
              </a:rPr>
              <a:t>optimize</a:t>
            </a:r>
            <a:r>
              <a:rPr lang="en-US" sz="900" dirty="0">
                <a:solidFill>
                  <a:srgbClr val="E7E7E7"/>
                </a:solidFill>
                <a:latin typeface="Fira Code" pitchFamily="34" charset="0"/>
                <a:ea typeface="Fira Code" pitchFamily="34" charset="-122"/>
                <a:cs typeface="Fira Code" pitchFamily="34" charset="-120"/>
              </a:rPr>
              <a:t>()                           </a:t>
            </a:r>
            <a:r>
              <a:rPr lang="en-US" sz="900" dirty="0">
                <a:solidFill>
                  <a:srgbClr val="707070"/>
                </a:solidFill>
                <a:latin typeface="Fira Code" pitchFamily="34" charset="0"/>
                <a:ea typeface="Fira Code" pitchFamily="34" charset="-122"/>
                <a:cs typeface="Fira Code" pitchFamily="34" charset="-120"/>
              </a:rPr>
              <a:t># HiGHS</a:t>
            </a:r>
            <a:endParaRPr lang="en-US" sz="900" dirty="0"/>
          </a:p>
        </p:txBody>
      </p:sp>
      <p:sp>
        <p:nvSpPr>
          <p:cNvPr id="7" name="Shape 5"/>
          <p:cNvSpPr/>
          <p:nvPr/>
        </p:nvSpPr>
        <p:spPr>
          <a:xfrm>
            <a:off x="6492240" y="3598164"/>
            <a:ext cx="320040" cy="0"/>
          </a:xfrm>
          <a:prstGeom prst="line">
            <a:avLst/>
          </a:prstGeom>
          <a:noFill/>
          <a:ln w="15875">
            <a:solidFill>
              <a:srgbClr val="A5CF27"/>
            </a:solidFill>
            <a:prstDash val="solid"/>
            <a:headEnd type="triangle"/>
          </a:ln>
        </p:spPr>
      </p:sp>
      <p:sp>
        <p:nvSpPr>
          <p:cNvPr id="8" name="Text 6"/>
          <p:cNvSpPr txBox="1"/>
          <p:nvPr/>
        </p:nvSpPr>
        <p:spPr>
          <a:xfrm>
            <a:off x="6903720" y="3479292"/>
            <a:ext cx="1691640" cy="1188720"/>
          </a:xfrm>
          <a:prstGeom prst="rect">
            <a:avLst/>
          </a:prstGeom>
          <a:noFill/>
          <a:ln/>
        </p:spPr>
        <p:txBody>
          <a:bodyPr wrap="square" lIns="0" tIns="0" rIns="0" bIns="0" rtlCol="0" anchor="t"/>
          <a:lstStyle/>
          <a:p>
            <a:pPr marL="0" indent="0">
              <a:buNone/>
            </a:pPr>
            <a:r>
              <a:rPr lang="en-US" sz="1200" b="1" dirty="0">
                <a:solidFill>
                  <a:srgbClr val="FFFFFF"/>
                </a:solidFill>
                <a:latin typeface="Fira Sans" pitchFamily="34" charset="0"/>
                <a:ea typeface="Fira Sans" pitchFamily="34" charset="-122"/>
                <a:cs typeface="Fira Sans" pitchFamily="34" charset="-120"/>
              </a:rPr>
              <a:t>Battery size is a decision, not an input</a:t>
            </a:r>
            <a:endParaRPr lang="en-US" sz="1200" dirty="0"/>
          </a:p>
          <a:p>
            <a:pPr marL="0" indent="0">
              <a:buNone/>
            </a:pPr>
            <a:r>
              <a:rPr lang="en-US" sz="1050" dirty="0">
                <a:solidFill>
                  <a:srgbClr val="A9AFBA"/>
                </a:solidFill>
                <a:latin typeface="Fira Sans" pitchFamily="34" charset="0"/>
                <a:ea typeface="Fira Sans" pitchFamily="34" charset="-122"/>
                <a:cs typeface="Fira Sans" pitchFamily="34" charset="-120"/>
              </a:rPr>
              <a:t>p_nom_extendable lets the solver choose the kW that minimises total cost.</a:t>
            </a:r>
            <a:endParaRPr lang="en-US" sz="1200" dirty="0"/>
          </a:p>
        </p:txBody>
      </p:sp>
      <p:sp>
        <p:nvSpPr>
          <p:cNvPr id="9" name="Text 7"/>
          <p:cNvSpPr txBox="1"/>
          <p:nvPr/>
        </p:nvSpPr>
        <p:spPr>
          <a:xfrm>
            <a:off x="731520" y="4462272"/>
            <a:ext cx="5669280" cy="201168"/>
          </a:xfrm>
          <a:prstGeom prst="rect">
            <a:avLst/>
          </a:prstGeom>
          <a:noFill/>
          <a:ln/>
        </p:spPr>
        <p:txBody>
          <a:bodyPr wrap="square" lIns="0" tIns="0" rIns="0" bIns="0" rtlCol="0" anchor="t"/>
          <a:lstStyle/>
          <a:p>
            <a:pPr marL="0" indent="0">
              <a:buNone/>
            </a:pPr>
            <a:r>
              <a:rPr lang="en-US" sz="800" dirty="0" smtClean="0">
                <a:solidFill>
                  <a:srgbClr val="707070"/>
                </a:solidFill>
                <a:latin typeface="Fira Sans" pitchFamily="34" charset="0"/>
                <a:ea typeface="Fira Sans" pitchFamily="34" charset="-122"/>
                <a:cs typeface="Fira Sans" pitchFamily="34" charset="-120"/>
              </a:rPr>
              <a:t>Units </a:t>
            </a:r>
            <a:r>
              <a:rPr lang="en-US" sz="800" dirty="0">
                <a:solidFill>
                  <a:srgbClr val="707070"/>
                </a:solidFill>
                <a:latin typeface="Fira Sans" pitchFamily="34" charset="0"/>
                <a:ea typeface="Fira Sans" pitchFamily="34" charset="-122"/>
                <a:cs typeface="Fira Sans" pitchFamily="34" charset="-120"/>
              </a:rPr>
              <a:t>are your choice; here kW, kWh and £. capital_cost is annualised £/kW/yr; all </a:t>
            </a:r>
            <a:r>
              <a:rPr lang="en-US" sz="800" dirty="0" smtClean="0">
                <a:solidFill>
                  <a:srgbClr val="707070"/>
                </a:solidFill>
                <a:latin typeface="Fira Sans" pitchFamily="34" charset="0"/>
                <a:ea typeface="Fira Sans" pitchFamily="34" charset="-122"/>
                <a:cs typeface="Fira Sans" pitchFamily="34" charset="-120"/>
              </a:rPr>
              <a:t>costs illustrative.</a:t>
            </a:r>
            <a:endParaRPr lang="en-US" sz="8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jupyter</a:t>
            </a:r>
            <a:r>
              <a:rPr lang="en-US" sz="1100" dirty="0">
                <a:solidFill>
                  <a:srgbClr val="E7E7E7"/>
                </a:solidFill>
                <a:latin typeface="Fira Code" pitchFamily="34" charset="0"/>
                <a:ea typeface="Fira Code" pitchFamily="34" charset="-122"/>
                <a:cs typeface="Fira Code" pitchFamily="34" charset="-120"/>
              </a:rPr>
              <a:t>(</a:t>
            </a:r>
            <a:r>
              <a:rPr lang="en-US" sz="1100" dirty="0">
                <a:solidFill>
                  <a:srgbClr val="FCC642"/>
                </a:solidFill>
                <a:latin typeface="Fira Code" pitchFamily="34" charset="0"/>
                <a:ea typeface="Fira Code" pitchFamily="34" charset="-122"/>
                <a:cs typeface="Fira Code" pitchFamily="34" charset="-120"/>
              </a:rPr>
              <a:t>lab</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530351"/>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JupyterLab: code, results and notes in one place</a:t>
            </a:r>
            <a:endParaRPr lang="en-US" sz="2200" dirty="0"/>
          </a:p>
        </p:txBody>
      </p:sp>
      <p:sp>
        <p:nvSpPr>
          <p:cNvPr id="4" name="Code panel"/>
          <p:cNvSpPr/>
          <p:nvPr/>
        </p:nvSpPr>
        <p:spPr>
          <a:xfrm>
            <a:off x="799070" y="1691640"/>
            <a:ext cx="4641610" cy="2697480"/>
          </a:xfrm>
          <a:prstGeom prst="rect">
            <a:avLst/>
          </a:prstGeom>
          <a:solidFill>
            <a:srgbClr val="16191F"/>
          </a:solidFill>
          <a:ln w="9525">
            <a:solidFill>
              <a:srgbClr val="3E434E"/>
            </a:solidFill>
            <a:prstDash val="solid"/>
          </a:ln>
        </p:spPr>
      </p:sp>
      <p:sp>
        <p:nvSpPr>
          <p:cNvPr id="5" name="Text 3"/>
          <p:cNvSpPr txBox="1"/>
          <p:nvPr/>
        </p:nvSpPr>
        <p:spPr>
          <a:xfrm>
            <a:off x="868680" y="1874520"/>
            <a:ext cx="4526280" cy="2286000"/>
          </a:xfrm>
          <a:prstGeom prst="rect">
            <a:avLst/>
          </a:prstGeom>
          <a:noFill/>
          <a:ln/>
        </p:spPr>
        <p:txBody>
          <a:bodyPr wrap="square" lIns="0" tIns="0" rIns="0" bIns="0" rtlCol="0" anchor="ctr"/>
          <a:lstStyle/>
          <a:p>
            <a:pPr marL="0" indent="0" algn="ctr">
              <a:lnSpc>
                <a:spcPts val="2150"/>
              </a:lnSpc>
              <a:buNone/>
            </a:pPr>
            <a:r>
              <a:rPr lang="en-US" sz="950" dirty="0">
                <a:solidFill>
                  <a:srgbClr val="8B949E"/>
                </a:solidFill>
                <a:latin typeface="Fira Code" pitchFamily="34" charset="0"/>
                <a:ea typeface="Fira Code" pitchFamily="34" charset="-122"/>
                <a:cs typeface="Fira Code" pitchFamily="34" charset="-120"/>
              </a:rPr>
              <a:t>[ Screenshot: JupyterLab after launching it from Anaconda Navigator ]</a:t>
            </a:r>
            <a:endParaRPr lang="en-US" sz="950" dirty="0"/>
          </a:p>
        </p:txBody>
      </p:sp>
      <p:sp>
        <p:nvSpPr>
          <p:cNvPr id="6" name="Shape 4"/>
          <p:cNvSpPr/>
          <p:nvPr/>
        </p:nvSpPr>
        <p:spPr>
          <a:xfrm>
            <a:off x="5532120" y="2359152"/>
            <a:ext cx="274320" cy="0"/>
          </a:xfrm>
          <a:prstGeom prst="line">
            <a:avLst/>
          </a:prstGeom>
          <a:noFill/>
          <a:ln w="15875">
            <a:solidFill>
              <a:srgbClr val="FCC642"/>
            </a:solidFill>
            <a:prstDash val="solid"/>
            <a:headEnd type="triangle"/>
          </a:ln>
        </p:spPr>
      </p:sp>
      <p:sp>
        <p:nvSpPr>
          <p:cNvPr id="7" name="Text 5"/>
          <p:cNvSpPr txBox="1"/>
          <p:nvPr/>
        </p:nvSpPr>
        <p:spPr>
          <a:xfrm>
            <a:off x="5897880" y="2240280"/>
            <a:ext cx="2834640" cy="256032"/>
          </a:xfrm>
          <a:prstGeom prst="rect">
            <a:avLst/>
          </a:prstGeom>
          <a:noFill/>
          <a:ln/>
        </p:spPr>
        <p:txBody>
          <a:bodyPr wrap="square" lIns="0" tIns="0" rIns="0" bIns="0" rtlCol="0" anchor="ctr"/>
          <a:lstStyle/>
          <a:p>
            <a:pPr marL="0" indent="0">
              <a:buNone/>
            </a:pPr>
            <a:r>
              <a:rPr lang="en-US" sz="1000" b="1" dirty="0">
                <a:solidFill>
                  <a:srgbClr val="FCC642"/>
                </a:solidFill>
                <a:latin typeface="Fira Code" pitchFamily="34" charset="0"/>
                <a:ea typeface="Fira Code" pitchFamily="34" charset="-122"/>
                <a:cs typeface="Fira Code" pitchFamily="34" charset="-120"/>
              </a:rPr>
              <a:t>File browser</a:t>
            </a:r>
            <a:r>
              <a:rPr lang="en-US" sz="1000" dirty="0">
                <a:solidFill>
                  <a:srgbClr val="E7E7E7"/>
                </a:solidFill>
                <a:latin typeface="Fira Sans" pitchFamily="34" charset="0"/>
                <a:ea typeface="Fira Sans" pitchFamily="34" charset="-122"/>
                <a:cs typeface="Fira Sans" pitchFamily="34" charset="-120"/>
              </a:rPr>
              <a:t>  open and upload files</a:t>
            </a:r>
            <a:endParaRPr lang="en-US" sz="1000" dirty="0"/>
          </a:p>
        </p:txBody>
      </p:sp>
      <p:sp>
        <p:nvSpPr>
          <p:cNvPr id="8" name="Shape 6"/>
          <p:cNvSpPr/>
          <p:nvPr/>
        </p:nvSpPr>
        <p:spPr>
          <a:xfrm>
            <a:off x="5532120" y="2633472"/>
            <a:ext cx="274320" cy="0"/>
          </a:xfrm>
          <a:prstGeom prst="line">
            <a:avLst/>
          </a:prstGeom>
          <a:noFill/>
          <a:ln w="15875">
            <a:solidFill>
              <a:srgbClr val="A5CF27"/>
            </a:solidFill>
            <a:prstDash val="solid"/>
            <a:headEnd type="triangle"/>
          </a:ln>
        </p:spPr>
      </p:sp>
      <p:sp>
        <p:nvSpPr>
          <p:cNvPr id="9" name="Text 7"/>
          <p:cNvSpPr txBox="1"/>
          <p:nvPr/>
        </p:nvSpPr>
        <p:spPr>
          <a:xfrm>
            <a:off x="5897880" y="2514600"/>
            <a:ext cx="2834640" cy="256032"/>
          </a:xfrm>
          <a:prstGeom prst="rect">
            <a:avLst/>
          </a:prstGeom>
          <a:noFill/>
          <a:ln/>
        </p:spPr>
        <p:txBody>
          <a:bodyPr wrap="square" lIns="0" tIns="0" rIns="0" bIns="0" rtlCol="0" anchor="ctr"/>
          <a:lstStyle/>
          <a:p>
            <a:pPr marL="0" indent="0">
              <a:buNone/>
            </a:pPr>
            <a:r>
              <a:rPr lang="en-US" sz="1000" b="1" dirty="0">
                <a:solidFill>
                  <a:srgbClr val="A5CF27"/>
                </a:solidFill>
                <a:latin typeface="Fira Code" pitchFamily="34" charset="0"/>
                <a:ea typeface="Fira Code" pitchFamily="34" charset="-122"/>
                <a:cs typeface="Fira Code" pitchFamily="34" charset="-120"/>
              </a:rPr>
              <a:t>Launcher</a:t>
            </a:r>
            <a:r>
              <a:rPr lang="en-US" sz="1000" dirty="0">
                <a:solidFill>
                  <a:srgbClr val="E7E7E7"/>
                </a:solidFill>
                <a:latin typeface="Fira Sans" pitchFamily="34" charset="0"/>
                <a:ea typeface="Fira Sans" pitchFamily="34" charset="-122"/>
                <a:cs typeface="Fira Sans" pitchFamily="34" charset="-120"/>
              </a:rPr>
              <a:t>  start a new notebook</a:t>
            </a:r>
            <a:endParaRPr lang="en-US" sz="1000" dirty="0"/>
          </a:p>
        </p:txBody>
      </p:sp>
      <p:sp>
        <p:nvSpPr>
          <p:cNvPr id="10" name="Shape 8"/>
          <p:cNvSpPr/>
          <p:nvPr/>
        </p:nvSpPr>
        <p:spPr>
          <a:xfrm>
            <a:off x="5532120" y="2907792"/>
            <a:ext cx="274320" cy="0"/>
          </a:xfrm>
          <a:prstGeom prst="line">
            <a:avLst/>
          </a:prstGeom>
          <a:noFill/>
          <a:ln w="15875">
            <a:solidFill>
              <a:srgbClr val="FF5858"/>
            </a:solidFill>
            <a:prstDash val="solid"/>
            <a:headEnd type="triangle"/>
          </a:ln>
        </p:spPr>
      </p:sp>
      <p:sp>
        <p:nvSpPr>
          <p:cNvPr id="11" name="Text 9"/>
          <p:cNvSpPr txBox="1"/>
          <p:nvPr/>
        </p:nvSpPr>
        <p:spPr>
          <a:xfrm>
            <a:off x="5897880" y="2788920"/>
            <a:ext cx="2834640" cy="256032"/>
          </a:xfrm>
          <a:prstGeom prst="rect">
            <a:avLst/>
          </a:prstGeom>
          <a:noFill/>
          <a:ln/>
        </p:spPr>
        <p:txBody>
          <a:bodyPr wrap="square" lIns="0" tIns="0" rIns="0" bIns="0" rtlCol="0" anchor="ctr"/>
          <a:lstStyle/>
          <a:p>
            <a:pPr marL="0" indent="0">
              <a:buNone/>
            </a:pPr>
            <a:r>
              <a:rPr lang="en-US" sz="1000" b="1" dirty="0">
                <a:solidFill>
                  <a:srgbClr val="FF5858"/>
                </a:solidFill>
                <a:latin typeface="Fira Code" pitchFamily="34" charset="0"/>
                <a:ea typeface="Fira Code" pitchFamily="34" charset="-122"/>
                <a:cs typeface="Fira Code" pitchFamily="34" charset="-120"/>
              </a:rPr>
              <a:t>Tabs</a:t>
            </a:r>
            <a:r>
              <a:rPr lang="en-US" sz="1000" dirty="0">
                <a:solidFill>
                  <a:srgbClr val="E7E7E7"/>
                </a:solidFill>
                <a:latin typeface="Fira Sans" pitchFamily="34" charset="0"/>
                <a:ea typeface="Fira Sans" pitchFamily="34" charset="-122"/>
                <a:cs typeface="Fira Sans" pitchFamily="34" charset="-120"/>
              </a:rPr>
              <a:t>  several files open side by side</a:t>
            </a:r>
            <a:endParaRPr lang="en-US" sz="1000" dirty="0"/>
          </a:p>
        </p:txBody>
      </p:sp>
      <p:sp>
        <p:nvSpPr>
          <p:cNvPr id="12" name="Shape 10"/>
          <p:cNvSpPr/>
          <p:nvPr/>
        </p:nvSpPr>
        <p:spPr>
          <a:xfrm>
            <a:off x="5532120" y="3456432"/>
            <a:ext cx="274320" cy="0"/>
          </a:xfrm>
          <a:prstGeom prst="line">
            <a:avLst/>
          </a:prstGeom>
          <a:noFill/>
          <a:ln w="15875">
            <a:solidFill>
              <a:srgbClr val="72D9F0"/>
            </a:solidFill>
            <a:prstDash val="solid"/>
            <a:headEnd type="triangle"/>
          </a:ln>
        </p:spPr>
      </p:sp>
      <p:sp>
        <p:nvSpPr>
          <p:cNvPr id="13" name="Text 11"/>
          <p:cNvSpPr txBox="1"/>
          <p:nvPr/>
        </p:nvSpPr>
        <p:spPr>
          <a:xfrm>
            <a:off x="5897880" y="3337560"/>
            <a:ext cx="2834640" cy="256032"/>
          </a:xfrm>
          <a:prstGeom prst="rect">
            <a:avLst/>
          </a:prstGeom>
          <a:noFill/>
          <a:ln/>
        </p:spPr>
        <p:txBody>
          <a:bodyPr wrap="square" lIns="0" tIns="0" rIns="0" bIns="0" rtlCol="0" anchor="ctr"/>
          <a:lstStyle/>
          <a:p>
            <a:pPr marL="0" indent="0">
              <a:buNone/>
            </a:pPr>
            <a:r>
              <a:rPr lang="en-US" sz="1000" b="1" dirty="0">
                <a:solidFill>
                  <a:srgbClr val="72D9F0"/>
                </a:solidFill>
                <a:latin typeface="Fira Code" pitchFamily="34" charset="0"/>
                <a:ea typeface="Fira Code" pitchFamily="34" charset="-122"/>
                <a:cs typeface="Fira Code" pitchFamily="34" charset="-120"/>
              </a:rPr>
              <a:t>Kernel status</a:t>
            </a:r>
            <a:r>
              <a:rPr lang="en-US" sz="1000" dirty="0">
                <a:solidFill>
                  <a:srgbClr val="E7E7E7"/>
                </a:solidFill>
                <a:latin typeface="Fira Sans" pitchFamily="34" charset="0"/>
                <a:ea typeface="Fira Sans" pitchFamily="34" charset="-122"/>
                <a:cs typeface="Fira Sans" pitchFamily="34" charset="-120"/>
              </a:rPr>
              <a:t>  idle or busy, top right</a:t>
            </a:r>
            <a:endParaRPr lang="en-US" sz="1000" dirty="0"/>
          </a:p>
        </p:txBody>
      </p:sp>
      <p:sp>
        <p:nvSpPr>
          <p:cNvPr id="14" name="Shape 12"/>
          <p:cNvSpPr/>
          <p:nvPr/>
        </p:nvSpPr>
        <p:spPr>
          <a:xfrm>
            <a:off x="5532120" y="4005072"/>
            <a:ext cx="274320" cy="0"/>
          </a:xfrm>
          <a:prstGeom prst="line">
            <a:avLst/>
          </a:prstGeom>
          <a:noFill/>
          <a:ln w="15875">
            <a:solidFill>
              <a:srgbClr val="DBA0DB"/>
            </a:solidFill>
            <a:prstDash val="solid"/>
            <a:headEnd type="triangle"/>
          </a:ln>
        </p:spPr>
      </p:sp>
      <p:sp>
        <p:nvSpPr>
          <p:cNvPr id="15" name="Text 13"/>
          <p:cNvSpPr txBox="1"/>
          <p:nvPr/>
        </p:nvSpPr>
        <p:spPr>
          <a:xfrm>
            <a:off x="5897880" y="3886200"/>
            <a:ext cx="2834640" cy="256032"/>
          </a:xfrm>
          <a:prstGeom prst="rect">
            <a:avLst/>
          </a:prstGeom>
          <a:noFill/>
          <a:ln/>
        </p:spPr>
        <p:txBody>
          <a:bodyPr wrap="square" lIns="0" tIns="0" rIns="0" bIns="0" rtlCol="0" anchor="ctr"/>
          <a:lstStyle/>
          <a:p>
            <a:pPr marL="0" indent="0">
              <a:buNone/>
            </a:pPr>
            <a:r>
              <a:rPr lang="en-US" sz="1000" b="1" dirty="0">
                <a:solidFill>
                  <a:srgbClr val="DBA0DB"/>
                </a:solidFill>
                <a:latin typeface="Fira Code" pitchFamily="34" charset="0"/>
                <a:ea typeface="Fira Code" pitchFamily="34" charset="-122"/>
                <a:cs typeface="Fira Code" pitchFamily="34" charset="-120"/>
              </a:rPr>
              <a:t>Menus</a:t>
            </a:r>
            <a:r>
              <a:rPr lang="en-US" sz="1000" dirty="0">
                <a:solidFill>
                  <a:srgbClr val="E7E7E7"/>
                </a:solidFill>
                <a:latin typeface="Fira Sans" pitchFamily="34" charset="0"/>
                <a:ea typeface="Fira Sans" pitchFamily="34" charset="-122"/>
                <a:cs typeface="Fira Sans" pitchFamily="34" charset="-120"/>
              </a:rPr>
              <a:t>  Run and Kernel hold the key commands</a:t>
            </a:r>
            <a:endParaRPr lang="en-US" sz="1000" dirty="0"/>
          </a:p>
        </p:txBody>
      </p:sp>
      <p:sp>
        <p:nvSpPr>
          <p:cNvPr id="16" name="Text 14"/>
          <p:cNvSpPr txBox="1"/>
          <p:nvPr/>
        </p:nvSpPr>
        <p:spPr>
          <a:xfrm>
            <a:off x="731520" y="4462272"/>
            <a:ext cx="8046720" cy="201168"/>
          </a:xfrm>
          <a:prstGeom prst="rect">
            <a:avLst/>
          </a:prstGeom>
          <a:noFill/>
          <a:ln/>
        </p:spPr>
        <p:txBody>
          <a:bodyPr wrap="square" lIns="0" tIns="0" rIns="0" bIns="0" rtlCol="0" anchor="ctr"/>
          <a:lstStyle/>
          <a:p>
            <a:pPr marL="0" indent="0">
              <a:buNone/>
            </a:pPr>
            <a:r>
              <a:rPr lang="en-US" sz="900" b="1" dirty="0">
                <a:solidFill>
                  <a:srgbClr val="FFFFFF"/>
                </a:solidFill>
                <a:latin typeface="Fira Sans" pitchFamily="34" charset="0"/>
                <a:ea typeface="Fira Sans" pitchFamily="34" charset="-122"/>
                <a:cs typeface="Fira Sans" pitchFamily="34" charset="-120"/>
              </a:rPr>
              <a:t>Launch it: </a:t>
            </a:r>
            <a:r>
              <a:rPr lang="en-US" sz="900" dirty="0">
                <a:solidFill>
                  <a:srgbClr val="A9AFBA"/>
                </a:solidFill>
                <a:latin typeface="Fira Sans" pitchFamily="34" charset="0"/>
                <a:ea typeface="Fira Sans" pitchFamily="34" charset="-122"/>
                <a:cs typeface="Fira Sans" pitchFamily="34" charset="-120"/>
              </a:rPr>
              <a:t>Anaconda Navigator, then JupyterLab, then Launch. It opens in your web browser.</a:t>
            </a:r>
            <a:endParaRPr lang="en-US" sz="9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11</a:t>
            </a:fld>
            <a:endParaRPr lang="en-US"/>
          </a:p>
        </p:txBody>
      </p:sp>
      <p:pic>
        <p:nvPicPr>
          <p:cNvPr id="20" name="Picture 19"/>
          <p:cNvPicPr>
            <a:picLocks noChangeAspect="1"/>
          </p:cNvPicPr>
          <p:nvPr/>
        </p:nvPicPr>
        <p:blipFill>
          <a:blip r:embed="rId3"/>
          <a:stretch>
            <a:fillRect/>
          </a:stretch>
        </p:blipFill>
        <p:spPr>
          <a:xfrm>
            <a:off x="799070" y="1792222"/>
            <a:ext cx="4641610" cy="2510030"/>
          </a:xfrm>
          <a:prstGeom prst="rect">
            <a:avLst/>
          </a:prstGeom>
        </p:spPr>
      </p:pic>
    </p:spTree>
    <p:extLst>
      <p:ext uri="{BB962C8B-B14F-4D97-AF65-F5344CB8AC3E}">
        <p14:creationId xmlns:p14="http://schemas.microsoft.com/office/powerpoint/2010/main" val="26996553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colab</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530351"/>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Google Colab: the same notebook in your browser</a:t>
            </a:r>
            <a:endParaRPr lang="en-US" sz="2200" dirty="0"/>
          </a:p>
        </p:txBody>
      </p:sp>
      <p:sp>
        <p:nvSpPr>
          <p:cNvPr id="4" name="Code panel"/>
          <p:cNvSpPr/>
          <p:nvPr/>
        </p:nvSpPr>
        <p:spPr>
          <a:xfrm>
            <a:off x="731520" y="1691640"/>
            <a:ext cx="4709160" cy="2697480"/>
          </a:xfrm>
          <a:prstGeom prst="rect">
            <a:avLst/>
          </a:prstGeom>
          <a:solidFill>
            <a:srgbClr val="16191F"/>
          </a:solidFill>
          <a:ln w="9525">
            <a:solidFill>
              <a:srgbClr val="3E434E"/>
            </a:solidFill>
            <a:prstDash val="solid"/>
          </a:ln>
        </p:spPr>
        <p:txBody>
          <a:bodyPr/>
          <a:lstStyle/>
          <a:p>
            <a:endParaRPr/>
          </a:p>
        </p:txBody>
      </p:sp>
      <p:sp>
        <p:nvSpPr>
          <p:cNvPr id="5" name="Text 3"/>
          <p:cNvSpPr txBox="1"/>
          <p:nvPr/>
        </p:nvSpPr>
        <p:spPr>
          <a:xfrm>
            <a:off x="868680" y="1874520"/>
            <a:ext cx="4526280" cy="2286000"/>
          </a:xfrm>
          <a:prstGeom prst="rect">
            <a:avLst/>
          </a:prstGeom>
          <a:noFill/>
          <a:ln/>
        </p:spPr>
        <p:txBody>
          <a:bodyPr wrap="square" lIns="0" tIns="0" rIns="0" bIns="0" rtlCol="0" anchor="ctr"/>
          <a:lstStyle/>
          <a:p>
            <a:pPr marL="0" indent="0" algn="ctr">
              <a:lnSpc>
                <a:spcPts val="2150"/>
              </a:lnSpc>
              <a:buNone/>
            </a:pPr>
            <a:r>
              <a:rPr lang="en-US" sz="950" dirty="0">
                <a:solidFill>
                  <a:srgbClr val="8B949E"/>
                </a:solidFill>
                <a:latin typeface="Fira Code" pitchFamily="34" charset="0"/>
                <a:ea typeface="Fira Code" pitchFamily="34" charset="-122"/>
                <a:cs typeface="Fira Code" pitchFamily="34" charset="-120"/>
              </a:rPr>
              <a:t>[ Screenshot: the workshop notebook open in Google Colab ]</a:t>
            </a:r>
            <a:endParaRPr lang="en-US" sz="950" dirty="0"/>
          </a:p>
        </p:txBody>
      </p:sp>
      <p:sp>
        <p:nvSpPr>
          <p:cNvPr id="6" name="Shape 4"/>
          <p:cNvSpPr/>
          <p:nvPr/>
        </p:nvSpPr>
        <p:spPr>
          <a:xfrm>
            <a:off x="5532120" y="2359152"/>
            <a:ext cx="274320" cy="0"/>
          </a:xfrm>
          <a:prstGeom prst="line">
            <a:avLst/>
          </a:prstGeom>
          <a:noFill/>
          <a:ln w="15875">
            <a:solidFill>
              <a:srgbClr val="FCC642"/>
            </a:solidFill>
            <a:prstDash val="solid"/>
            <a:headEnd type="triangle"/>
          </a:ln>
        </p:spPr>
        <p:txBody>
          <a:bodyPr/>
          <a:lstStyle/>
          <a:p>
            <a:endParaRPr/>
          </a:p>
        </p:txBody>
      </p:sp>
      <p:sp>
        <p:nvSpPr>
          <p:cNvPr id="7" name="Text 5"/>
          <p:cNvSpPr txBox="1"/>
          <p:nvPr/>
        </p:nvSpPr>
        <p:spPr>
          <a:xfrm>
            <a:off x="5897880" y="2240280"/>
            <a:ext cx="2834640" cy="256032"/>
          </a:xfrm>
          <a:prstGeom prst="rect">
            <a:avLst/>
          </a:prstGeom>
          <a:noFill/>
          <a:ln/>
        </p:spPr>
        <p:txBody>
          <a:bodyPr wrap="square" lIns="0" tIns="0" rIns="0" bIns="0" rtlCol="0" anchor="ctr"/>
          <a:lstStyle/>
          <a:p>
            <a:pPr marL="0" indent="0">
              <a:buNone/>
            </a:pPr>
            <a:r>
              <a:rPr lang="en-US" sz="1000" b="1" dirty="0">
                <a:solidFill>
                  <a:srgbClr val="FCC642"/>
                </a:solidFill>
                <a:latin typeface="Fira Code" pitchFamily="34" charset="0"/>
                <a:ea typeface="Fira Code" pitchFamily="34" charset="-122"/>
                <a:cs typeface="Fira Code" pitchFamily="34" charset="-120"/>
              </a:rPr>
              <a:t>Files</a:t>
            </a:r>
            <a:r>
              <a:rPr lang="en-US" sz="1000" dirty="0">
                <a:solidFill>
                  <a:srgbClr val="E7E7E7"/>
                </a:solidFill>
                <a:latin typeface="Fira Sans" pitchFamily="34" charset="0"/>
                <a:ea typeface="Fira Sans" pitchFamily="34" charset="-122"/>
                <a:cs typeface="Fira Sans" pitchFamily="34" charset="-120"/>
              </a:rPr>
              <a:t>  folder icon on the left</a:t>
            </a:r>
            <a:endParaRPr lang="en-US" sz="1000" dirty="0"/>
          </a:p>
        </p:txBody>
      </p:sp>
      <p:sp>
        <p:nvSpPr>
          <p:cNvPr id="8" name="Shape 6"/>
          <p:cNvSpPr/>
          <p:nvPr/>
        </p:nvSpPr>
        <p:spPr>
          <a:xfrm>
            <a:off x="5532120" y="2633472"/>
            <a:ext cx="274320" cy="0"/>
          </a:xfrm>
          <a:prstGeom prst="line">
            <a:avLst/>
          </a:prstGeom>
          <a:noFill/>
          <a:ln w="15875">
            <a:solidFill>
              <a:srgbClr val="A5CF27"/>
            </a:solidFill>
            <a:prstDash val="solid"/>
            <a:headEnd type="triangle"/>
          </a:ln>
        </p:spPr>
        <p:txBody>
          <a:bodyPr/>
          <a:lstStyle/>
          <a:p>
            <a:endParaRPr/>
          </a:p>
        </p:txBody>
      </p:sp>
      <p:sp>
        <p:nvSpPr>
          <p:cNvPr id="9" name="Text 7"/>
          <p:cNvSpPr txBox="1"/>
          <p:nvPr/>
        </p:nvSpPr>
        <p:spPr>
          <a:xfrm>
            <a:off x="5897880" y="2514600"/>
            <a:ext cx="2834640" cy="256032"/>
          </a:xfrm>
          <a:prstGeom prst="rect">
            <a:avLst/>
          </a:prstGeom>
          <a:noFill/>
          <a:ln/>
        </p:spPr>
        <p:txBody>
          <a:bodyPr wrap="square" lIns="0" tIns="0" rIns="0" bIns="0" rtlCol="0" anchor="ctr"/>
          <a:lstStyle/>
          <a:p>
            <a:pPr marL="0" indent="0">
              <a:buNone/>
            </a:pPr>
            <a:r>
              <a:rPr lang="en-US" sz="1000" b="1" dirty="0">
                <a:solidFill>
                  <a:srgbClr val="A5CF27"/>
                </a:solidFill>
                <a:latin typeface="Fira Code" pitchFamily="34" charset="0"/>
                <a:ea typeface="Fira Code" pitchFamily="34" charset="-122"/>
                <a:cs typeface="Fira Code" pitchFamily="34" charset="-120"/>
              </a:rPr>
              <a:t>Run</a:t>
            </a:r>
            <a:r>
              <a:rPr lang="en-US" sz="1000" dirty="0">
                <a:solidFill>
                  <a:srgbClr val="E7E7E7"/>
                </a:solidFill>
                <a:latin typeface="Fira Sans" pitchFamily="34" charset="0"/>
                <a:ea typeface="Fira Sans" pitchFamily="34" charset="-122"/>
                <a:cs typeface="Fira Sans" pitchFamily="34" charset="-120"/>
              </a:rPr>
              <a:t>  play button or Shift + Enter</a:t>
            </a:r>
            <a:endParaRPr lang="en-US" sz="1000" dirty="0"/>
          </a:p>
        </p:txBody>
      </p:sp>
      <p:sp>
        <p:nvSpPr>
          <p:cNvPr id="10" name="Shape 8"/>
          <p:cNvSpPr/>
          <p:nvPr/>
        </p:nvSpPr>
        <p:spPr>
          <a:xfrm>
            <a:off x="5532120" y="2907792"/>
            <a:ext cx="274320" cy="0"/>
          </a:xfrm>
          <a:prstGeom prst="line">
            <a:avLst/>
          </a:prstGeom>
          <a:noFill/>
          <a:ln w="15875">
            <a:solidFill>
              <a:srgbClr val="FF5858"/>
            </a:solidFill>
            <a:prstDash val="solid"/>
            <a:headEnd type="triangle"/>
          </a:ln>
        </p:spPr>
        <p:txBody>
          <a:bodyPr/>
          <a:lstStyle/>
          <a:p>
            <a:endParaRPr/>
          </a:p>
        </p:txBody>
      </p:sp>
      <p:sp>
        <p:nvSpPr>
          <p:cNvPr id="11" name="Text 9"/>
          <p:cNvSpPr txBox="1"/>
          <p:nvPr/>
        </p:nvSpPr>
        <p:spPr>
          <a:xfrm>
            <a:off x="5897880" y="2788920"/>
            <a:ext cx="2834640" cy="256032"/>
          </a:xfrm>
          <a:prstGeom prst="rect">
            <a:avLst/>
          </a:prstGeom>
          <a:noFill/>
          <a:ln/>
        </p:spPr>
        <p:txBody>
          <a:bodyPr wrap="square" lIns="0" tIns="0" rIns="0" bIns="0" rtlCol="0" anchor="ctr"/>
          <a:lstStyle/>
          <a:p>
            <a:pPr marL="0" indent="0">
              <a:buNone/>
            </a:pPr>
            <a:r>
              <a:rPr lang="en-US" sz="1000" b="1" dirty="0">
                <a:solidFill>
                  <a:srgbClr val="FF5858"/>
                </a:solidFill>
                <a:latin typeface="Fira Code" pitchFamily="34" charset="0"/>
                <a:ea typeface="Fira Code" pitchFamily="34" charset="-122"/>
                <a:cs typeface="Fira Code" pitchFamily="34" charset="-120"/>
              </a:rPr>
              <a:t>Runtime menu</a:t>
            </a:r>
            <a:r>
              <a:rPr lang="en-US" sz="1000" dirty="0">
                <a:solidFill>
                  <a:srgbClr val="E7E7E7"/>
                </a:solidFill>
                <a:latin typeface="Fira Sans" pitchFamily="34" charset="0"/>
                <a:ea typeface="Fira Sans" pitchFamily="34" charset="-122"/>
                <a:cs typeface="Fira Sans" pitchFamily="34" charset="-120"/>
              </a:rPr>
              <a:t>  Run all, Restart session</a:t>
            </a:r>
            <a:endParaRPr lang="en-US" sz="1000" dirty="0"/>
          </a:p>
        </p:txBody>
      </p:sp>
      <p:sp>
        <p:nvSpPr>
          <p:cNvPr id="12" name="Shape 10"/>
          <p:cNvSpPr/>
          <p:nvPr/>
        </p:nvSpPr>
        <p:spPr>
          <a:xfrm>
            <a:off x="5532120" y="3456432"/>
            <a:ext cx="274320" cy="0"/>
          </a:xfrm>
          <a:prstGeom prst="line">
            <a:avLst/>
          </a:prstGeom>
          <a:noFill/>
          <a:ln w="15875">
            <a:solidFill>
              <a:srgbClr val="72D9F0"/>
            </a:solidFill>
            <a:prstDash val="solid"/>
            <a:headEnd type="triangle"/>
          </a:ln>
        </p:spPr>
        <p:txBody>
          <a:bodyPr/>
          <a:lstStyle/>
          <a:p>
            <a:endParaRPr/>
          </a:p>
        </p:txBody>
      </p:sp>
      <p:sp>
        <p:nvSpPr>
          <p:cNvPr id="13" name="Text 11"/>
          <p:cNvSpPr txBox="1"/>
          <p:nvPr/>
        </p:nvSpPr>
        <p:spPr>
          <a:xfrm>
            <a:off x="5897880" y="3337560"/>
            <a:ext cx="2834640" cy="256032"/>
          </a:xfrm>
          <a:prstGeom prst="rect">
            <a:avLst/>
          </a:prstGeom>
          <a:noFill/>
          <a:ln/>
        </p:spPr>
        <p:txBody>
          <a:bodyPr wrap="square" lIns="0" tIns="0" rIns="0" bIns="0" rtlCol="0" anchor="ctr"/>
          <a:lstStyle/>
          <a:p>
            <a:pPr marL="0" indent="0">
              <a:buNone/>
            </a:pPr>
            <a:r>
              <a:rPr lang="en-US" sz="1000" b="1" dirty="0">
                <a:solidFill>
                  <a:srgbClr val="72D9F0"/>
                </a:solidFill>
                <a:latin typeface="Fira Code" pitchFamily="34" charset="0"/>
                <a:ea typeface="Fira Code" pitchFamily="34" charset="-122"/>
                <a:cs typeface="Fira Code" pitchFamily="34" charset="-120"/>
              </a:rPr>
              <a:t>Connect / RAM</a:t>
            </a:r>
            <a:r>
              <a:rPr lang="en-US" sz="1000" dirty="0">
                <a:solidFill>
                  <a:srgbClr val="E7E7E7"/>
                </a:solidFill>
                <a:latin typeface="Fira Sans" pitchFamily="34" charset="0"/>
                <a:ea typeface="Fira Sans" pitchFamily="34" charset="-122"/>
                <a:cs typeface="Fira Sans" pitchFamily="34" charset="-120"/>
              </a:rPr>
              <a:t>  top right; shows it is running</a:t>
            </a:r>
            <a:endParaRPr lang="en-US" sz="1000" dirty="0"/>
          </a:p>
        </p:txBody>
      </p:sp>
      <p:sp>
        <p:nvSpPr>
          <p:cNvPr id="14" name="Shape 12"/>
          <p:cNvSpPr/>
          <p:nvPr/>
        </p:nvSpPr>
        <p:spPr>
          <a:xfrm>
            <a:off x="5532120" y="4005072"/>
            <a:ext cx="274320" cy="0"/>
          </a:xfrm>
          <a:prstGeom prst="line">
            <a:avLst/>
          </a:prstGeom>
          <a:noFill/>
          <a:ln w="15875">
            <a:solidFill>
              <a:srgbClr val="DBA0DB"/>
            </a:solidFill>
            <a:prstDash val="solid"/>
            <a:headEnd type="triangle"/>
          </a:ln>
        </p:spPr>
        <p:txBody>
          <a:bodyPr/>
          <a:lstStyle/>
          <a:p>
            <a:endParaRPr/>
          </a:p>
        </p:txBody>
      </p:sp>
      <p:sp>
        <p:nvSpPr>
          <p:cNvPr id="15" name="Text 13"/>
          <p:cNvSpPr txBox="1"/>
          <p:nvPr/>
        </p:nvSpPr>
        <p:spPr>
          <a:xfrm>
            <a:off x="5897880" y="3886200"/>
            <a:ext cx="2834640" cy="256032"/>
          </a:xfrm>
          <a:prstGeom prst="rect">
            <a:avLst/>
          </a:prstGeom>
          <a:noFill/>
          <a:ln/>
        </p:spPr>
        <p:txBody>
          <a:bodyPr wrap="square" lIns="0" tIns="0" rIns="0" bIns="0" rtlCol="0" anchor="ctr"/>
          <a:lstStyle/>
          <a:p>
            <a:pPr marL="0" indent="0">
              <a:buNone/>
            </a:pPr>
            <a:r>
              <a:rPr lang="en-US" sz="1000" b="1" dirty="0">
                <a:solidFill>
                  <a:srgbClr val="DBA0DB"/>
                </a:solidFill>
                <a:latin typeface="Fira Code" pitchFamily="34" charset="0"/>
                <a:ea typeface="Fira Code" pitchFamily="34" charset="-122"/>
                <a:cs typeface="Fira Code" pitchFamily="34" charset="-120"/>
              </a:rPr>
              <a:t>Save a copy</a:t>
            </a:r>
            <a:r>
              <a:rPr lang="en-US" sz="1000" dirty="0">
                <a:solidFill>
                  <a:srgbClr val="E7E7E7"/>
                </a:solidFill>
                <a:latin typeface="Fira Sans" pitchFamily="34" charset="0"/>
                <a:ea typeface="Fira Sans" pitchFamily="34" charset="-122"/>
                <a:cs typeface="Fira Sans" pitchFamily="34" charset="-120"/>
              </a:rPr>
              <a:t>  File &gt; Save a copy in Drive</a:t>
            </a:r>
            <a:endParaRPr lang="en-US" sz="1000" dirty="0"/>
          </a:p>
        </p:txBody>
      </p:sp>
      <p:sp>
        <p:nvSpPr>
          <p:cNvPr id="16" name="Text 14"/>
          <p:cNvSpPr txBox="1"/>
          <p:nvPr/>
        </p:nvSpPr>
        <p:spPr>
          <a:xfrm>
            <a:off x="731520" y="4462272"/>
            <a:ext cx="8046720" cy="201168"/>
          </a:xfrm>
          <a:prstGeom prst="rect">
            <a:avLst/>
          </a:prstGeom>
          <a:noFill/>
          <a:ln/>
        </p:spPr>
        <p:txBody>
          <a:bodyPr wrap="square" lIns="0" tIns="0" rIns="0" bIns="0" rtlCol="0" anchor="ctr"/>
          <a:lstStyle/>
          <a:p>
            <a:pPr marL="0" indent="0">
              <a:buNone/>
            </a:pPr>
            <a:r>
              <a:rPr lang="en-US" sz="900" b="1" dirty="0">
                <a:solidFill>
                  <a:srgbClr val="FFFFFF"/>
                </a:solidFill>
                <a:latin typeface="Fira Sans" pitchFamily="34" charset="0"/>
                <a:ea typeface="Fira Sans" pitchFamily="34" charset="-122"/>
                <a:cs typeface="Fira Sans" pitchFamily="34" charset="-120"/>
              </a:rPr>
              <a:t>Open it: </a:t>
            </a:r>
            <a:r>
              <a:rPr lang="en-US" sz="900" dirty="0">
                <a:solidFill>
                  <a:srgbClr val="A9AFBA"/>
                </a:solidFill>
                <a:latin typeface="Fira Sans" pitchFamily="34" charset="0"/>
                <a:ea typeface="Fira Sans" pitchFamily="34" charset="-122"/>
                <a:cs typeface="Fira Sans" pitchFamily="34" charset="-120"/>
              </a:rPr>
              <a:t>the Open in Colab button on GitHub, or colab.research.google.com, then File &gt; Upload notebook.</a:t>
            </a:r>
            <a:endParaRPr lang="en-US" sz="9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12</a:t>
            </a:fld>
            <a:endParaRPr lang="en-US"/>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 y="1764048"/>
            <a:ext cx="4709160" cy="2581574"/>
          </a:xfrm>
          <a:prstGeom prst="rect">
            <a:avLst/>
          </a:prstGeom>
        </p:spPr>
      </p:pic>
    </p:spTree>
    <p:extLst>
      <p:ext uri="{BB962C8B-B14F-4D97-AF65-F5344CB8AC3E}">
        <p14:creationId xmlns:p14="http://schemas.microsoft.com/office/powerpoint/2010/main" val="17134984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notebook</a:t>
            </a:r>
            <a:r>
              <a:rPr lang="en-US" sz="1100" dirty="0">
                <a:solidFill>
                  <a:srgbClr val="E7E7E7"/>
                </a:solidFill>
                <a:latin typeface="Fira Code" pitchFamily="34" charset="0"/>
                <a:ea typeface="Fira Code" pitchFamily="34" charset="-122"/>
                <a:cs typeface="Fira Code" pitchFamily="34" charset="-120"/>
              </a:rPr>
              <a:t>(</a:t>
            </a:r>
            <a:r>
              <a:rPr lang="en-US" sz="1100" dirty="0">
                <a:solidFill>
                  <a:srgbClr val="FCC642"/>
                </a:solidFill>
                <a:latin typeface="Fira Code" pitchFamily="34" charset="0"/>
                <a:ea typeface="Fira Code" pitchFamily="34" charset="-122"/>
                <a:cs typeface="Fira Code" pitchFamily="34" charset="-120"/>
              </a:rPr>
              <a:t>anatomy</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530351"/>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A notebook mixes text cells and code cells</a:t>
            </a:r>
            <a:endParaRPr lang="en-US" sz="2200" dirty="0"/>
          </a:p>
        </p:txBody>
      </p:sp>
      <p:sp>
        <p:nvSpPr>
          <p:cNvPr id="4" name="Code panel"/>
          <p:cNvSpPr/>
          <p:nvPr/>
        </p:nvSpPr>
        <p:spPr>
          <a:xfrm>
            <a:off x="731520" y="1691640"/>
            <a:ext cx="4709160" cy="2697480"/>
          </a:xfrm>
          <a:prstGeom prst="rect">
            <a:avLst/>
          </a:prstGeom>
          <a:solidFill>
            <a:srgbClr val="16191F"/>
          </a:solidFill>
          <a:ln w="9525">
            <a:solidFill>
              <a:srgbClr val="3E434E"/>
            </a:solidFill>
            <a:prstDash val="solid"/>
          </a:ln>
        </p:spPr>
      </p:sp>
      <p:sp>
        <p:nvSpPr>
          <p:cNvPr id="5" name="Text 3"/>
          <p:cNvSpPr txBox="1"/>
          <p:nvPr/>
        </p:nvSpPr>
        <p:spPr>
          <a:xfrm>
            <a:off x="868680" y="1874520"/>
            <a:ext cx="4526280" cy="2286000"/>
          </a:xfrm>
          <a:prstGeom prst="rect">
            <a:avLst/>
          </a:prstGeom>
          <a:noFill/>
          <a:ln/>
        </p:spPr>
        <p:txBody>
          <a:bodyPr wrap="square" lIns="0" tIns="0" rIns="0" bIns="0" rtlCol="0" anchor="ctr"/>
          <a:lstStyle/>
          <a:p>
            <a:pPr marL="0" indent="0" algn="ctr">
              <a:lnSpc>
                <a:spcPts val="2150"/>
              </a:lnSpc>
              <a:buNone/>
            </a:pPr>
            <a:r>
              <a:rPr lang="en-US" sz="950" dirty="0">
                <a:solidFill>
                  <a:srgbClr val="8B949E"/>
                </a:solidFill>
                <a:latin typeface="Fira Code" pitchFamily="34" charset="0"/>
                <a:ea typeface="Fira Code" pitchFamily="34" charset="-122"/>
                <a:cs typeface="Fira Code" pitchFamily="34" charset="-120"/>
              </a:rPr>
              <a:t>[ Screenshot: the workshop notebook showing a text cell, a code cell and its output ]</a:t>
            </a:r>
            <a:endParaRPr lang="en-US" sz="950" dirty="0"/>
          </a:p>
        </p:txBody>
      </p:sp>
      <p:sp>
        <p:nvSpPr>
          <p:cNvPr id="6" name="Shape 4"/>
          <p:cNvSpPr/>
          <p:nvPr/>
        </p:nvSpPr>
        <p:spPr>
          <a:xfrm>
            <a:off x="5532120" y="2359152"/>
            <a:ext cx="274320" cy="0"/>
          </a:xfrm>
          <a:prstGeom prst="line">
            <a:avLst/>
          </a:prstGeom>
          <a:noFill/>
          <a:ln w="15875">
            <a:solidFill>
              <a:srgbClr val="FCC642"/>
            </a:solidFill>
            <a:prstDash val="solid"/>
            <a:headEnd type="triangle"/>
          </a:ln>
        </p:spPr>
      </p:sp>
      <p:sp>
        <p:nvSpPr>
          <p:cNvPr id="7" name="Text 5"/>
          <p:cNvSpPr txBox="1"/>
          <p:nvPr/>
        </p:nvSpPr>
        <p:spPr>
          <a:xfrm>
            <a:off x="5897880" y="2240280"/>
            <a:ext cx="2834640" cy="256032"/>
          </a:xfrm>
          <a:prstGeom prst="rect">
            <a:avLst/>
          </a:prstGeom>
          <a:noFill/>
          <a:ln/>
        </p:spPr>
        <p:txBody>
          <a:bodyPr wrap="square" lIns="0" tIns="0" rIns="0" bIns="0" rtlCol="0" anchor="ctr"/>
          <a:lstStyle/>
          <a:p>
            <a:pPr marL="0" indent="0">
              <a:buNone/>
            </a:pPr>
            <a:r>
              <a:rPr lang="en-US" sz="1000" b="1" dirty="0">
                <a:solidFill>
                  <a:srgbClr val="FCC642"/>
                </a:solidFill>
                <a:latin typeface="Fira Code" pitchFamily="34" charset="0"/>
                <a:ea typeface="Fira Code" pitchFamily="34" charset="-122"/>
                <a:cs typeface="Fira Code" pitchFamily="34" charset="-120"/>
              </a:rPr>
              <a:t>Text cell</a:t>
            </a:r>
            <a:r>
              <a:rPr lang="en-US" sz="1000" dirty="0">
                <a:solidFill>
                  <a:srgbClr val="E7E7E7"/>
                </a:solidFill>
                <a:latin typeface="Fira Sans" pitchFamily="34" charset="0"/>
                <a:ea typeface="Fira Sans" pitchFamily="34" charset="-122"/>
                <a:cs typeface="Fira Sans" pitchFamily="34" charset="-120"/>
              </a:rPr>
              <a:t>  explanation; read it first</a:t>
            </a:r>
            <a:endParaRPr lang="en-US" sz="1000" dirty="0"/>
          </a:p>
        </p:txBody>
      </p:sp>
      <p:sp>
        <p:nvSpPr>
          <p:cNvPr id="8" name="Shape 6"/>
          <p:cNvSpPr/>
          <p:nvPr/>
        </p:nvSpPr>
        <p:spPr>
          <a:xfrm>
            <a:off x="5532120" y="2633472"/>
            <a:ext cx="274320" cy="0"/>
          </a:xfrm>
          <a:prstGeom prst="line">
            <a:avLst/>
          </a:prstGeom>
          <a:noFill/>
          <a:ln w="15875">
            <a:solidFill>
              <a:srgbClr val="A5CF27"/>
            </a:solidFill>
            <a:prstDash val="solid"/>
            <a:headEnd type="triangle"/>
          </a:ln>
        </p:spPr>
      </p:sp>
      <p:sp>
        <p:nvSpPr>
          <p:cNvPr id="9" name="Text 7"/>
          <p:cNvSpPr txBox="1"/>
          <p:nvPr/>
        </p:nvSpPr>
        <p:spPr>
          <a:xfrm>
            <a:off x="5897880" y="2514600"/>
            <a:ext cx="2834640" cy="256032"/>
          </a:xfrm>
          <a:prstGeom prst="rect">
            <a:avLst/>
          </a:prstGeom>
          <a:noFill/>
          <a:ln/>
        </p:spPr>
        <p:txBody>
          <a:bodyPr wrap="square" lIns="0" tIns="0" rIns="0" bIns="0" rtlCol="0" anchor="ctr"/>
          <a:lstStyle/>
          <a:p>
            <a:pPr marL="0" indent="0">
              <a:buNone/>
            </a:pPr>
            <a:r>
              <a:rPr lang="en-US" sz="1000" b="1" dirty="0">
                <a:solidFill>
                  <a:srgbClr val="A5CF27"/>
                </a:solidFill>
                <a:latin typeface="Fira Code" pitchFamily="34" charset="0"/>
                <a:ea typeface="Fira Code" pitchFamily="34" charset="-122"/>
                <a:cs typeface="Fira Code" pitchFamily="34" charset="-120"/>
              </a:rPr>
              <a:t>Code cell</a:t>
            </a:r>
            <a:r>
              <a:rPr lang="en-US" sz="1000" dirty="0">
                <a:solidFill>
                  <a:srgbClr val="E7E7E7"/>
                </a:solidFill>
                <a:latin typeface="Fira Sans" pitchFamily="34" charset="0"/>
                <a:ea typeface="Fira Sans" pitchFamily="34" charset="-122"/>
                <a:cs typeface="Fira Sans" pitchFamily="34" charset="-120"/>
              </a:rPr>
              <a:t>  grey box; Shift + Enter runs it</a:t>
            </a:r>
            <a:endParaRPr lang="en-US" sz="1000" dirty="0"/>
          </a:p>
        </p:txBody>
      </p:sp>
      <p:sp>
        <p:nvSpPr>
          <p:cNvPr id="10" name="Shape 8"/>
          <p:cNvSpPr/>
          <p:nvPr/>
        </p:nvSpPr>
        <p:spPr>
          <a:xfrm>
            <a:off x="5532120" y="2907792"/>
            <a:ext cx="274320" cy="0"/>
          </a:xfrm>
          <a:prstGeom prst="line">
            <a:avLst/>
          </a:prstGeom>
          <a:noFill/>
          <a:ln w="15875">
            <a:solidFill>
              <a:srgbClr val="FF5858"/>
            </a:solidFill>
            <a:prstDash val="solid"/>
            <a:headEnd type="triangle"/>
          </a:ln>
        </p:spPr>
      </p:sp>
      <p:sp>
        <p:nvSpPr>
          <p:cNvPr id="11" name="Text 9"/>
          <p:cNvSpPr txBox="1"/>
          <p:nvPr/>
        </p:nvSpPr>
        <p:spPr>
          <a:xfrm>
            <a:off x="5897880" y="2788920"/>
            <a:ext cx="2834640" cy="256032"/>
          </a:xfrm>
          <a:prstGeom prst="rect">
            <a:avLst/>
          </a:prstGeom>
          <a:noFill/>
          <a:ln/>
        </p:spPr>
        <p:txBody>
          <a:bodyPr wrap="square" lIns="0" tIns="0" rIns="0" bIns="0" rtlCol="0" anchor="ctr"/>
          <a:lstStyle/>
          <a:p>
            <a:pPr marL="0" indent="0">
              <a:buNone/>
            </a:pPr>
            <a:r>
              <a:rPr lang="en-US" sz="1000" b="1" dirty="0">
                <a:solidFill>
                  <a:srgbClr val="FF5858"/>
                </a:solidFill>
                <a:latin typeface="Fira Code" pitchFamily="34" charset="0"/>
                <a:ea typeface="Fira Code" pitchFamily="34" charset="-122"/>
                <a:cs typeface="Fira Code" pitchFamily="34" charset="-120"/>
              </a:rPr>
              <a:t>[*] then [12]</a:t>
            </a:r>
            <a:r>
              <a:rPr lang="en-US" sz="1000" dirty="0">
                <a:solidFill>
                  <a:srgbClr val="E7E7E7"/>
                </a:solidFill>
                <a:latin typeface="Fira Sans" pitchFamily="34" charset="0"/>
                <a:ea typeface="Fira Sans" pitchFamily="34" charset="-122"/>
                <a:cs typeface="Fira Sans" pitchFamily="34" charset="-120"/>
              </a:rPr>
              <a:t>  running, then finished</a:t>
            </a:r>
            <a:endParaRPr lang="en-US" sz="1000" dirty="0"/>
          </a:p>
        </p:txBody>
      </p:sp>
      <p:sp>
        <p:nvSpPr>
          <p:cNvPr id="12" name="Shape 10"/>
          <p:cNvSpPr/>
          <p:nvPr/>
        </p:nvSpPr>
        <p:spPr>
          <a:xfrm>
            <a:off x="5532120" y="3456432"/>
            <a:ext cx="274320" cy="0"/>
          </a:xfrm>
          <a:prstGeom prst="line">
            <a:avLst/>
          </a:prstGeom>
          <a:noFill/>
          <a:ln w="15875">
            <a:solidFill>
              <a:srgbClr val="72D9F0"/>
            </a:solidFill>
            <a:prstDash val="solid"/>
            <a:headEnd type="triangle"/>
          </a:ln>
        </p:spPr>
      </p:sp>
      <p:sp>
        <p:nvSpPr>
          <p:cNvPr id="13" name="Text 11"/>
          <p:cNvSpPr txBox="1"/>
          <p:nvPr/>
        </p:nvSpPr>
        <p:spPr>
          <a:xfrm>
            <a:off x="5897880" y="3337560"/>
            <a:ext cx="2834640" cy="256032"/>
          </a:xfrm>
          <a:prstGeom prst="rect">
            <a:avLst/>
          </a:prstGeom>
          <a:noFill/>
          <a:ln/>
        </p:spPr>
        <p:txBody>
          <a:bodyPr wrap="square" lIns="0" tIns="0" rIns="0" bIns="0" rtlCol="0" anchor="ctr"/>
          <a:lstStyle/>
          <a:p>
            <a:pPr marL="0" indent="0">
              <a:buNone/>
            </a:pPr>
            <a:r>
              <a:rPr lang="en-US" sz="1000" b="1" dirty="0">
                <a:solidFill>
                  <a:srgbClr val="72D9F0"/>
                </a:solidFill>
                <a:latin typeface="Fira Code" pitchFamily="34" charset="0"/>
                <a:ea typeface="Fira Code" pitchFamily="34" charset="-122"/>
                <a:cs typeface="Fira Code" pitchFamily="34" charset="-120"/>
              </a:rPr>
              <a:t>Output</a:t>
            </a:r>
            <a:r>
              <a:rPr lang="en-US" sz="1000" dirty="0">
                <a:solidFill>
                  <a:srgbClr val="E7E7E7"/>
                </a:solidFill>
                <a:latin typeface="Fira Sans" pitchFamily="34" charset="0"/>
                <a:ea typeface="Fira Sans" pitchFamily="34" charset="-122"/>
                <a:cs typeface="Fira Sans" pitchFamily="34" charset="-120"/>
              </a:rPr>
              <a:t>  tables and figures appear below</a:t>
            </a:r>
            <a:endParaRPr lang="en-US" sz="1000" dirty="0"/>
          </a:p>
        </p:txBody>
      </p:sp>
      <p:sp>
        <p:nvSpPr>
          <p:cNvPr id="14" name="Shape 12"/>
          <p:cNvSpPr/>
          <p:nvPr/>
        </p:nvSpPr>
        <p:spPr>
          <a:xfrm>
            <a:off x="5532120" y="4005072"/>
            <a:ext cx="274320" cy="0"/>
          </a:xfrm>
          <a:prstGeom prst="line">
            <a:avLst/>
          </a:prstGeom>
          <a:noFill/>
          <a:ln w="15875">
            <a:solidFill>
              <a:srgbClr val="DBA0DB"/>
            </a:solidFill>
            <a:prstDash val="solid"/>
            <a:headEnd type="triangle"/>
          </a:ln>
        </p:spPr>
      </p:sp>
      <p:sp>
        <p:nvSpPr>
          <p:cNvPr id="15" name="Text 13"/>
          <p:cNvSpPr txBox="1"/>
          <p:nvPr/>
        </p:nvSpPr>
        <p:spPr>
          <a:xfrm>
            <a:off x="5897880" y="3886200"/>
            <a:ext cx="2834640" cy="256032"/>
          </a:xfrm>
          <a:prstGeom prst="rect">
            <a:avLst/>
          </a:prstGeom>
          <a:noFill/>
          <a:ln/>
        </p:spPr>
        <p:txBody>
          <a:bodyPr wrap="square" lIns="0" tIns="0" rIns="0" bIns="0" rtlCol="0" anchor="ctr"/>
          <a:lstStyle/>
          <a:p>
            <a:pPr marL="0" indent="0">
              <a:buNone/>
            </a:pPr>
            <a:r>
              <a:rPr lang="en-US" sz="1000" b="1" dirty="0">
                <a:solidFill>
                  <a:srgbClr val="DBA0DB"/>
                </a:solidFill>
                <a:latin typeface="Fira Code" pitchFamily="34" charset="0"/>
                <a:ea typeface="Fira Code" pitchFamily="34" charset="-122"/>
                <a:cs typeface="Fira Code" pitchFamily="34" charset="-120"/>
              </a:rPr>
              <a:t>Restart</a:t>
            </a:r>
            <a:r>
              <a:rPr lang="en-US" sz="1000" dirty="0">
                <a:solidFill>
                  <a:srgbClr val="E7E7E7"/>
                </a:solidFill>
                <a:latin typeface="Fira Sans" pitchFamily="34" charset="0"/>
                <a:ea typeface="Fira Sans" pitchFamily="34" charset="-122"/>
                <a:cs typeface="Fira Sans" pitchFamily="34" charset="-120"/>
              </a:rPr>
              <a:t>  Kernel &gt; Restart and Run All</a:t>
            </a:r>
            <a:endParaRPr lang="en-US" sz="1000" dirty="0"/>
          </a:p>
        </p:txBody>
      </p:sp>
      <p:sp>
        <p:nvSpPr>
          <p:cNvPr id="16" name="Text 14"/>
          <p:cNvSpPr txBox="1"/>
          <p:nvPr/>
        </p:nvSpPr>
        <p:spPr>
          <a:xfrm>
            <a:off x="731520" y="4462272"/>
            <a:ext cx="8046720" cy="201168"/>
          </a:xfrm>
          <a:prstGeom prst="rect">
            <a:avLst/>
          </a:prstGeom>
          <a:noFill/>
          <a:ln/>
        </p:spPr>
        <p:txBody>
          <a:bodyPr wrap="square" lIns="0" tIns="0" rIns="0" bIns="0" rtlCol="0" anchor="ctr"/>
          <a:lstStyle/>
          <a:p>
            <a:pPr marL="0" indent="0">
              <a:buNone/>
            </a:pPr>
            <a:r>
              <a:rPr lang="en-US" sz="900" b="1" dirty="0">
                <a:solidFill>
                  <a:srgbClr val="FFFFFF"/>
                </a:solidFill>
                <a:latin typeface="Fira Sans" pitchFamily="34" charset="0"/>
                <a:ea typeface="Fira Sans" pitchFamily="34" charset="-122"/>
                <a:cs typeface="Fira Sans" pitchFamily="34" charset="-120"/>
              </a:rPr>
              <a:t>Run order matters: </a:t>
            </a:r>
            <a:r>
              <a:rPr lang="en-US" sz="900" dirty="0">
                <a:solidFill>
                  <a:srgbClr val="A9AFBA"/>
                </a:solidFill>
                <a:latin typeface="Fira Sans" pitchFamily="34" charset="0"/>
                <a:ea typeface="Fira Sans" pitchFamily="34" charset="-122"/>
                <a:cs typeface="Fira Sans" pitchFamily="34" charset="-120"/>
              </a:rPr>
              <a:t>a cell can only use what earlier cells have created. If in doubt, restart and run all.</a:t>
            </a:r>
            <a:endParaRPr lang="en-US" sz="9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13</a:t>
            </a:fld>
            <a:endParaRPr lang="en-US"/>
          </a:p>
        </p:txBody>
      </p:sp>
      <p:pic>
        <p:nvPicPr>
          <p:cNvPr id="17" name="Picture 16"/>
          <p:cNvPicPr>
            <a:picLocks noChangeAspect="1"/>
          </p:cNvPicPr>
          <p:nvPr/>
        </p:nvPicPr>
        <p:blipFill>
          <a:blip r:embed="rId3"/>
          <a:stretch>
            <a:fillRect/>
          </a:stretch>
        </p:blipFill>
        <p:spPr>
          <a:xfrm>
            <a:off x="731520" y="1691640"/>
            <a:ext cx="4709160" cy="2691682"/>
          </a:xfrm>
          <a:prstGeom prst="rect">
            <a:avLst/>
          </a:prstGeom>
        </p:spPr>
      </p:pic>
    </p:spTree>
    <p:extLst>
      <p:ext uri="{BB962C8B-B14F-4D97-AF65-F5344CB8AC3E}">
        <p14:creationId xmlns:p14="http://schemas.microsoft.com/office/powerpoint/2010/main" val="539798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basics</a:t>
            </a:r>
            <a:r>
              <a:rPr lang="en-US" sz="1100" dirty="0">
                <a:solidFill>
                  <a:srgbClr val="E7E7E7"/>
                </a:solidFill>
                <a:latin typeface="Fira Code" pitchFamily="34" charset="0"/>
                <a:ea typeface="Fira Code" pitchFamily="34" charset="-122"/>
                <a:cs typeface="Fira Code" pitchFamily="34" charset="-120"/>
              </a:rPr>
              <a:t>(</a:t>
            </a:r>
            <a:r>
              <a:rPr lang="en-US" sz="1100" dirty="0">
                <a:solidFill>
                  <a:srgbClr val="FCC642"/>
                </a:solidFill>
                <a:latin typeface="Fira Code" pitchFamily="34" charset="0"/>
                <a:ea typeface="Fira Code" pitchFamily="34" charset="-122"/>
                <a:cs typeface="Fira Code" pitchFamily="34" charset="-120"/>
              </a:rPr>
              <a:t>python</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530351"/>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Five pieces of Python are all you need for Task 1</a:t>
            </a:r>
            <a:endParaRPr lang="en-US" sz="2200" dirty="0"/>
          </a:p>
        </p:txBody>
      </p:sp>
      <p:sp>
        <p:nvSpPr>
          <p:cNvPr id="4" name="Code panel"/>
          <p:cNvSpPr/>
          <p:nvPr/>
        </p:nvSpPr>
        <p:spPr>
          <a:xfrm>
            <a:off x="731520" y="1691640"/>
            <a:ext cx="4709160" cy="2697480"/>
          </a:xfrm>
          <a:prstGeom prst="rect">
            <a:avLst/>
          </a:prstGeom>
          <a:solidFill>
            <a:srgbClr val="16191F"/>
          </a:solidFill>
          <a:ln w="9525">
            <a:solidFill>
              <a:srgbClr val="3E434E"/>
            </a:solidFill>
            <a:prstDash val="solid"/>
          </a:ln>
        </p:spPr>
      </p:sp>
      <p:sp>
        <p:nvSpPr>
          <p:cNvPr id="5" name="Text 3"/>
          <p:cNvSpPr txBox="1"/>
          <p:nvPr/>
        </p:nvSpPr>
        <p:spPr>
          <a:xfrm>
            <a:off x="868680" y="1874520"/>
            <a:ext cx="4526280" cy="2286000"/>
          </a:xfrm>
          <a:prstGeom prst="rect">
            <a:avLst/>
          </a:prstGeom>
          <a:noFill/>
          <a:ln/>
        </p:spPr>
        <p:txBody>
          <a:bodyPr wrap="square" lIns="0" tIns="0" rIns="0" bIns="0" rtlCol="0" anchor="t"/>
          <a:lstStyle/>
          <a:p>
            <a:pPr marL="0" indent="0">
              <a:lnSpc>
                <a:spcPts val="2150"/>
              </a:lnSpc>
              <a:buNone/>
            </a:pPr>
            <a:r>
              <a:rPr lang="en-US" sz="950" dirty="0">
                <a:solidFill>
                  <a:srgbClr val="FF5858"/>
                </a:solidFill>
                <a:latin typeface="Fira Code" pitchFamily="34" charset="0"/>
                <a:ea typeface="Fira Code" pitchFamily="34" charset="-122"/>
                <a:cs typeface="Fira Code" pitchFamily="34" charset="-120"/>
              </a:rPr>
              <a:t>import</a:t>
            </a:r>
            <a:r>
              <a:rPr lang="en-US" sz="950" dirty="0">
                <a:solidFill>
                  <a:srgbClr val="E7E7E7"/>
                </a:solidFill>
                <a:latin typeface="Fira Code" pitchFamily="34" charset="0"/>
                <a:ea typeface="Fira Code" pitchFamily="34" charset="-122"/>
                <a:cs typeface="Fira Code" pitchFamily="34" charset="-120"/>
              </a:rPr>
              <a:t> pandas </a:t>
            </a:r>
            <a:r>
              <a:rPr lang="en-US" sz="950" dirty="0">
                <a:solidFill>
                  <a:srgbClr val="FF5858"/>
                </a:solidFill>
                <a:latin typeface="Fira Code" pitchFamily="34" charset="0"/>
                <a:ea typeface="Fira Code" pitchFamily="34" charset="-122"/>
                <a:cs typeface="Fira Code" pitchFamily="34" charset="-120"/>
              </a:rPr>
              <a:t>as</a:t>
            </a:r>
            <a:r>
              <a:rPr lang="en-US" sz="950" dirty="0">
                <a:solidFill>
                  <a:srgbClr val="E7E7E7"/>
                </a:solidFill>
                <a:latin typeface="Fira Code" pitchFamily="34" charset="0"/>
                <a:ea typeface="Fira Code" pitchFamily="34" charset="-122"/>
                <a:cs typeface="Fira Code" pitchFamily="34" charset="-120"/>
              </a:rPr>
              <a:t> pd</a:t>
            </a:r>
            <a:endParaRPr lang="en-US" sz="950" dirty="0"/>
          </a:p>
          <a:p>
            <a:pPr marL="0" indent="0">
              <a:lnSpc>
                <a:spcPts val="2150"/>
              </a:lnSpc>
              <a:buNone/>
            </a:pPr>
            <a:r>
              <a:rPr lang="en-US" sz="950" dirty="0">
                <a:solidFill>
                  <a:srgbClr val="E7E7E7"/>
                </a:solidFill>
                <a:latin typeface="Fira Code" pitchFamily="34" charset="0"/>
                <a:ea typeface="Fira Code" pitchFamily="34" charset="-122"/>
                <a:cs typeface="Fira Code" pitchFamily="34" charset="-120"/>
              </a:rPr>
              <a:t>df = pd.</a:t>
            </a:r>
            <a:r>
              <a:rPr lang="en-US" sz="950" dirty="0">
                <a:solidFill>
                  <a:srgbClr val="72D9F0"/>
                </a:solidFill>
                <a:latin typeface="Fira Code" pitchFamily="34" charset="0"/>
                <a:ea typeface="Fira Code" pitchFamily="34" charset="-122"/>
                <a:cs typeface="Fira Code" pitchFamily="34" charset="-120"/>
              </a:rPr>
              <a:t>read_csv</a:t>
            </a:r>
            <a:r>
              <a:rPr lang="en-US" sz="950" dirty="0">
                <a:solidFill>
                  <a:srgbClr val="E7E7E7"/>
                </a:solidFill>
                <a:latin typeface="Fira Code" pitchFamily="34" charset="0"/>
                <a:ea typeface="Fira Code" pitchFamily="34" charset="-122"/>
                <a:cs typeface="Fira Code" pitchFamily="34" charset="-120"/>
              </a:rPr>
              <a:t>(</a:t>
            </a:r>
            <a:r>
              <a:rPr lang="en-US" sz="950" dirty="0">
                <a:solidFill>
                  <a:srgbClr val="FCC642"/>
                </a:solidFill>
                <a:latin typeface="Fira Code" pitchFamily="34" charset="0"/>
                <a:ea typeface="Fira Code" pitchFamily="34" charset="-122"/>
                <a:cs typeface="Fira Code" pitchFamily="34" charset="-120"/>
              </a:rPr>
              <a:t>"data/home.csv"</a:t>
            </a:r>
            <a:r>
              <a:rPr lang="en-US" sz="950" dirty="0">
                <a:solidFill>
                  <a:srgbClr val="E7E7E7"/>
                </a:solidFill>
                <a:latin typeface="Fira Code" pitchFamily="34" charset="0"/>
                <a:ea typeface="Fira Code" pitchFamily="34" charset="-122"/>
                <a:cs typeface="Fira Code" pitchFamily="34" charset="-120"/>
              </a:rPr>
              <a:t>)</a:t>
            </a:r>
            <a:endParaRPr lang="en-US" sz="950" dirty="0"/>
          </a:p>
          <a:p>
            <a:pPr marL="0" indent="0">
              <a:lnSpc>
                <a:spcPts val="2150"/>
              </a:lnSpc>
              <a:buNone/>
            </a:pPr>
            <a:r>
              <a:rPr lang="en-US" sz="950" dirty="0">
                <a:solidFill>
                  <a:srgbClr val="E7E7E7"/>
                </a:solidFill>
                <a:latin typeface="Fira Code" pitchFamily="34" charset="0"/>
                <a:ea typeface="Fira Code" pitchFamily="34" charset="-122"/>
                <a:cs typeface="Fira Code" pitchFamily="34" charset="-120"/>
              </a:rPr>
              <a:t>total_import = </a:t>
            </a:r>
            <a:r>
              <a:rPr lang="en-US" sz="950" dirty="0">
                <a:solidFill>
                  <a:srgbClr val="A5CF27"/>
                </a:solidFill>
                <a:latin typeface="Fira Code" pitchFamily="34" charset="0"/>
                <a:ea typeface="Fira Code" pitchFamily="34" charset="-122"/>
                <a:cs typeface="Fira Code" pitchFamily="34" charset="-120"/>
              </a:rPr>
              <a:t>0.0</a:t>
            </a:r>
            <a:endParaRPr lang="en-US" sz="950" dirty="0"/>
          </a:p>
          <a:p>
            <a:pPr marL="0" indent="0">
              <a:lnSpc>
                <a:spcPts val="2150"/>
              </a:lnSpc>
              <a:buNone/>
            </a:pPr>
            <a:r>
              <a:rPr lang="en-US" sz="950" dirty="0">
                <a:solidFill>
                  <a:srgbClr val="FF5858"/>
                </a:solidFill>
                <a:latin typeface="Fira Code" pitchFamily="34" charset="0"/>
                <a:ea typeface="Fira Code" pitchFamily="34" charset="-122"/>
                <a:cs typeface="Fira Code" pitchFamily="34" charset="-120"/>
              </a:rPr>
              <a:t>for</a:t>
            </a:r>
            <a:r>
              <a:rPr lang="en-US" sz="950" dirty="0">
                <a:solidFill>
                  <a:srgbClr val="E7E7E7"/>
                </a:solidFill>
                <a:latin typeface="Fira Code" pitchFamily="34" charset="0"/>
                <a:ea typeface="Fira Code" pitchFamily="34" charset="-122"/>
                <a:cs typeface="Fira Code" pitchFamily="34" charset="-120"/>
              </a:rPr>
              <a:t> t </a:t>
            </a:r>
            <a:r>
              <a:rPr lang="en-US" sz="950" dirty="0">
                <a:solidFill>
                  <a:srgbClr val="FF5858"/>
                </a:solidFill>
                <a:latin typeface="Fira Code" pitchFamily="34" charset="0"/>
                <a:ea typeface="Fira Code" pitchFamily="34" charset="-122"/>
                <a:cs typeface="Fira Code" pitchFamily="34" charset="-120"/>
              </a:rPr>
              <a:t>in</a:t>
            </a:r>
            <a:r>
              <a:rPr lang="en-US" sz="950" dirty="0">
                <a:solidFill>
                  <a:srgbClr val="E7E7E7"/>
                </a:solidFill>
                <a:latin typeface="Fira Code" pitchFamily="34" charset="0"/>
                <a:ea typeface="Fira Code" pitchFamily="34" charset="-122"/>
                <a:cs typeface="Fira Code" pitchFamily="34" charset="-120"/>
              </a:rPr>
              <a:t> </a:t>
            </a:r>
            <a:r>
              <a:rPr lang="en-US" sz="950" dirty="0">
                <a:solidFill>
                  <a:srgbClr val="72D9F0"/>
                </a:solidFill>
                <a:latin typeface="Fira Code" pitchFamily="34" charset="0"/>
                <a:ea typeface="Fira Code" pitchFamily="34" charset="-122"/>
                <a:cs typeface="Fira Code" pitchFamily="34" charset="-120"/>
              </a:rPr>
              <a:t>range</a:t>
            </a:r>
            <a:r>
              <a:rPr lang="en-US" sz="950" dirty="0">
                <a:solidFill>
                  <a:srgbClr val="E7E7E7"/>
                </a:solidFill>
                <a:latin typeface="Fira Code" pitchFamily="34" charset="0"/>
                <a:ea typeface="Fira Code" pitchFamily="34" charset="-122"/>
                <a:cs typeface="Fira Code" pitchFamily="34" charset="-120"/>
              </a:rPr>
              <a:t>(</a:t>
            </a:r>
            <a:r>
              <a:rPr lang="en-US" sz="950" dirty="0">
                <a:solidFill>
                  <a:srgbClr val="72D9F0"/>
                </a:solidFill>
                <a:latin typeface="Fira Code" pitchFamily="34" charset="0"/>
                <a:ea typeface="Fira Code" pitchFamily="34" charset="-122"/>
                <a:cs typeface="Fira Code" pitchFamily="34" charset="-120"/>
              </a:rPr>
              <a:t>len</a:t>
            </a:r>
            <a:r>
              <a:rPr lang="en-US" sz="950" dirty="0">
                <a:solidFill>
                  <a:srgbClr val="E7E7E7"/>
                </a:solidFill>
                <a:latin typeface="Fira Code" pitchFamily="34" charset="0"/>
                <a:ea typeface="Fira Code" pitchFamily="34" charset="-122"/>
                <a:cs typeface="Fira Code" pitchFamily="34" charset="-120"/>
              </a:rPr>
              <a:t>(df)):</a:t>
            </a:r>
            <a:endParaRPr lang="en-US" sz="950" dirty="0"/>
          </a:p>
          <a:p>
            <a:pPr marL="0" indent="0">
              <a:lnSpc>
                <a:spcPts val="2150"/>
              </a:lnSpc>
              <a:buNone/>
            </a:pPr>
            <a:r>
              <a:rPr lang="en-US" sz="950" dirty="0">
                <a:solidFill>
                  <a:srgbClr val="E7E7E7"/>
                </a:solidFill>
                <a:latin typeface="Fira Code" pitchFamily="34" charset="0"/>
                <a:ea typeface="Fira Code" pitchFamily="34" charset="-122"/>
                <a:cs typeface="Fira Code" pitchFamily="34" charset="-120"/>
              </a:rPr>
              <a:t>    net = df[</a:t>
            </a:r>
            <a:r>
              <a:rPr lang="en-US" sz="950" dirty="0">
                <a:solidFill>
                  <a:srgbClr val="FCC642"/>
                </a:solidFill>
                <a:latin typeface="Fira Code" pitchFamily="34" charset="0"/>
                <a:ea typeface="Fira Code" pitchFamily="34" charset="-122"/>
                <a:cs typeface="Fira Code" pitchFamily="34" charset="-120"/>
              </a:rPr>
              <a:t>"pv_kwh"</a:t>
            </a:r>
            <a:r>
              <a:rPr lang="en-US" sz="950" dirty="0">
                <a:solidFill>
                  <a:srgbClr val="E7E7E7"/>
                </a:solidFill>
                <a:latin typeface="Fira Code" pitchFamily="34" charset="0"/>
                <a:ea typeface="Fira Code" pitchFamily="34" charset="-122"/>
                <a:cs typeface="Fira Code" pitchFamily="34" charset="-120"/>
              </a:rPr>
              <a:t>][t] - df[</a:t>
            </a:r>
            <a:r>
              <a:rPr lang="en-US" sz="950" dirty="0">
                <a:solidFill>
                  <a:srgbClr val="FCC642"/>
                </a:solidFill>
                <a:latin typeface="Fira Code" pitchFamily="34" charset="0"/>
                <a:ea typeface="Fira Code" pitchFamily="34" charset="-122"/>
                <a:cs typeface="Fira Code" pitchFamily="34" charset="-120"/>
              </a:rPr>
              <a:t>"demand_kwh"</a:t>
            </a:r>
            <a:r>
              <a:rPr lang="en-US" sz="950" dirty="0">
                <a:solidFill>
                  <a:srgbClr val="E7E7E7"/>
                </a:solidFill>
                <a:latin typeface="Fira Code" pitchFamily="34" charset="0"/>
                <a:ea typeface="Fira Code" pitchFamily="34" charset="-122"/>
                <a:cs typeface="Fira Code" pitchFamily="34" charset="-120"/>
              </a:rPr>
              <a:t>][t]</a:t>
            </a:r>
            <a:endParaRPr lang="en-US" sz="950" dirty="0"/>
          </a:p>
          <a:p>
            <a:pPr marL="0" indent="0">
              <a:lnSpc>
                <a:spcPts val="2150"/>
              </a:lnSpc>
              <a:buNone/>
            </a:pPr>
            <a:r>
              <a:rPr lang="en-US" sz="950" dirty="0">
                <a:solidFill>
                  <a:srgbClr val="E7E7E7"/>
                </a:solidFill>
                <a:latin typeface="Fira Code" pitchFamily="34" charset="0"/>
                <a:ea typeface="Fira Code" pitchFamily="34" charset="-122"/>
                <a:cs typeface="Fira Code" pitchFamily="34" charset="-120"/>
              </a:rPr>
              <a:t>    </a:t>
            </a:r>
            <a:r>
              <a:rPr lang="en-US" sz="950" dirty="0">
                <a:solidFill>
                  <a:srgbClr val="FF5858"/>
                </a:solidFill>
                <a:latin typeface="Fira Code" pitchFamily="34" charset="0"/>
                <a:ea typeface="Fira Code" pitchFamily="34" charset="-122"/>
                <a:cs typeface="Fira Code" pitchFamily="34" charset="-120"/>
              </a:rPr>
              <a:t>if</a:t>
            </a:r>
            <a:r>
              <a:rPr lang="en-US" sz="950" dirty="0">
                <a:solidFill>
                  <a:srgbClr val="E7E7E7"/>
                </a:solidFill>
                <a:latin typeface="Fira Code" pitchFamily="34" charset="0"/>
                <a:ea typeface="Fira Code" pitchFamily="34" charset="-122"/>
                <a:cs typeface="Fira Code" pitchFamily="34" charset="-120"/>
              </a:rPr>
              <a:t> net &lt; </a:t>
            </a:r>
            <a:r>
              <a:rPr lang="en-US" sz="950" dirty="0">
                <a:solidFill>
                  <a:srgbClr val="A5CF27"/>
                </a:solidFill>
                <a:latin typeface="Fira Code" pitchFamily="34" charset="0"/>
                <a:ea typeface="Fira Code" pitchFamily="34" charset="-122"/>
                <a:cs typeface="Fira Code" pitchFamily="34" charset="-120"/>
              </a:rPr>
              <a:t>0</a:t>
            </a:r>
            <a:r>
              <a:rPr lang="en-US" sz="950" dirty="0">
                <a:solidFill>
                  <a:srgbClr val="E7E7E7"/>
                </a:solidFill>
                <a:latin typeface="Fira Code" pitchFamily="34" charset="0"/>
                <a:ea typeface="Fira Code" pitchFamily="34" charset="-122"/>
                <a:cs typeface="Fira Code" pitchFamily="34" charset="-120"/>
              </a:rPr>
              <a:t>:</a:t>
            </a:r>
            <a:endParaRPr lang="en-US" sz="950" dirty="0"/>
          </a:p>
          <a:p>
            <a:pPr marL="0" indent="0">
              <a:lnSpc>
                <a:spcPts val="2150"/>
              </a:lnSpc>
              <a:buNone/>
            </a:pPr>
            <a:r>
              <a:rPr lang="en-US" sz="950" dirty="0">
                <a:solidFill>
                  <a:srgbClr val="E7E7E7"/>
                </a:solidFill>
                <a:latin typeface="Fira Code" pitchFamily="34" charset="0"/>
                <a:ea typeface="Fira Code" pitchFamily="34" charset="-122"/>
                <a:cs typeface="Fira Code" pitchFamily="34" charset="-120"/>
              </a:rPr>
              <a:t>        total_import += -net</a:t>
            </a:r>
            <a:endParaRPr lang="en-US" sz="950" dirty="0"/>
          </a:p>
          <a:p>
            <a:pPr marL="0" indent="0">
              <a:lnSpc>
                <a:spcPts val="2150"/>
              </a:lnSpc>
              <a:buNone/>
            </a:pPr>
            <a:r>
              <a:rPr lang="en-US" sz="950" dirty="0">
                <a:solidFill>
                  <a:srgbClr val="72D9F0"/>
                </a:solidFill>
                <a:latin typeface="Fira Code" pitchFamily="34" charset="0"/>
                <a:ea typeface="Fira Code" pitchFamily="34" charset="-122"/>
                <a:cs typeface="Fira Code" pitchFamily="34" charset="-120"/>
              </a:rPr>
              <a:t>print</a:t>
            </a:r>
            <a:r>
              <a:rPr lang="en-US" sz="950" dirty="0">
                <a:solidFill>
                  <a:srgbClr val="E7E7E7"/>
                </a:solidFill>
                <a:latin typeface="Fira Code" pitchFamily="34" charset="0"/>
                <a:ea typeface="Fira Code" pitchFamily="34" charset="-122"/>
                <a:cs typeface="Fira Code" pitchFamily="34" charset="-120"/>
              </a:rPr>
              <a:t>(</a:t>
            </a:r>
            <a:r>
              <a:rPr lang="en-US" sz="950" dirty="0">
                <a:solidFill>
                  <a:srgbClr val="72D9F0"/>
                </a:solidFill>
                <a:latin typeface="Fira Code" pitchFamily="34" charset="0"/>
                <a:ea typeface="Fira Code" pitchFamily="34" charset="-122"/>
                <a:cs typeface="Fira Code" pitchFamily="34" charset="-120"/>
              </a:rPr>
              <a:t>round</a:t>
            </a:r>
            <a:r>
              <a:rPr lang="en-US" sz="950" dirty="0">
                <a:solidFill>
                  <a:srgbClr val="E7E7E7"/>
                </a:solidFill>
                <a:latin typeface="Fira Code" pitchFamily="34" charset="0"/>
                <a:ea typeface="Fira Code" pitchFamily="34" charset="-122"/>
                <a:cs typeface="Fira Code" pitchFamily="34" charset="-120"/>
              </a:rPr>
              <a:t>(total_import, </a:t>
            </a:r>
            <a:r>
              <a:rPr lang="en-US" sz="950" dirty="0">
                <a:solidFill>
                  <a:srgbClr val="A5CF27"/>
                </a:solidFill>
                <a:latin typeface="Fira Code" pitchFamily="34" charset="0"/>
                <a:ea typeface="Fira Code" pitchFamily="34" charset="-122"/>
                <a:cs typeface="Fira Code" pitchFamily="34" charset="-120"/>
              </a:rPr>
              <a:t>1</a:t>
            </a:r>
            <a:r>
              <a:rPr lang="en-US" sz="950" dirty="0">
                <a:solidFill>
                  <a:srgbClr val="E7E7E7"/>
                </a:solidFill>
                <a:latin typeface="Fira Code" pitchFamily="34" charset="0"/>
                <a:ea typeface="Fira Code" pitchFamily="34" charset="-122"/>
                <a:cs typeface="Fira Code" pitchFamily="34" charset="-120"/>
              </a:rPr>
              <a:t>), </a:t>
            </a:r>
            <a:r>
              <a:rPr lang="en-US" sz="950" dirty="0">
                <a:solidFill>
                  <a:srgbClr val="FCC642"/>
                </a:solidFill>
                <a:latin typeface="Fira Code" pitchFamily="34" charset="0"/>
                <a:ea typeface="Fira Code" pitchFamily="34" charset="-122"/>
                <a:cs typeface="Fira Code" pitchFamily="34" charset="-120"/>
              </a:rPr>
              <a:t>"kWh"</a:t>
            </a:r>
            <a:r>
              <a:rPr lang="en-US" sz="950" dirty="0">
                <a:solidFill>
                  <a:srgbClr val="E7E7E7"/>
                </a:solidFill>
                <a:latin typeface="Fira Code" pitchFamily="34" charset="0"/>
                <a:ea typeface="Fira Code" pitchFamily="34" charset="-122"/>
                <a:cs typeface="Fira Code" pitchFamily="34" charset="-120"/>
              </a:rPr>
              <a:t>)</a:t>
            </a:r>
            <a:endParaRPr lang="en-US" sz="950" dirty="0"/>
          </a:p>
        </p:txBody>
      </p:sp>
      <p:sp>
        <p:nvSpPr>
          <p:cNvPr id="6" name="Shape 4"/>
          <p:cNvSpPr/>
          <p:nvPr/>
        </p:nvSpPr>
        <p:spPr>
          <a:xfrm>
            <a:off x="5532120" y="2359152"/>
            <a:ext cx="274320" cy="0"/>
          </a:xfrm>
          <a:prstGeom prst="line">
            <a:avLst/>
          </a:prstGeom>
          <a:noFill/>
          <a:ln w="15875">
            <a:solidFill>
              <a:srgbClr val="FCC642"/>
            </a:solidFill>
            <a:prstDash val="solid"/>
            <a:headEnd type="triangle"/>
          </a:ln>
        </p:spPr>
      </p:sp>
      <p:sp>
        <p:nvSpPr>
          <p:cNvPr id="7" name="Text 5"/>
          <p:cNvSpPr txBox="1"/>
          <p:nvPr/>
        </p:nvSpPr>
        <p:spPr>
          <a:xfrm>
            <a:off x="5897880" y="2240280"/>
            <a:ext cx="2834640" cy="256032"/>
          </a:xfrm>
          <a:prstGeom prst="rect">
            <a:avLst/>
          </a:prstGeom>
          <a:noFill/>
          <a:ln/>
        </p:spPr>
        <p:txBody>
          <a:bodyPr wrap="square" lIns="0" tIns="0" rIns="0" bIns="0" rtlCol="0" anchor="ctr"/>
          <a:lstStyle/>
          <a:p>
            <a:pPr marL="0" indent="0">
              <a:buNone/>
            </a:pPr>
            <a:r>
              <a:rPr lang="en-US" sz="1000" b="1" dirty="0">
                <a:solidFill>
                  <a:srgbClr val="FCC642"/>
                </a:solidFill>
                <a:latin typeface="Fira Code" pitchFamily="34" charset="0"/>
                <a:ea typeface="Fira Code" pitchFamily="34" charset="-122"/>
                <a:cs typeface="Fira Code" pitchFamily="34" charset="-120"/>
              </a:rPr>
              <a:t>DataFrame</a:t>
            </a:r>
            <a:r>
              <a:rPr lang="en-US" sz="1000" dirty="0">
                <a:solidFill>
                  <a:srgbClr val="E7E7E7"/>
                </a:solidFill>
                <a:latin typeface="Fira Sans" pitchFamily="34" charset="0"/>
                <a:ea typeface="Fira Sans" pitchFamily="34" charset="-122"/>
                <a:cs typeface="Fira Sans" pitchFamily="34" charset="-120"/>
              </a:rPr>
              <a:t>  a table, one row per hour</a:t>
            </a:r>
            <a:endParaRPr lang="en-US" sz="1000" dirty="0"/>
          </a:p>
        </p:txBody>
      </p:sp>
      <p:sp>
        <p:nvSpPr>
          <p:cNvPr id="8" name="Shape 6"/>
          <p:cNvSpPr/>
          <p:nvPr/>
        </p:nvSpPr>
        <p:spPr>
          <a:xfrm>
            <a:off x="5532120" y="2633472"/>
            <a:ext cx="274320" cy="0"/>
          </a:xfrm>
          <a:prstGeom prst="line">
            <a:avLst/>
          </a:prstGeom>
          <a:noFill/>
          <a:ln w="15875">
            <a:solidFill>
              <a:srgbClr val="A5CF27"/>
            </a:solidFill>
            <a:prstDash val="solid"/>
            <a:headEnd type="triangle"/>
          </a:ln>
        </p:spPr>
      </p:sp>
      <p:sp>
        <p:nvSpPr>
          <p:cNvPr id="9" name="Text 7"/>
          <p:cNvSpPr txBox="1"/>
          <p:nvPr/>
        </p:nvSpPr>
        <p:spPr>
          <a:xfrm>
            <a:off x="5897880" y="2514600"/>
            <a:ext cx="2834640" cy="256032"/>
          </a:xfrm>
          <a:prstGeom prst="rect">
            <a:avLst/>
          </a:prstGeom>
          <a:noFill/>
          <a:ln/>
        </p:spPr>
        <p:txBody>
          <a:bodyPr wrap="square" lIns="0" tIns="0" rIns="0" bIns="0" rtlCol="0" anchor="ctr"/>
          <a:lstStyle/>
          <a:p>
            <a:pPr marL="0" indent="0">
              <a:buNone/>
            </a:pPr>
            <a:r>
              <a:rPr lang="en-US" sz="1000" b="1" dirty="0">
                <a:solidFill>
                  <a:srgbClr val="A5CF27"/>
                </a:solidFill>
                <a:latin typeface="Fira Code" pitchFamily="34" charset="0"/>
                <a:ea typeface="Fira Code" pitchFamily="34" charset="-122"/>
                <a:cs typeface="Fira Code" pitchFamily="34" charset="-120"/>
              </a:rPr>
              <a:t>variable</a:t>
            </a:r>
            <a:r>
              <a:rPr lang="en-US" sz="1000" dirty="0">
                <a:solidFill>
                  <a:srgbClr val="E7E7E7"/>
                </a:solidFill>
                <a:latin typeface="Fira Sans" pitchFamily="34" charset="0"/>
                <a:ea typeface="Fira Sans" pitchFamily="34" charset="-122"/>
                <a:cs typeface="Fira Sans" pitchFamily="34" charset="-120"/>
              </a:rPr>
              <a:t>  a named value you update as you go</a:t>
            </a:r>
            <a:endParaRPr lang="en-US" sz="1000" dirty="0"/>
          </a:p>
        </p:txBody>
      </p:sp>
      <p:sp>
        <p:nvSpPr>
          <p:cNvPr id="10" name="Shape 8"/>
          <p:cNvSpPr/>
          <p:nvPr/>
        </p:nvSpPr>
        <p:spPr>
          <a:xfrm>
            <a:off x="5532120" y="2907792"/>
            <a:ext cx="274320" cy="0"/>
          </a:xfrm>
          <a:prstGeom prst="line">
            <a:avLst/>
          </a:prstGeom>
          <a:noFill/>
          <a:ln w="15875">
            <a:solidFill>
              <a:srgbClr val="FF5858"/>
            </a:solidFill>
            <a:prstDash val="solid"/>
            <a:headEnd type="triangle"/>
          </a:ln>
        </p:spPr>
      </p:sp>
      <p:sp>
        <p:nvSpPr>
          <p:cNvPr id="11" name="Text 9"/>
          <p:cNvSpPr txBox="1"/>
          <p:nvPr/>
        </p:nvSpPr>
        <p:spPr>
          <a:xfrm>
            <a:off x="5897880" y="2788920"/>
            <a:ext cx="2834640" cy="256032"/>
          </a:xfrm>
          <a:prstGeom prst="rect">
            <a:avLst/>
          </a:prstGeom>
          <a:noFill/>
          <a:ln/>
        </p:spPr>
        <p:txBody>
          <a:bodyPr wrap="square" lIns="0" tIns="0" rIns="0" bIns="0" rtlCol="0" anchor="ctr"/>
          <a:lstStyle/>
          <a:p>
            <a:pPr marL="0" indent="0">
              <a:buNone/>
            </a:pPr>
            <a:r>
              <a:rPr lang="en-US" sz="1000" b="1" dirty="0">
                <a:solidFill>
                  <a:srgbClr val="FF5858"/>
                </a:solidFill>
                <a:latin typeface="Fira Code" pitchFamily="34" charset="0"/>
                <a:ea typeface="Fira Code" pitchFamily="34" charset="-122"/>
                <a:cs typeface="Fira Code" pitchFamily="34" charset="-120"/>
              </a:rPr>
              <a:t>for loop</a:t>
            </a:r>
            <a:r>
              <a:rPr lang="en-US" sz="1000" dirty="0">
                <a:solidFill>
                  <a:srgbClr val="E7E7E7"/>
                </a:solidFill>
                <a:latin typeface="Fira Sans" pitchFamily="34" charset="0"/>
                <a:ea typeface="Fira Sans" pitchFamily="34" charset="-122"/>
                <a:cs typeface="Fira Sans" pitchFamily="34" charset="-120"/>
              </a:rPr>
              <a:t>  repeat the same steps once per hour</a:t>
            </a:r>
            <a:endParaRPr lang="en-US" sz="1000" dirty="0"/>
          </a:p>
        </p:txBody>
      </p:sp>
      <p:sp>
        <p:nvSpPr>
          <p:cNvPr id="12" name="Shape 10"/>
          <p:cNvSpPr/>
          <p:nvPr/>
        </p:nvSpPr>
        <p:spPr>
          <a:xfrm>
            <a:off x="5532120" y="3456432"/>
            <a:ext cx="274320" cy="0"/>
          </a:xfrm>
          <a:prstGeom prst="line">
            <a:avLst/>
          </a:prstGeom>
          <a:noFill/>
          <a:ln w="15875">
            <a:solidFill>
              <a:srgbClr val="72D9F0"/>
            </a:solidFill>
            <a:prstDash val="solid"/>
            <a:headEnd type="triangle"/>
          </a:ln>
        </p:spPr>
      </p:sp>
      <p:sp>
        <p:nvSpPr>
          <p:cNvPr id="13" name="Text 11"/>
          <p:cNvSpPr txBox="1"/>
          <p:nvPr/>
        </p:nvSpPr>
        <p:spPr>
          <a:xfrm>
            <a:off x="5897880" y="3337560"/>
            <a:ext cx="2834640" cy="256032"/>
          </a:xfrm>
          <a:prstGeom prst="rect">
            <a:avLst/>
          </a:prstGeom>
          <a:noFill/>
          <a:ln/>
        </p:spPr>
        <p:txBody>
          <a:bodyPr wrap="square" lIns="0" tIns="0" rIns="0" bIns="0" rtlCol="0" anchor="ctr"/>
          <a:lstStyle/>
          <a:p>
            <a:pPr marL="0" indent="0">
              <a:buNone/>
            </a:pPr>
            <a:r>
              <a:rPr lang="en-US" sz="1000" b="1" dirty="0">
                <a:solidFill>
                  <a:srgbClr val="72D9F0"/>
                </a:solidFill>
                <a:latin typeface="Fira Code" pitchFamily="34" charset="0"/>
                <a:ea typeface="Fira Code" pitchFamily="34" charset="-122"/>
                <a:cs typeface="Fira Code" pitchFamily="34" charset="-120"/>
              </a:rPr>
              <a:t>if</a:t>
            </a:r>
            <a:r>
              <a:rPr lang="en-US" sz="1000" dirty="0">
                <a:solidFill>
                  <a:srgbClr val="E7E7E7"/>
                </a:solidFill>
                <a:latin typeface="Fira Sans" pitchFamily="34" charset="0"/>
                <a:ea typeface="Fira Sans" pitchFamily="34" charset="-122"/>
                <a:cs typeface="Fira Sans" pitchFamily="34" charset="-120"/>
              </a:rPr>
              <a:t>  decide: surplus or shortfall this hour?</a:t>
            </a:r>
            <a:endParaRPr lang="en-US" sz="1000" dirty="0"/>
          </a:p>
        </p:txBody>
      </p:sp>
      <p:sp>
        <p:nvSpPr>
          <p:cNvPr id="14" name="Shape 12"/>
          <p:cNvSpPr/>
          <p:nvPr/>
        </p:nvSpPr>
        <p:spPr>
          <a:xfrm>
            <a:off x="5532120" y="4005072"/>
            <a:ext cx="274320" cy="0"/>
          </a:xfrm>
          <a:prstGeom prst="line">
            <a:avLst/>
          </a:prstGeom>
          <a:noFill/>
          <a:ln w="15875">
            <a:solidFill>
              <a:srgbClr val="DBA0DB"/>
            </a:solidFill>
            <a:prstDash val="solid"/>
            <a:headEnd type="triangle"/>
          </a:ln>
        </p:spPr>
      </p:sp>
      <p:sp>
        <p:nvSpPr>
          <p:cNvPr id="15" name="Text 13"/>
          <p:cNvSpPr txBox="1"/>
          <p:nvPr/>
        </p:nvSpPr>
        <p:spPr>
          <a:xfrm>
            <a:off x="5897880" y="3886200"/>
            <a:ext cx="2834640" cy="256032"/>
          </a:xfrm>
          <a:prstGeom prst="rect">
            <a:avLst/>
          </a:prstGeom>
          <a:noFill/>
          <a:ln/>
        </p:spPr>
        <p:txBody>
          <a:bodyPr wrap="square" lIns="0" tIns="0" rIns="0" bIns="0" rtlCol="0" anchor="ctr"/>
          <a:lstStyle/>
          <a:p>
            <a:pPr marL="0" indent="0">
              <a:buNone/>
            </a:pPr>
            <a:r>
              <a:rPr lang="en-US" sz="1000" b="1" dirty="0">
                <a:solidFill>
                  <a:srgbClr val="DBA0DB"/>
                </a:solidFill>
                <a:latin typeface="Fira Code" pitchFamily="34" charset="0"/>
                <a:ea typeface="Fira Code" pitchFamily="34" charset="-122"/>
                <a:cs typeface="Fira Code" pitchFamily="34" charset="-120"/>
              </a:rPr>
              <a:t>print + round</a:t>
            </a:r>
            <a:r>
              <a:rPr lang="en-US" sz="1000" dirty="0">
                <a:solidFill>
                  <a:srgbClr val="E7E7E7"/>
                </a:solidFill>
                <a:latin typeface="Fira Sans" pitchFamily="34" charset="0"/>
                <a:ea typeface="Fira Sans" pitchFamily="34" charset="-122"/>
                <a:cs typeface="Fira Sans" pitchFamily="34" charset="-120"/>
              </a:rPr>
              <a:t>  show the answer, with units</a:t>
            </a:r>
            <a:endParaRPr lang="en-US" sz="1000" dirty="0"/>
          </a:p>
        </p:txBody>
      </p:sp>
      <p:sp>
        <p:nvSpPr>
          <p:cNvPr id="16" name="Text 14"/>
          <p:cNvSpPr txBox="1"/>
          <p:nvPr/>
        </p:nvSpPr>
        <p:spPr>
          <a:xfrm>
            <a:off x="731520" y="4462272"/>
            <a:ext cx="8046720" cy="201168"/>
          </a:xfrm>
          <a:prstGeom prst="rect">
            <a:avLst/>
          </a:prstGeom>
          <a:noFill/>
          <a:ln/>
        </p:spPr>
        <p:txBody>
          <a:bodyPr wrap="square" lIns="0" tIns="0" rIns="0" bIns="0" rtlCol="0" anchor="ctr"/>
          <a:lstStyle/>
          <a:p>
            <a:pPr marL="0" indent="0">
              <a:buNone/>
            </a:pPr>
            <a:r>
              <a:rPr lang="en-US" sz="900" b="1" dirty="0">
                <a:solidFill>
                  <a:srgbClr val="FFFFFF"/>
                </a:solidFill>
                <a:latin typeface="Fira Sans" pitchFamily="34" charset="0"/>
                <a:ea typeface="Fira Sans" pitchFamily="34" charset="-122"/>
                <a:cs typeface="Fira Sans" pitchFamily="34" charset="-120"/>
              </a:rPr>
              <a:t>Error? Read the last line first. </a:t>
            </a:r>
            <a:r>
              <a:rPr lang="en-US" sz="900" dirty="0">
                <a:solidFill>
                  <a:srgbClr val="A9AFBA"/>
                </a:solidFill>
                <a:latin typeface="Fira Sans" pitchFamily="34" charset="0"/>
                <a:ea typeface="Fira Sans" pitchFamily="34" charset="-122"/>
                <a:cs typeface="Fira Sans" pitchFamily="34" charset="-120"/>
              </a:rPr>
              <a:t>KeyError: "demand_kw" means a column name is misspelt.</a:t>
            </a:r>
            <a:endParaRPr lang="en-US" sz="9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ma14="http://schemas.microsoft.com/office/mac/drawingml/2011/main" xmlns=""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14</a:t>
            </a:fld>
            <a:endParaRPr lang="en-US"/>
          </a:p>
        </p:txBody>
      </p:sp>
    </p:spTree>
    <p:extLst>
      <p:ext uri="{BB962C8B-B14F-4D97-AF65-F5344CB8AC3E}">
        <p14:creationId xmlns:p14="http://schemas.microsoft.com/office/powerpoint/2010/main" val="11777660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txBox="1"/>
          <p:nvPr/>
        </p:nvSpPr>
        <p:spPr>
          <a:xfrm>
            <a:off x="5257800" y="457200"/>
            <a:ext cx="3474720" cy="274320"/>
          </a:xfrm>
          <a:prstGeom prst="rect">
            <a:avLst/>
          </a:prstGeom>
          <a:noFill/>
          <a:ln/>
        </p:spPr>
        <p:txBody>
          <a:bodyPr wrap="square" lIns="0" tIns="0" rIns="0" bIns="0" rtlCol="0" anchor="t"/>
          <a:lstStyle/>
          <a:p>
            <a:pPr marL="0" indent="0">
              <a:buNone/>
            </a:pPr>
            <a:r>
              <a:rPr lang="en-US" sz="1100" dirty="0">
                <a:solidFill>
                  <a:srgbClr val="FF5858"/>
                </a:solidFill>
                <a:latin typeface="Fira Code" pitchFamily="34" charset="0"/>
                <a:ea typeface="Fira Code" pitchFamily="34" charset="-122"/>
                <a:cs typeface="Fira Code" pitchFamily="34" charset="-120"/>
              </a:rPr>
              <a:t>practice</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4" name="Text 1"/>
          <p:cNvSpPr txBox="1"/>
          <p:nvPr/>
        </p:nvSpPr>
        <p:spPr>
          <a:xfrm>
            <a:off x="5257800" y="768096"/>
            <a:ext cx="3520440" cy="868680"/>
          </a:xfrm>
          <a:prstGeom prst="rect">
            <a:avLst/>
          </a:prstGeom>
          <a:noFill/>
          <a:ln/>
        </p:spPr>
        <p:txBody>
          <a:bodyPr wrap="square" lIns="0" tIns="0" rIns="0" bIns="0" rtlCol="0" anchor="t"/>
          <a:lstStyle/>
          <a:p>
            <a:pPr marL="0" indent="0">
              <a:buNone/>
            </a:pPr>
            <a:r>
              <a:rPr lang="en-US" sz="1700" b="1" dirty="0">
                <a:solidFill>
                  <a:srgbClr val="FFFFFF"/>
                </a:solidFill>
                <a:latin typeface="Fira Sans" pitchFamily="34" charset="0"/>
                <a:ea typeface="Fira Sans" pitchFamily="34" charset="-122"/>
                <a:cs typeface="Fira Sans" pitchFamily="34" charset="-120"/>
              </a:rPr>
              <a:t>Ten minutes to get comfortable with JupyterLab before the tasks</a:t>
            </a:r>
            <a:endParaRPr lang="en-US" sz="1700" dirty="0"/>
          </a:p>
        </p:txBody>
      </p:sp>
      <p:sp>
        <p:nvSpPr>
          <p:cNvPr id="5" name="Text 2"/>
          <p:cNvSpPr txBox="1"/>
          <p:nvPr/>
        </p:nvSpPr>
        <p:spPr>
          <a:xfrm>
            <a:off x="5257800" y="1737360"/>
            <a:ext cx="3520440" cy="118872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Open JupyterLab and the student folder</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Open data/home.csv and read the columns</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Open the notebook; run the first cell</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Change a number, rerun, then restart</a:t>
            </a:r>
            <a:endParaRPr lang="en-US" sz="1150" dirty="0"/>
          </a:p>
        </p:txBody>
      </p:sp>
      <p:sp>
        <p:nvSpPr>
          <p:cNvPr id="6" name="Shape 3"/>
          <p:cNvSpPr/>
          <p:nvPr/>
        </p:nvSpPr>
        <p:spPr>
          <a:xfrm>
            <a:off x="5257800" y="3063240"/>
            <a:ext cx="3520440" cy="1188720"/>
          </a:xfrm>
          <a:prstGeom prst="rect">
            <a:avLst/>
          </a:prstGeom>
          <a:solidFill>
            <a:srgbClr val="16191F"/>
          </a:solidFill>
          <a:ln w="9525">
            <a:solidFill>
              <a:srgbClr val="3E434E"/>
            </a:solidFill>
            <a:prstDash val="solid"/>
          </a:ln>
        </p:spPr>
      </p:sp>
      <p:sp>
        <p:nvSpPr>
          <p:cNvPr id="7" name="Text 4"/>
          <p:cNvSpPr txBox="1"/>
          <p:nvPr/>
        </p:nvSpPr>
        <p:spPr>
          <a:xfrm>
            <a:off x="5376672" y="3154680"/>
            <a:ext cx="3337560" cy="1051560"/>
          </a:xfrm>
          <a:prstGeom prst="rect">
            <a:avLst/>
          </a:prstGeom>
          <a:noFill/>
          <a:ln/>
        </p:spPr>
        <p:txBody>
          <a:bodyPr wrap="square" lIns="0" tIns="0" rIns="0" bIns="0" rtlCol="0" anchor="t"/>
          <a:lstStyle/>
          <a:p>
            <a:pPr marL="0" indent="0">
              <a:lnSpc>
                <a:spcPts val="1350"/>
              </a:lnSpc>
              <a:buNone/>
            </a:pPr>
            <a:r>
              <a:rPr lang="en-US" sz="850" dirty="0">
                <a:solidFill>
                  <a:srgbClr val="72D9F0"/>
                </a:solidFill>
                <a:latin typeface="Fira Code" pitchFamily="34" charset="0"/>
                <a:ea typeface="Fira Code" pitchFamily="34" charset="-122"/>
                <a:cs typeface="Fira Code" pitchFamily="34" charset="-120"/>
              </a:rPr>
              <a:t>time   </a:t>
            </a:r>
            <a:r>
              <a:rPr lang="en-US" sz="850" dirty="0">
                <a:solidFill>
                  <a:srgbClr val="E7E7E7"/>
                </a:solidFill>
                <a:latin typeface="Fira Code" pitchFamily="34" charset="0"/>
                <a:ea typeface="Fira Code" pitchFamily="34" charset="-122"/>
                <a:cs typeface="Fira Code" pitchFamily="34" charset="-120"/>
              </a:rPr>
              <a:t>= </a:t>
            </a:r>
            <a:r>
              <a:rPr lang="en-US" sz="850" dirty="0" smtClean="0">
                <a:solidFill>
                  <a:srgbClr val="FCC642"/>
                </a:solidFill>
                <a:latin typeface="Fira Code" pitchFamily="34" charset="0"/>
                <a:ea typeface="Fira Code" pitchFamily="34" charset="-122"/>
                <a:cs typeface="Fira Code" pitchFamily="34" charset="-120"/>
              </a:rPr>
              <a:t>10 </a:t>
            </a:r>
            <a:r>
              <a:rPr lang="en-US" sz="850" dirty="0" err="1" smtClean="0">
                <a:solidFill>
                  <a:srgbClr val="FCC642"/>
                </a:solidFill>
                <a:latin typeface="Fira Code" pitchFamily="34" charset="0"/>
                <a:ea typeface="Fira Code" pitchFamily="34" charset="-122"/>
                <a:cs typeface="Fira Code" pitchFamily="34" charset="-120"/>
              </a:rPr>
              <a:t># minutes</a:t>
            </a:r>
            <a:endParaRPr lang="en-US" sz="850" dirty="0"/>
          </a:p>
          <a:p>
            <a:pPr marL="0" indent="0">
              <a:lnSpc>
                <a:spcPts val="1350"/>
              </a:lnSpc>
              <a:buNone/>
            </a:pPr>
            <a:r>
              <a:rPr lang="en-US" sz="850" dirty="0" smtClean="0">
                <a:solidFill>
                  <a:srgbClr val="72D9F0"/>
                </a:solidFill>
                <a:latin typeface="Fira Code" pitchFamily="34" charset="0"/>
                <a:ea typeface="Fira Code" pitchFamily="34" charset="-122"/>
                <a:cs typeface="Fira Code" pitchFamily="34" charset="-120"/>
              </a:rPr>
              <a:t>files  </a:t>
            </a:r>
            <a:r>
              <a:rPr lang="en-US" sz="850" dirty="0" smtClean="0">
                <a:solidFill>
                  <a:srgbClr val="E7E7E7"/>
                </a:solidFill>
                <a:latin typeface="Fira Code" pitchFamily="34" charset="0"/>
                <a:ea typeface="Fira Code" pitchFamily="34" charset="-122"/>
                <a:cs typeface="Fira Code" pitchFamily="34" charset="-120"/>
              </a:rPr>
              <a:t>= </a:t>
            </a:r>
            <a:r>
              <a:rPr lang="en-US" sz="850" dirty="0" smtClean="0">
                <a:solidFill>
                  <a:srgbClr val="FCC642"/>
                </a:solidFill>
                <a:latin typeface="Fira Code" pitchFamily="34" charset="0"/>
                <a:ea typeface="Fira Code" pitchFamily="34" charset="-122"/>
                <a:cs typeface="Fira Code" pitchFamily="34" charset="-120"/>
              </a:rPr>
              <a:t>notebook + data/home.csv</a:t>
            </a:r>
            <a:endParaRPr lang="en-US" sz="850" dirty="0" smtClean="0"/>
          </a:p>
          <a:p>
            <a:pPr marL="0" indent="0">
              <a:lnSpc>
                <a:spcPts val="1350"/>
              </a:lnSpc>
              <a:buNone/>
            </a:pPr>
            <a:r>
              <a:rPr lang="en-US" sz="850" dirty="0" smtClean="0">
                <a:solidFill>
                  <a:srgbClr val="72D9F0"/>
                </a:solidFill>
                <a:latin typeface="Fira Code" pitchFamily="34" charset="0"/>
                <a:ea typeface="Fira Code" pitchFamily="34" charset="-122"/>
                <a:cs typeface="Fira Code" pitchFamily="34" charset="-120"/>
              </a:rPr>
              <a:t>goal   </a:t>
            </a:r>
            <a:r>
              <a:rPr lang="en-US" sz="850" dirty="0">
                <a:solidFill>
                  <a:srgbClr val="E7E7E7"/>
                </a:solidFill>
                <a:latin typeface="Fira Code" pitchFamily="34" charset="0"/>
                <a:ea typeface="Fira Code" pitchFamily="34" charset="-122"/>
                <a:cs typeface="Fira Code" pitchFamily="34" charset="-120"/>
              </a:rPr>
              <a:t>= </a:t>
            </a:r>
            <a:r>
              <a:rPr lang="en-US" sz="850" dirty="0" smtClean="0">
                <a:solidFill>
                  <a:srgbClr val="A5CF27"/>
                </a:solidFill>
                <a:latin typeface="Fira Code" pitchFamily="34" charset="0"/>
                <a:ea typeface="Fira Code" pitchFamily="34" charset="-122"/>
                <a:cs typeface="Fira Code" pitchFamily="34" charset="-120"/>
              </a:rPr>
              <a:t>open, run, edit, rerun, restart</a:t>
            </a:r>
            <a:endParaRPr lang="en-US" sz="850" dirty="0"/>
          </a:p>
          <a:p>
            <a:pPr marL="0" indent="0">
              <a:lnSpc>
                <a:spcPts val="1350"/>
              </a:lnSpc>
              <a:buNone/>
            </a:pPr>
            <a:r>
              <a:rPr lang="en-US" sz="850" dirty="0">
                <a:solidFill>
                  <a:srgbClr val="72D9F0"/>
                </a:solidFill>
                <a:latin typeface="Fira Code" pitchFamily="34" charset="0"/>
                <a:ea typeface="Fira Code" pitchFamily="34" charset="-122"/>
                <a:cs typeface="Fira Code" pitchFamily="34" charset="-120"/>
              </a:rPr>
              <a:t>ready  </a:t>
            </a:r>
            <a:r>
              <a:rPr lang="en-US" sz="850" dirty="0">
                <a:solidFill>
                  <a:srgbClr val="E7E7E7"/>
                </a:solidFill>
                <a:latin typeface="Fira Code" pitchFamily="34" charset="0"/>
                <a:ea typeface="Fira Code" pitchFamily="34" charset="-122"/>
                <a:cs typeface="Fira Code" pitchFamily="34" charset="-120"/>
              </a:rPr>
              <a:t>= </a:t>
            </a:r>
            <a:r>
              <a:rPr lang="en-US" sz="850" dirty="0">
                <a:solidFill>
                  <a:srgbClr val="FCC642"/>
                </a:solidFill>
                <a:latin typeface="Fira Code" pitchFamily="34" charset="0"/>
                <a:ea typeface="Fira Code" pitchFamily="34" charset="-122"/>
                <a:cs typeface="Fira Code" pitchFamily="34" charset="-120"/>
              </a:rPr>
              <a:t>first cell prints 'is ready'</a:t>
            </a:r>
            <a:endParaRPr lang="en-US" sz="850" dirty="0"/>
          </a:p>
          <a:p>
            <a:pPr marL="0" indent="0">
              <a:lnSpc>
                <a:spcPts val="1350"/>
              </a:lnSpc>
              <a:buNone/>
            </a:pPr>
            <a:r>
              <a:rPr lang="en-US" sz="850" dirty="0">
                <a:solidFill>
                  <a:srgbClr val="72D9F0"/>
                </a:solidFill>
                <a:latin typeface="Fira Code" pitchFamily="34" charset="0"/>
                <a:ea typeface="Fira Code" pitchFamily="34" charset="-122"/>
                <a:cs typeface="Fira Code" pitchFamily="34" charset="-120"/>
              </a:rPr>
              <a:t>help   </a:t>
            </a:r>
            <a:r>
              <a:rPr lang="en-US" sz="850" dirty="0">
                <a:solidFill>
                  <a:srgbClr val="E7E7E7"/>
                </a:solidFill>
                <a:latin typeface="Fira Code" pitchFamily="34" charset="0"/>
                <a:ea typeface="Fira Code" pitchFamily="34" charset="-122"/>
                <a:cs typeface="Fira Code" pitchFamily="34" charset="-120"/>
              </a:rPr>
              <a:t>= </a:t>
            </a:r>
            <a:r>
              <a:rPr lang="en-US" sz="850" dirty="0">
                <a:solidFill>
                  <a:srgbClr val="FCC642"/>
                </a:solidFill>
                <a:latin typeface="Fira Code" pitchFamily="34" charset="0"/>
                <a:ea typeface="Fira Code" pitchFamily="34" charset="-122"/>
                <a:cs typeface="Fira Code" pitchFamily="34" charset="-120"/>
              </a:rPr>
              <a:t>raise your hand</a:t>
            </a:r>
            <a:endParaRPr lang="en-US" sz="85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ma14="http://schemas.microsoft.com/office/mac/drawingml/2011/main" xmlns=""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15</a:t>
            </a:fld>
            <a:endParaRPr lang="en-US"/>
          </a:p>
        </p:txBody>
      </p:sp>
      <p:pic>
        <p:nvPicPr>
          <p:cNvPr id="10" name="Google Shape;442;p42"/>
          <p:cNvPicPr preferRelativeResize="0"/>
          <p:nvPr/>
        </p:nvPicPr>
        <p:blipFill rotWithShape="1">
          <a:blip r:embed="rId3">
            <a:alphaModFix/>
          </a:blip>
          <a:srcRect l="6807" r="6807"/>
          <a:stretch/>
        </p:blipFill>
        <p:spPr>
          <a:xfrm>
            <a:off x="837394" y="395417"/>
            <a:ext cx="3087756" cy="4259964"/>
          </a:xfrm>
          <a:prstGeom prst="rect">
            <a:avLst/>
          </a:prstGeom>
          <a:noFill/>
          <a:ln>
            <a:noFill/>
          </a:ln>
          <a:effectLst>
            <a:outerShdw blurRad="128588" dist="19050" dir="5400000" algn="bl" rotWithShape="0">
              <a:schemeClr val="accent4"/>
            </a:outerShdw>
          </a:effectLst>
        </p:spPr>
      </p:pic>
    </p:spTree>
    <p:extLst>
      <p:ext uri="{BB962C8B-B14F-4D97-AF65-F5344CB8AC3E}">
        <p14:creationId xmlns:p14="http://schemas.microsoft.com/office/powerpoint/2010/main" val="21765256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txBox="1"/>
          <p:nvPr/>
        </p:nvSpPr>
        <p:spPr>
          <a:xfrm>
            <a:off x="5257800" y="457200"/>
            <a:ext cx="3474720" cy="274320"/>
          </a:xfrm>
          <a:prstGeom prst="rect">
            <a:avLst/>
          </a:prstGeom>
          <a:noFill/>
          <a:ln/>
        </p:spPr>
        <p:txBody>
          <a:bodyPr wrap="square" lIns="0" tIns="0" rIns="0" bIns="0" rtlCol="0" anchor="t"/>
          <a:lstStyle/>
          <a:p>
            <a:pPr marL="0" indent="0">
              <a:buNone/>
            </a:pPr>
            <a:r>
              <a:rPr lang="en-US" sz="1100" dirty="0">
                <a:solidFill>
                  <a:srgbClr val="FF5858"/>
                </a:solidFill>
                <a:latin typeface="Fira Code" pitchFamily="34" charset="0"/>
                <a:ea typeface="Fira Code" pitchFamily="34" charset="-122"/>
                <a:cs typeface="Fira Code" pitchFamily="34" charset="-120"/>
              </a:rPr>
              <a:t>task_01</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4" name="Text 1"/>
          <p:cNvSpPr txBox="1"/>
          <p:nvPr/>
        </p:nvSpPr>
        <p:spPr>
          <a:xfrm>
            <a:off x="5257800" y="768096"/>
            <a:ext cx="3520440" cy="868680"/>
          </a:xfrm>
          <a:prstGeom prst="rect">
            <a:avLst/>
          </a:prstGeom>
          <a:noFill/>
          <a:ln/>
        </p:spPr>
        <p:txBody>
          <a:bodyPr wrap="square" lIns="0" tIns="0" rIns="0" bIns="0" rtlCol="0" anchor="t"/>
          <a:lstStyle/>
          <a:p>
            <a:pPr marL="0" indent="0">
              <a:buNone/>
            </a:pPr>
            <a:r>
              <a:rPr lang="en-US" sz="1700" b="1" dirty="0">
                <a:solidFill>
                  <a:srgbClr val="FFFFFF"/>
                </a:solidFill>
                <a:latin typeface="Fira Sans" pitchFamily="34" charset="0"/>
                <a:ea typeface="Fira Sans" pitchFamily="34" charset="-122"/>
                <a:cs typeface="Fira Sans" pitchFamily="34" charset="-120"/>
              </a:rPr>
              <a:t>How much does a 5 kWh battery raise a Nottingham home's self-sufficiency?</a:t>
            </a:r>
            <a:endParaRPr lang="en-US" sz="1700" dirty="0"/>
          </a:p>
        </p:txBody>
      </p:sp>
      <p:sp>
        <p:nvSpPr>
          <p:cNvPr id="5" name="Text 2"/>
          <p:cNvSpPr txBox="1"/>
          <p:nvPr/>
        </p:nvSpPr>
        <p:spPr>
          <a:xfrm>
            <a:off x="5257800" y="1737360"/>
            <a:ext cx="3520440" cy="118872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Run the baseline (4.2), note the result</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Fill the three blanks (4.3), test (4.4)</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Predict, then run the full year (4.5)</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Run your scenario (4.8); Reporter submits</a:t>
            </a:r>
            <a:endParaRPr lang="en-US" sz="1150" dirty="0"/>
          </a:p>
        </p:txBody>
      </p:sp>
      <p:sp>
        <p:nvSpPr>
          <p:cNvPr id="6" name="Shape 3"/>
          <p:cNvSpPr/>
          <p:nvPr/>
        </p:nvSpPr>
        <p:spPr>
          <a:xfrm>
            <a:off x="5257800" y="3063240"/>
            <a:ext cx="3520440" cy="1188720"/>
          </a:xfrm>
          <a:prstGeom prst="rect">
            <a:avLst/>
          </a:prstGeom>
          <a:solidFill>
            <a:srgbClr val="16191F"/>
          </a:solidFill>
          <a:ln w="9525">
            <a:solidFill>
              <a:srgbClr val="3E434E"/>
            </a:solidFill>
            <a:prstDash val="solid"/>
          </a:ln>
        </p:spPr>
      </p:sp>
      <p:sp>
        <p:nvSpPr>
          <p:cNvPr id="7" name="Text 4"/>
          <p:cNvSpPr txBox="1"/>
          <p:nvPr/>
        </p:nvSpPr>
        <p:spPr>
          <a:xfrm>
            <a:off x="5376672" y="3154680"/>
            <a:ext cx="3337560" cy="1051560"/>
          </a:xfrm>
          <a:prstGeom prst="rect">
            <a:avLst/>
          </a:prstGeom>
          <a:noFill/>
          <a:ln/>
        </p:spPr>
        <p:txBody>
          <a:bodyPr wrap="square" lIns="0" tIns="0" rIns="0" bIns="0" rtlCol="0" anchor="t"/>
          <a:lstStyle/>
          <a:p>
            <a:pPr marL="0" indent="0">
              <a:lnSpc>
                <a:spcPts val="1350"/>
              </a:lnSpc>
              <a:buNone/>
            </a:pPr>
            <a:r>
              <a:rPr lang="en-US" sz="850" dirty="0">
                <a:solidFill>
                  <a:srgbClr val="72D9F0"/>
                </a:solidFill>
                <a:latin typeface="Fira Code" pitchFamily="34" charset="0"/>
                <a:ea typeface="Fira Code" pitchFamily="34" charset="-122"/>
                <a:cs typeface="Fira Code" pitchFamily="34" charset="-120"/>
              </a:rPr>
              <a:t>inputs </a:t>
            </a:r>
            <a:r>
              <a:rPr lang="en-US" sz="850" dirty="0">
                <a:solidFill>
                  <a:srgbClr val="E7E7E7"/>
                </a:solidFill>
                <a:latin typeface="Fira Code" pitchFamily="34" charset="0"/>
                <a:ea typeface="Fira Code" pitchFamily="34" charset="-122"/>
                <a:cs typeface="Fira Code" pitchFamily="34" charset="-120"/>
              </a:rPr>
              <a:t>= </a:t>
            </a:r>
            <a:r>
              <a:rPr lang="en-US" sz="850" dirty="0" smtClean="0">
                <a:solidFill>
                  <a:srgbClr val="FCC642"/>
                </a:solidFill>
                <a:latin typeface="Fira Code" pitchFamily="34" charset="0"/>
                <a:ea typeface="Fira Code" pitchFamily="34" charset="-122"/>
                <a:cs typeface="Fira Code" pitchFamily="34" charset="-120"/>
              </a:rPr>
              <a:t>home.csv # hourly </a:t>
            </a:r>
            <a:r>
              <a:rPr lang="en-US" sz="850" dirty="0" err="1" smtClean="0">
                <a:solidFill>
                  <a:srgbClr val="FCC642"/>
                </a:solidFill>
                <a:latin typeface="Fira Code" pitchFamily="34" charset="0"/>
                <a:ea typeface="Fira Code" pitchFamily="34" charset="-122"/>
                <a:cs typeface="Fira Code" pitchFamily="34" charset="-120"/>
              </a:rPr>
              <a:t>pv</a:t>
            </a:r>
            <a:r>
              <a:rPr lang="en-US" sz="850" dirty="0" smtClean="0">
                <a:solidFill>
                  <a:srgbClr val="FCC642"/>
                </a:solidFill>
                <a:latin typeface="Fira Code" pitchFamily="34" charset="0"/>
                <a:ea typeface="Fira Code" pitchFamily="34" charset="-122"/>
                <a:cs typeface="Fira Code" pitchFamily="34" charset="-120"/>
              </a:rPr>
              <a:t> + demand, kWh</a:t>
            </a:r>
            <a:endParaRPr lang="en-US" sz="850" dirty="0"/>
          </a:p>
          <a:p>
            <a:pPr marL="0" indent="0">
              <a:lnSpc>
                <a:spcPts val="1350"/>
              </a:lnSpc>
              <a:buNone/>
            </a:pPr>
            <a:r>
              <a:rPr lang="en-US" sz="850" dirty="0" smtClean="0">
                <a:solidFill>
                  <a:srgbClr val="72D9F0"/>
                </a:solidFill>
                <a:latin typeface="Fira Code" pitchFamily="34" charset="0"/>
                <a:ea typeface="Fira Code" pitchFamily="34" charset="-122"/>
                <a:cs typeface="Fira Code" pitchFamily="34" charset="-120"/>
              </a:rPr>
              <a:t>output </a:t>
            </a:r>
            <a:r>
              <a:rPr lang="en-US" sz="850" dirty="0" smtClean="0">
                <a:solidFill>
                  <a:srgbClr val="E7E7E7"/>
                </a:solidFill>
                <a:latin typeface="Fira Code" pitchFamily="34" charset="0"/>
                <a:ea typeface="Fira Code" pitchFamily="34" charset="-122"/>
                <a:cs typeface="Fira Code" pitchFamily="34" charset="-120"/>
              </a:rPr>
              <a:t>= </a:t>
            </a:r>
            <a:r>
              <a:rPr lang="en-US" sz="850" dirty="0" smtClean="0">
                <a:solidFill>
                  <a:srgbClr val="FCC642"/>
                </a:solidFill>
                <a:latin typeface="Fira Code" pitchFamily="34" charset="0"/>
                <a:ea typeface="Fira Code" pitchFamily="34" charset="-122"/>
                <a:cs typeface="Fira Code" pitchFamily="34" charset="-120"/>
              </a:rPr>
              <a:t>self_cons_%, </a:t>
            </a:r>
            <a:r>
              <a:rPr lang="en-US" sz="850" dirty="0" err="1" smtClean="0">
                <a:solidFill>
                  <a:srgbClr val="FCC642"/>
                </a:solidFill>
                <a:latin typeface="Fira Code" pitchFamily="34" charset="0"/>
                <a:ea typeface="Fira Code" pitchFamily="34" charset="-122"/>
                <a:cs typeface="Fira Code" pitchFamily="34" charset="-120"/>
              </a:rPr>
              <a:t>self_suff</a:t>
            </a:r>
            <a:r>
              <a:rPr lang="en-US" sz="850" dirty="0" smtClean="0">
                <a:solidFill>
                  <a:srgbClr val="FCC642"/>
                </a:solidFill>
                <a:latin typeface="Fira Code" pitchFamily="34" charset="0"/>
                <a:ea typeface="Fira Code" pitchFamily="34" charset="-122"/>
                <a:cs typeface="Fira Code" pitchFamily="34" charset="-120"/>
              </a:rPr>
              <a:t>_%, </a:t>
            </a:r>
            <a:r>
              <a:rPr lang="en-US" sz="850" dirty="0" err="1" smtClean="0">
                <a:solidFill>
                  <a:srgbClr val="FCC642"/>
                </a:solidFill>
                <a:latin typeface="Fira Code" pitchFamily="34" charset="0"/>
                <a:ea typeface="Fira Code" pitchFamily="34" charset="-122"/>
                <a:cs typeface="Fira Code" pitchFamily="34" charset="-120"/>
              </a:rPr>
              <a:t>bill_£</a:t>
            </a:r>
            <a:endParaRPr lang="en-US" sz="850" dirty="0" smtClean="0"/>
          </a:p>
          <a:p>
            <a:pPr marL="0" indent="0">
              <a:lnSpc>
                <a:spcPts val="1350"/>
              </a:lnSpc>
              <a:buNone/>
            </a:pPr>
            <a:r>
              <a:rPr lang="en-US" sz="850" dirty="0" smtClean="0">
                <a:solidFill>
                  <a:srgbClr val="72D9F0"/>
                </a:solidFill>
                <a:latin typeface="Fira Code" pitchFamily="34" charset="0"/>
                <a:ea typeface="Fira Code" pitchFamily="34" charset="-122"/>
                <a:cs typeface="Fira Code" pitchFamily="34" charset="-120"/>
              </a:rPr>
              <a:t>time   </a:t>
            </a:r>
            <a:r>
              <a:rPr lang="en-US" sz="850" dirty="0">
                <a:solidFill>
                  <a:srgbClr val="E7E7E7"/>
                </a:solidFill>
                <a:latin typeface="Fira Code" pitchFamily="34" charset="0"/>
                <a:ea typeface="Fira Code" pitchFamily="34" charset="-122"/>
                <a:cs typeface="Fira Code" pitchFamily="34" charset="-120"/>
              </a:rPr>
              <a:t>= </a:t>
            </a:r>
            <a:r>
              <a:rPr lang="en-US" sz="850" dirty="0" smtClean="0">
                <a:solidFill>
                  <a:srgbClr val="A5CF27"/>
                </a:solidFill>
                <a:latin typeface="Fira Code" pitchFamily="34" charset="0"/>
                <a:ea typeface="Fira Code" pitchFamily="34" charset="-122"/>
                <a:cs typeface="Fira Code" pitchFamily="34" charset="-120"/>
              </a:rPr>
              <a:t>15</a:t>
            </a:r>
            <a:r>
              <a:rPr lang="en-US" sz="850" dirty="0" smtClean="0">
                <a:solidFill>
                  <a:srgbClr val="707070"/>
                </a:solidFill>
                <a:latin typeface="Fira Code" pitchFamily="34" charset="0"/>
                <a:ea typeface="Fira Code" pitchFamily="34" charset="-122"/>
                <a:cs typeface="Fira Code" pitchFamily="34" charset="-120"/>
              </a:rPr>
              <a:t> </a:t>
            </a:r>
            <a:r>
              <a:rPr lang="en-US" sz="850" dirty="0">
                <a:solidFill>
                  <a:srgbClr val="707070"/>
                </a:solidFill>
                <a:latin typeface="Fira Code" pitchFamily="34" charset="0"/>
                <a:ea typeface="Fira Code" pitchFamily="34" charset="-122"/>
                <a:cs typeface="Fira Code" pitchFamily="34" charset="-120"/>
              </a:rPr>
              <a:t># minutes</a:t>
            </a:r>
            <a:endParaRPr lang="en-US" sz="850" dirty="0"/>
          </a:p>
          <a:p>
            <a:pPr marL="0" indent="0">
              <a:lnSpc>
                <a:spcPts val="1350"/>
              </a:lnSpc>
              <a:buNone/>
            </a:pPr>
            <a:r>
              <a:rPr lang="en-US" sz="850" dirty="0">
                <a:solidFill>
                  <a:srgbClr val="72D9F0"/>
                </a:solidFill>
                <a:latin typeface="Fira Code" pitchFamily="34" charset="0"/>
                <a:ea typeface="Fira Code" pitchFamily="34" charset="-122"/>
                <a:cs typeface="Fira Code" pitchFamily="34" charset="-120"/>
              </a:rPr>
              <a:t>roles  </a:t>
            </a:r>
            <a:r>
              <a:rPr lang="en-US" sz="850" dirty="0">
                <a:solidFill>
                  <a:srgbClr val="E7E7E7"/>
                </a:solidFill>
                <a:latin typeface="Fira Code" pitchFamily="34" charset="0"/>
                <a:ea typeface="Fira Code" pitchFamily="34" charset="-122"/>
                <a:cs typeface="Fira Code" pitchFamily="34" charset="-120"/>
              </a:rPr>
              <a:t>= </a:t>
            </a:r>
            <a:r>
              <a:rPr lang="en-US" sz="850" dirty="0">
                <a:solidFill>
                  <a:srgbClr val="FCC642"/>
                </a:solidFill>
                <a:latin typeface="Fira Code" pitchFamily="34" charset="0"/>
                <a:ea typeface="Fira Code" pitchFamily="34" charset="-122"/>
                <a:cs typeface="Fira Code" pitchFamily="34" charset="-120"/>
              </a:rPr>
              <a:t>Modeller · Reviewer · Reporter</a:t>
            </a:r>
            <a:endParaRPr lang="en-US" sz="850" dirty="0"/>
          </a:p>
          <a:p>
            <a:pPr marL="0" indent="0">
              <a:lnSpc>
                <a:spcPts val="1350"/>
              </a:lnSpc>
              <a:buNone/>
            </a:pPr>
            <a:r>
              <a:rPr lang="en-US" sz="850" dirty="0">
                <a:solidFill>
                  <a:srgbClr val="72D9F0"/>
                </a:solidFill>
                <a:latin typeface="Fira Code" pitchFamily="34" charset="0"/>
                <a:ea typeface="Fira Code" pitchFamily="34" charset="-122"/>
                <a:cs typeface="Fira Code" pitchFamily="34" charset="-120"/>
              </a:rPr>
              <a:t>stretch</a:t>
            </a:r>
            <a:r>
              <a:rPr lang="en-US" sz="850" dirty="0">
                <a:solidFill>
                  <a:srgbClr val="E7E7E7"/>
                </a:solidFill>
                <a:latin typeface="Fira Code" pitchFamily="34" charset="0"/>
                <a:ea typeface="Fira Code" pitchFamily="34" charset="-122"/>
                <a:cs typeface="Fira Code" pitchFamily="34" charset="-120"/>
              </a:rPr>
              <a:t>= </a:t>
            </a:r>
            <a:r>
              <a:rPr lang="en-US" sz="850" dirty="0">
                <a:solidFill>
                  <a:srgbClr val="FCC642"/>
                </a:solidFill>
                <a:latin typeface="Fira Code" pitchFamily="34" charset="0"/>
                <a:ea typeface="Fira Code" pitchFamily="34" charset="-122"/>
                <a:cs typeface="Fira Code" pitchFamily="34" charset="-120"/>
              </a:rPr>
              <a:t>battery sizes 0 to 15 kWh</a:t>
            </a:r>
            <a:endParaRPr lang="en-US" sz="85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ma14="http://schemas.microsoft.com/office/mac/drawingml/2011/main" xmlns=""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16</a:t>
            </a:fld>
            <a:endParaRPr lang="en-US"/>
          </a:p>
        </p:txBody>
      </p:sp>
      <p:pic>
        <p:nvPicPr>
          <p:cNvPr id="14" name="Google Shape;301;p36"/>
          <p:cNvPicPr preferRelativeResize="0"/>
          <p:nvPr/>
        </p:nvPicPr>
        <p:blipFill>
          <a:blip r:embed="rId3">
            <a:alphaModFix/>
          </a:blip>
          <a:stretch>
            <a:fillRect/>
          </a:stretch>
        </p:blipFill>
        <p:spPr>
          <a:xfrm>
            <a:off x="318053" y="1046922"/>
            <a:ext cx="4124550" cy="3054616"/>
          </a:xfrm>
          <a:prstGeom prst="rect">
            <a:avLst/>
          </a:prstGeom>
          <a:noFill/>
          <a:ln>
            <a:noFill/>
          </a:ln>
          <a:effectLst>
            <a:outerShdw blurRad="128588" dist="19050" dir="5400000" algn="bl" rotWithShape="0">
              <a:schemeClr val="accent4"/>
            </a:outerShdw>
          </a:effectLst>
        </p:spPr>
      </p:pic>
    </p:spTree>
    <p:extLst>
      <p:ext uri="{BB962C8B-B14F-4D97-AF65-F5344CB8AC3E}">
        <p14:creationId xmlns:p14="http://schemas.microsoft.com/office/powerpoint/2010/main" val="16637530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report</a:t>
            </a:r>
            <a:r>
              <a:rPr lang="en-US" sz="1100" dirty="0">
                <a:solidFill>
                  <a:srgbClr val="E7E7E7"/>
                </a:solidFill>
                <a:latin typeface="Fira Code" pitchFamily="34" charset="0"/>
                <a:ea typeface="Fira Code" pitchFamily="34" charset="-122"/>
                <a:cs typeface="Fira Code" pitchFamily="34" charset="-120"/>
              </a:rPr>
              <a:t>(results):</a:t>
            </a:r>
            <a:endParaRPr lang="en-US" sz="1100" dirty="0"/>
          </a:p>
        </p:txBody>
      </p:sp>
      <p:sp>
        <p:nvSpPr>
          <p:cNvPr id="3" name="Text 22"/>
          <p:cNvSpPr>
            <a:spLocks noGrp="1"/>
          </p:cNvSpPr>
          <p:nvPr>
            <p:ph type="title" idx="123" hasCustomPrompt="1"/>
          </p:nvPr>
        </p:nvSpPr>
        <p:spPr>
          <a:xfrm>
            <a:off x="685800" y="768096"/>
            <a:ext cx="7863840" cy="749808"/>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Record your group's results as you go</a:t>
            </a:r>
            <a:endParaRPr lang="en-US" sz="2200" dirty="0"/>
          </a:p>
        </p:txBody>
      </p:sp>
      <p:sp>
        <p:nvSpPr>
          <p:cNvPr id="4" name="Text 2"/>
          <p:cNvSpPr txBox="1"/>
          <p:nvPr/>
        </p:nvSpPr>
        <p:spPr>
          <a:xfrm>
            <a:off x="731520" y="1691640"/>
            <a:ext cx="640080" cy="457200"/>
          </a:xfrm>
          <a:prstGeom prst="rect">
            <a:avLst/>
          </a:prstGeom>
          <a:noFill/>
          <a:ln/>
        </p:spPr>
        <p:txBody>
          <a:bodyPr wrap="square" lIns="0" tIns="0" rIns="0" bIns="0" rtlCol="0" anchor="t"/>
          <a:lstStyle/>
          <a:p>
            <a:pPr marL="0" indent="0">
              <a:buNone/>
            </a:pPr>
            <a:r>
              <a:rPr lang="en-US" sz="2200" b="1" dirty="0">
                <a:solidFill>
                  <a:srgbClr val="FCC642"/>
                </a:solidFill>
                <a:latin typeface="Fira Code" pitchFamily="34" charset="0"/>
                <a:ea typeface="Fira Code" pitchFamily="34" charset="-122"/>
                <a:cs typeface="Fira Code" pitchFamily="34" charset="-120"/>
              </a:rPr>
              <a:t>01</a:t>
            </a:r>
            <a:endParaRPr lang="en-US" sz="2200" dirty="0"/>
          </a:p>
        </p:txBody>
      </p:sp>
      <p:sp>
        <p:nvSpPr>
          <p:cNvPr id="5" name="Text 3"/>
          <p:cNvSpPr txBox="1"/>
          <p:nvPr/>
        </p:nvSpPr>
        <p:spPr>
          <a:xfrm>
            <a:off x="1417320" y="1719072"/>
            <a:ext cx="4206240" cy="731520"/>
          </a:xfrm>
          <a:prstGeom prst="rect">
            <a:avLst/>
          </a:prstGeom>
          <a:noFill/>
          <a:ln/>
        </p:spPr>
        <p:txBody>
          <a:bodyPr wrap="square" lIns="0" tIns="0" rIns="0" bIns="0" rtlCol="0" anchor="t"/>
          <a:lstStyle/>
          <a:p>
            <a:pPr marL="0" indent="0">
              <a:buNone/>
            </a:pPr>
            <a:r>
              <a:rPr lang="en-US" sz="1300" dirty="0">
                <a:solidFill>
                  <a:srgbClr val="E7E7E7"/>
                </a:solidFill>
                <a:latin typeface="Fira Sans" pitchFamily="34" charset="0"/>
                <a:ea typeface="Fira Sans" pitchFamily="34" charset="-122"/>
                <a:cs typeface="Fira Sans" pitchFamily="34" charset="-120"/>
              </a:rPr>
              <a:t>One response per group. The Reporter scans the code and keeps the form open on one phone.</a:t>
            </a:r>
            <a:endParaRPr lang="en-US" sz="1300" dirty="0"/>
          </a:p>
        </p:txBody>
      </p:sp>
      <p:sp>
        <p:nvSpPr>
          <p:cNvPr id="6" name="Text 4"/>
          <p:cNvSpPr txBox="1"/>
          <p:nvPr/>
        </p:nvSpPr>
        <p:spPr>
          <a:xfrm>
            <a:off x="731520" y="2560320"/>
            <a:ext cx="640080" cy="457200"/>
          </a:xfrm>
          <a:prstGeom prst="rect">
            <a:avLst/>
          </a:prstGeom>
          <a:noFill/>
          <a:ln/>
        </p:spPr>
        <p:txBody>
          <a:bodyPr wrap="square" lIns="0" tIns="0" rIns="0" bIns="0" rtlCol="0" anchor="t"/>
          <a:lstStyle/>
          <a:p>
            <a:pPr marL="0" indent="0">
              <a:buNone/>
            </a:pPr>
            <a:r>
              <a:rPr lang="en-US" sz="2200" b="1" dirty="0">
                <a:solidFill>
                  <a:srgbClr val="A5CF27"/>
                </a:solidFill>
                <a:latin typeface="Fira Code" pitchFamily="34" charset="0"/>
                <a:ea typeface="Fira Code" pitchFamily="34" charset="-122"/>
                <a:cs typeface="Fira Code" pitchFamily="34" charset="-120"/>
              </a:rPr>
              <a:t>02</a:t>
            </a:r>
            <a:endParaRPr lang="en-US" sz="2200" dirty="0"/>
          </a:p>
        </p:txBody>
      </p:sp>
      <p:sp>
        <p:nvSpPr>
          <p:cNvPr id="7" name="Text 5"/>
          <p:cNvSpPr txBox="1"/>
          <p:nvPr/>
        </p:nvSpPr>
        <p:spPr>
          <a:xfrm>
            <a:off x="1417320" y="2587752"/>
            <a:ext cx="4206240" cy="731520"/>
          </a:xfrm>
          <a:prstGeom prst="rect">
            <a:avLst/>
          </a:prstGeom>
          <a:noFill/>
          <a:ln/>
        </p:spPr>
        <p:txBody>
          <a:bodyPr wrap="square" lIns="0" tIns="0" rIns="0" bIns="0" rtlCol="0" anchor="t"/>
          <a:lstStyle/>
          <a:p>
            <a:pPr marL="0" indent="0">
              <a:buNone/>
            </a:pPr>
            <a:r>
              <a:rPr lang="en-US" sz="1300" dirty="0">
                <a:solidFill>
                  <a:srgbClr val="E7E7E7"/>
                </a:solidFill>
                <a:latin typeface="Fira Sans" pitchFamily="34" charset="0"/>
                <a:ea typeface="Fira Sans" pitchFamily="34" charset="-122"/>
                <a:cs typeface="Fira Sans" pitchFamily="34" charset="-120"/>
              </a:rPr>
              <a:t>Questions 2 and 5 are predictions: answer them before you run the matching cell.</a:t>
            </a:r>
            <a:endParaRPr lang="en-US" sz="1300" dirty="0"/>
          </a:p>
        </p:txBody>
      </p:sp>
      <p:sp>
        <p:nvSpPr>
          <p:cNvPr id="8" name="Text 6"/>
          <p:cNvSpPr txBox="1"/>
          <p:nvPr/>
        </p:nvSpPr>
        <p:spPr>
          <a:xfrm>
            <a:off x="731520" y="3429000"/>
            <a:ext cx="640080" cy="457200"/>
          </a:xfrm>
          <a:prstGeom prst="rect">
            <a:avLst/>
          </a:prstGeom>
          <a:noFill/>
          <a:ln/>
        </p:spPr>
        <p:txBody>
          <a:bodyPr wrap="square" lIns="0" tIns="0" rIns="0" bIns="0" rtlCol="0" anchor="t"/>
          <a:lstStyle/>
          <a:p>
            <a:pPr marL="0" indent="0">
              <a:buNone/>
            </a:pPr>
            <a:r>
              <a:rPr lang="en-US" sz="2200" b="1" dirty="0">
                <a:solidFill>
                  <a:srgbClr val="FF5858"/>
                </a:solidFill>
                <a:latin typeface="Fira Code" pitchFamily="34" charset="0"/>
                <a:ea typeface="Fira Code" pitchFamily="34" charset="-122"/>
                <a:cs typeface="Fira Code" pitchFamily="34" charset="-120"/>
              </a:rPr>
              <a:t>03</a:t>
            </a:r>
            <a:endParaRPr lang="en-US" sz="2200" dirty="0"/>
          </a:p>
        </p:txBody>
      </p:sp>
      <p:sp>
        <p:nvSpPr>
          <p:cNvPr id="9" name="Text 7"/>
          <p:cNvSpPr txBox="1"/>
          <p:nvPr/>
        </p:nvSpPr>
        <p:spPr>
          <a:xfrm>
            <a:off x="1417320" y="3456432"/>
            <a:ext cx="4206240" cy="731520"/>
          </a:xfrm>
          <a:prstGeom prst="rect">
            <a:avLst/>
          </a:prstGeom>
          <a:noFill/>
          <a:ln/>
        </p:spPr>
        <p:txBody>
          <a:bodyPr wrap="square" lIns="0" tIns="0" rIns="0" bIns="0" rtlCol="0" anchor="t"/>
          <a:lstStyle/>
          <a:p>
            <a:r>
              <a:rPr lang="en-US" sz="1300" dirty="0" smtClean="0">
                <a:solidFill>
                  <a:srgbClr val="E7E7E7"/>
                </a:solidFill>
                <a:latin typeface="Fira Sans" pitchFamily="34" charset="0"/>
                <a:ea typeface="Fira Sans" pitchFamily="34" charset="-122"/>
                <a:cs typeface="Fira Sans" pitchFamily="34" charset="-120"/>
              </a:rPr>
              <a:t>Questions 1 to 4 are Task 1 and 5 to 10 are Task 2. Task 3 is compared in class, not on the form.</a:t>
            </a:r>
            <a:endParaRPr lang="en-US" sz="1300" dirty="0"/>
          </a:p>
        </p:txBody>
      </p:sp>
      <p:sp>
        <p:nvSpPr>
          <p:cNvPr id="10" name="QR placeholder"/>
          <p:cNvSpPr/>
          <p:nvPr/>
        </p:nvSpPr>
        <p:spPr>
          <a:xfrm>
            <a:off x="6263640" y="1691640"/>
            <a:ext cx="2286000" cy="2286000"/>
          </a:xfrm>
          <a:prstGeom prst="rect">
            <a:avLst/>
          </a:prstGeom>
          <a:solidFill>
            <a:srgbClr val="16191F"/>
          </a:solidFill>
          <a:ln w="9525">
            <a:solidFill>
              <a:srgbClr val="3E434E"/>
            </a:solidFill>
            <a:prstDash val="dash"/>
          </a:ln>
        </p:spPr>
      </p:sp>
      <p:sp>
        <p:nvSpPr>
          <p:cNvPr id="11" name="Text 9"/>
          <p:cNvSpPr txBox="1"/>
          <p:nvPr/>
        </p:nvSpPr>
        <p:spPr>
          <a:xfrm>
            <a:off x="6263640" y="1691640"/>
            <a:ext cx="2286000" cy="2286000"/>
          </a:xfrm>
          <a:prstGeom prst="rect">
            <a:avLst/>
          </a:prstGeom>
          <a:noFill/>
          <a:ln/>
        </p:spPr>
        <p:txBody>
          <a:bodyPr wrap="square" lIns="0" tIns="0" rIns="0" bIns="0" rtlCol="0" anchor="ctr"/>
          <a:lstStyle/>
          <a:p>
            <a:pPr marL="0" indent="0" algn="ctr">
              <a:buNone/>
            </a:pPr>
            <a:r>
              <a:rPr lang="en-US" sz="1200" dirty="0">
                <a:solidFill>
                  <a:srgbClr val="FF5858"/>
                </a:solidFill>
                <a:latin typeface="Fira Code" pitchFamily="34" charset="0"/>
                <a:ea typeface="Fira Code" pitchFamily="34" charset="-122"/>
                <a:cs typeface="Fira Code" pitchFamily="34" charset="-120"/>
              </a:rPr>
              <a:t>results</a:t>
            </a:r>
            <a:r>
              <a:rPr lang="en-US" sz="1200" dirty="0">
                <a:solidFill>
                  <a:srgbClr val="E7E7E7"/>
                </a:solidFill>
                <a:latin typeface="Fira Code" pitchFamily="34" charset="0"/>
                <a:ea typeface="Fira Code" pitchFamily="34" charset="-122"/>
                <a:cs typeface="Fira Code" pitchFamily="34" charset="-120"/>
              </a:rPr>
              <a:t>()</a:t>
            </a:r>
            <a:endParaRPr lang="en-US" sz="1200" dirty="0"/>
          </a:p>
          <a:p>
            <a:pPr marL="0" indent="0" algn="ctr">
              <a:buNone/>
            </a:pPr>
            <a:r>
              <a:rPr lang="en-US" sz="1200" dirty="0">
                <a:solidFill>
                  <a:srgbClr val="707070"/>
                </a:solidFill>
                <a:latin typeface="Fira Code" pitchFamily="34" charset="0"/>
                <a:ea typeface="Fira Code" pitchFamily="34" charset="-122"/>
                <a:cs typeface="Fira Code" pitchFamily="34" charset="-120"/>
              </a:rPr>
              <a:t>[ QR code ]</a:t>
            </a:r>
            <a:endParaRPr lang="en-US" sz="1200" dirty="0"/>
          </a:p>
        </p:txBody>
      </p:sp>
      <p:sp>
        <p:nvSpPr>
          <p:cNvPr id="12" name="Text 10"/>
          <p:cNvSpPr txBox="1"/>
          <p:nvPr/>
        </p:nvSpPr>
        <p:spPr>
          <a:xfrm>
            <a:off x="6263640" y="4041648"/>
            <a:ext cx="2286000" cy="228600"/>
          </a:xfrm>
          <a:prstGeom prst="rect">
            <a:avLst/>
          </a:prstGeom>
          <a:noFill/>
          <a:ln/>
        </p:spPr>
        <p:txBody>
          <a:bodyPr wrap="square" lIns="0" tIns="0" rIns="0" bIns="0" rtlCol="0" anchor="ctr"/>
          <a:lstStyle/>
          <a:p>
            <a:pPr marL="0" indent="0" algn="ctr">
              <a:buNone/>
            </a:pPr>
            <a:r>
              <a:rPr lang="en-US" sz="950" dirty="0">
                <a:solidFill>
                  <a:srgbClr val="A9AFBA"/>
                </a:solidFill>
                <a:latin typeface="Fira Sans" pitchFamily="34" charset="0"/>
                <a:ea typeface="Fira Sans" pitchFamily="34" charset="-122"/>
                <a:cs typeface="Fira Sans" pitchFamily="34" charset="-120"/>
              </a:rPr>
              <a:t>Scan to open the group results form</a:t>
            </a:r>
            <a:endParaRPr lang="en-US" sz="95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ma14="http://schemas.microsoft.com/office/mac/drawingml/2011/main" xmlns=""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17</a:t>
            </a:fld>
            <a:endParaRPr lang="en-US"/>
          </a:p>
        </p:txBody>
      </p:sp>
      <p:pic>
        <p:nvPicPr>
          <p:cNvPr id="14" name="Picture 13"/>
          <p:cNvPicPr>
            <a:picLocks noChangeAspect="1"/>
          </p:cNvPicPr>
          <p:nvPr/>
        </p:nvPicPr>
        <p:blipFill>
          <a:blip r:embed="rId3"/>
          <a:stretch>
            <a:fillRect/>
          </a:stretch>
        </p:blipFill>
        <p:spPr>
          <a:xfrm>
            <a:off x="6263640" y="1691641"/>
            <a:ext cx="2286000" cy="2286000"/>
          </a:xfrm>
          <a:prstGeom prst="rect">
            <a:avLst/>
          </a:prstGeom>
        </p:spPr>
      </p:pic>
    </p:spTree>
    <p:extLst>
      <p:ext uri="{BB962C8B-B14F-4D97-AF65-F5344CB8AC3E}">
        <p14:creationId xmlns:p14="http://schemas.microsoft.com/office/powerpoint/2010/main" val="14037273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result</a:t>
            </a:r>
            <a:r>
              <a:rPr lang="en-US" sz="1100" dirty="0">
                <a:solidFill>
                  <a:srgbClr val="E7E7E7"/>
                </a:solidFill>
                <a:latin typeface="Fira Code" pitchFamily="34" charset="0"/>
                <a:ea typeface="Fira Code" pitchFamily="34" charset="-122"/>
                <a:cs typeface="Fira Code" pitchFamily="34" charset="-120"/>
              </a:rPr>
              <a:t>(</a:t>
            </a:r>
            <a:r>
              <a:rPr lang="en-US" sz="1100" dirty="0">
                <a:solidFill>
                  <a:srgbClr val="FCC642"/>
                </a:solidFill>
                <a:latin typeface="Fira Code" pitchFamily="34" charset="0"/>
                <a:ea typeface="Fira Code" pitchFamily="34" charset="-122"/>
                <a:cs typeface="Fira Code" pitchFamily="34" charset="-120"/>
              </a:rPr>
              <a:t>task_01</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749808"/>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The battery shifts midday solar into the evening peak, cutting grid imports</a:t>
            </a:r>
            <a:endParaRPr lang="en-US" sz="2200" dirty="0"/>
          </a:p>
        </p:txBody>
      </p:sp>
      <p:graphicFrame>
        <p:nvGraphicFramePr>
          <p:cNvPr id="4" name="Chart 0"/>
          <p:cNvGraphicFramePr/>
          <p:nvPr/>
        </p:nvGraphicFramePr>
        <p:xfrm>
          <a:off x="640080" y="1600200"/>
          <a:ext cx="576072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720840" y="1691640"/>
            <a:ext cx="2011680" cy="228600"/>
          </a:xfrm>
          <a:prstGeom prst="rect">
            <a:avLst/>
          </a:prstGeom>
          <a:noFill/>
          <a:ln/>
        </p:spPr>
        <p:txBody>
          <a:bodyPr wrap="square" lIns="0" tIns="0" rIns="0" bIns="0" rtlCol="0" anchor="ctr"/>
          <a:lstStyle/>
          <a:p>
            <a:pPr marL="0" indent="0">
              <a:buNone/>
            </a:pPr>
            <a:r>
              <a:rPr lang="en-US" sz="900" dirty="0">
                <a:solidFill>
                  <a:srgbClr val="A9AFBA"/>
                </a:solidFill>
                <a:latin typeface="Fira Code" pitchFamily="34" charset="0"/>
                <a:ea typeface="Fira Code" pitchFamily="34" charset="-122"/>
                <a:cs typeface="Fira Code" pitchFamily="34" charset="-120"/>
              </a:rPr>
              <a:t>no_battery</a:t>
            </a:r>
            <a:endParaRPr lang="en-US" sz="900" dirty="0"/>
          </a:p>
        </p:txBody>
      </p:sp>
      <p:sp>
        <p:nvSpPr>
          <p:cNvPr id="6" name="Text 3"/>
          <p:cNvSpPr txBox="1"/>
          <p:nvPr/>
        </p:nvSpPr>
        <p:spPr>
          <a:xfrm>
            <a:off x="6720840" y="1920240"/>
            <a:ext cx="2011680" cy="548640"/>
          </a:xfrm>
          <a:prstGeom prst="rect">
            <a:avLst/>
          </a:prstGeom>
          <a:noFill/>
          <a:ln/>
        </p:spPr>
        <p:txBody>
          <a:bodyPr wrap="square" lIns="0" tIns="0" rIns="0" bIns="0" rtlCol="0" anchor="ctr"/>
          <a:lstStyle/>
          <a:p>
            <a:pPr marL="0" indent="0">
              <a:buNone/>
            </a:pPr>
            <a:r>
              <a:rPr lang="en-US" sz="3200" b="1" dirty="0">
                <a:solidFill>
                  <a:srgbClr val="A9AFBA"/>
                </a:solidFill>
                <a:latin typeface="Fira Code" pitchFamily="34" charset="0"/>
                <a:ea typeface="Fira Code" pitchFamily="34" charset="-122"/>
                <a:cs typeface="Fira Code" pitchFamily="34" charset="-120"/>
              </a:rPr>
              <a:t>39%</a:t>
            </a:r>
            <a:endParaRPr lang="en-US" sz="3200" dirty="0"/>
          </a:p>
        </p:txBody>
      </p:sp>
      <p:sp>
        <p:nvSpPr>
          <p:cNvPr id="7" name="Text 4"/>
          <p:cNvSpPr txBox="1"/>
          <p:nvPr/>
        </p:nvSpPr>
        <p:spPr>
          <a:xfrm>
            <a:off x="6720840" y="2468880"/>
            <a:ext cx="2011680" cy="274320"/>
          </a:xfrm>
          <a:prstGeom prst="rect">
            <a:avLst/>
          </a:prstGeom>
          <a:noFill/>
          <a:ln/>
        </p:spPr>
        <p:txBody>
          <a:bodyPr wrap="square" lIns="0" tIns="0" rIns="0" bIns="0" rtlCol="0" anchor="ctr"/>
          <a:lstStyle/>
          <a:p>
            <a:pPr marL="0" indent="0">
              <a:buNone/>
            </a:pPr>
            <a:r>
              <a:rPr lang="en-US" sz="950" dirty="0">
                <a:solidFill>
                  <a:srgbClr val="A9AFBA"/>
                </a:solidFill>
                <a:latin typeface="Fira Sans" pitchFamily="34" charset="0"/>
                <a:ea typeface="Fira Sans" pitchFamily="34" charset="-122"/>
                <a:cs typeface="Fira Sans" pitchFamily="34" charset="-120"/>
              </a:rPr>
              <a:t>self-sufficiency over the year</a:t>
            </a:r>
            <a:endParaRPr lang="en-US" sz="950" dirty="0"/>
          </a:p>
        </p:txBody>
      </p:sp>
      <p:sp>
        <p:nvSpPr>
          <p:cNvPr id="8" name="Text 5"/>
          <p:cNvSpPr txBox="1"/>
          <p:nvPr/>
        </p:nvSpPr>
        <p:spPr>
          <a:xfrm>
            <a:off x="6720840" y="2880360"/>
            <a:ext cx="2011680" cy="228600"/>
          </a:xfrm>
          <a:prstGeom prst="rect">
            <a:avLst/>
          </a:prstGeom>
          <a:noFill/>
          <a:ln/>
        </p:spPr>
        <p:txBody>
          <a:bodyPr wrap="square" lIns="0" tIns="0" rIns="0" bIns="0" rtlCol="0" anchor="ctr"/>
          <a:lstStyle/>
          <a:p>
            <a:pPr marL="0" indent="0">
              <a:buNone/>
            </a:pPr>
            <a:r>
              <a:rPr lang="en-US" sz="900" dirty="0">
                <a:solidFill>
                  <a:srgbClr val="A9AFBA"/>
                </a:solidFill>
                <a:latin typeface="Fira Code" pitchFamily="34" charset="0"/>
                <a:ea typeface="Fira Code" pitchFamily="34" charset="-122"/>
                <a:cs typeface="Fira Code" pitchFamily="34" charset="-120"/>
              </a:rPr>
              <a:t>battery = 5 kWh</a:t>
            </a:r>
            <a:endParaRPr lang="en-US" sz="900" dirty="0"/>
          </a:p>
        </p:txBody>
      </p:sp>
      <p:sp>
        <p:nvSpPr>
          <p:cNvPr id="9" name="Text 6"/>
          <p:cNvSpPr txBox="1"/>
          <p:nvPr/>
        </p:nvSpPr>
        <p:spPr>
          <a:xfrm>
            <a:off x="6720840" y="3108960"/>
            <a:ext cx="2011680" cy="548640"/>
          </a:xfrm>
          <a:prstGeom prst="rect">
            <a:avLst/>
          </a:prstGeom>
          <a:noFill/>
          <a:ln/>
        </p:spPr>
        <p:txBody>
          <a:bodyPr wrap="square" lIns="0" tIns="0" rIns="0" bIns="0" rtlCol="0" anchor="ctr"/>
          <a:lstStyle/>
          <a:p>
            <a:pPr marL="0" indent="0">
              <a:buNone/>
            </a:pPr>
            <a:r>
              <a:rPr lang="en-US" sz="3200" b="1" dirty="0">
                <a:solidFill>
                  <a:srgbClr val="A5CF27"/>
                </a:solidFill>
                <a:latin typeface="Fira Code" pitchFamily="34" charset="0"/>
                <a:ea typeface="Fira Code" pitchFamily="34" charset="-122"/>
                <a:cs typeface="Fira Code" pitchFamily="34" charset="-120"/>
              </a:rPr>
              <a:t>79%</a:t>
            </a:r>
            <a:endParaRPr lang="en-US" sz="3200" dirty="0"/>
          </a:p>
        </p:txBody>
      </p:sp>
      <p:sp>
        <p:nvSpPr>
          <p:cNvPr id="10" name="Text 7"/>
          <p:cNvSpPr txBox="1"/>
          <p:nvPr/>
        </p:nvSpPr>
        <p:spPr>
          <a:xfrm>
            <a:off x="6720840" y="3657600"/>
            <a:ext cx="2011680" cy="274320"/>
          </a:xfrm>
          <a:prstGeom prst="rect">
            <a:avLst/>
          </a:prstGeom>
          <a:noFill/>
          <a:ln/>
        </p:spPr>
        <p:txBody>
          <a:bodyPr wrap="square" lIns="0" tIns="0" rIns="0" bIns="0" rtlCol="0" anchor="ctr"/>
          <a:lstStyle/>
          <a:p>
            <a:pPr marL="0" indent="0">
              <a:buNone/>
            </a:pPr>
            <a:r>
              <a:rPr lang="en-US" sz="950" dirty="0">
                <a:solidFill>
                  <a:srgbClr val="A9AFBA"/>
                </a:solidFill>
                <a:latin typeface="Fira Sans" pitchFamily="34" charset="0"/>
                <a:ea typeface="Fira Sans" pitchFamily="34" charset="-122"/>
                <a:cs typeface="Fira Sans" pitchFamily="34" charset="-120"/>
              </a:rPr>
              <a:t>over the year, realistic battery</a:t>
            </a:r>
            <a:endParaRPr lang="en-US" sz="950" dirty="0"/>
          </a:p>
        </p:txBody>
      </p:sp>
      <p:sp>
        <p:nvSpPr>
          <p:cNvPr id="11" name="Text 8"/>
          <p:cNvSpPr txBox="1"/>
          <p:nvPr/>
        </p:nvSpPr>
        <p:spPr>
          <a:xfrm>
            <a:off x="731520" y="4407408"/>
            <a:ext cx="5486400" cy="201168"/>
          </a:xfrm>
          <a:prstGeom prst="rect">
            <a:avLst/>
          </a:prstGeom>
          <a:noFill/>
          <a:ln/>
        </p:spPr>
        <p:txBody>
          <a:bodyPr wrap="square" lIns="0" tIns="0" rIns="0" bIns="0" rtlCol="0" anchor="ctr"/>
          <a:lstStyle/>
          <a:p>
            <a:pPr marL="0" indent="0">
              <a:buNone/>
            </a:pPr>
            <a:r>
              <a:rPr lang="en-US" sz="800" dirty="0" smtClean="0">
                <a:solidFill>
                  <a:srgbClr val="707070"/>
                </a:solidFill>
                <a:ea typeface="Fira Sans" pitchFamily="34" charset="-122"/>
                <a:cs typeface="Fira Sans" pitchFamily="34" charset="-120"/>
              </a:rPr>
              <a:t>Chart: one illustrative summer </a:t>
            </a:r>
            <a:r>
              <a:rPr lang="en-US" sz="800" dirty="0">
                <a:solidFill>
                  <a:srgbClr val="707070"/>
                </a:solidFill>
                <a:ea typeface="Fira Sans" pitchFamily="34" charset="-122"/>
                <a:cs typeface="Fira Sans" pitchFamily="34" charset="-120"/>
              </a:rPr>
              <a:t>day. Figures: full year 2019; 4 kWp PV, 5 kWh / 3 kW battery</a:t>
            </a:r>
            <a:endParaRPr lang="en-US" sz="8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ma14="http://schemas.microsoft.com/office/mac/drawingml/2011/main" xmlns=""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18</a:t>
            </a:fld>
            <a:endParaRPr lang="en-US"/>
          </a:p>
        </p:txBody>
      </p:sp>
    </p:spTree>
    <p:extLst>
      <p:ext uri="{BB962C8B-B14F-4D97-AF65-F5344CB8AC3E}">
        <p14:creationId xmlns:p14="http://schemas.microsoft.com/office/powerpoint/2010/main" val="13654859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txBox="1"/>
          <p:nvPr/>
        </p:nvSpPr>
        <p:spPr>
          <a:xfrm>
            <a:off x="685800" y="457200"/>
            <a:ext cx="4114800" cy="274320"/>
          </a:xfrm>
          <a:prstGeom prst="rect">
            <a:avLst/>
          </a:prstGeom>
          <a:noFill/>
          <a:ln/>
        </p:spPr>
        <p:txBody>
          <a:bodyPr wrap="square" lIns="0" tIns="0" rIns="0" bIns="0" rtlCol="0" anchor="t"/>
          <a:lstStyle/>
          <a:p>
            <a:pPr marL="0" indent="0">
              <a:buNone/>
            </a:pPr>
            <a:r>
              <a:rPr lang="en-US" sz="1100" dirty="0">
                <a:solidFill>
                  <a:srgbClr val="FF5858"/>
                </a:solidFill>
                <a:latin typeface="Fira Code" pitchFamily="34" charset="0"/>
                <a:ea typeface="Fira Code" pitchFamily="34" charset="-122"/>
                <a:cs typeface="Fira Code" pitchFamily="34" charset="-120"/>
              </a:rPr>
              <a:t>task_02</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4" name="Text 1"/>
          <p:cNvSpPr txBox="1"/>
          <p:nvPr/>
        </p:nvSpPr>
        <p:spPr>
          <a:xfrm>
            <a:off x="685800" y="768096"/>
            <a:ext cx="4114800" cy="868680"/>
          </a:xfrm>
          <a:prstGeom prst="rect">
            <a:avLst/>
          </a:prstGeom>
          <a:noFill/>
          <a:ln/>
        </p:spPr>
        <p:txBody>
          <a:bodyPr wrap="square" lIns="0" tIns="0" rIns="0" bIns="0" rtlCol="0" anchor="t"/>
          <a:lstStyle/>
          <a:p>
            <a:pPr marL="0" indent="0">
              <a:buNone/>
            </a:pPr>
            <a:r>
              <a:rPr lang="en-US" sz="1700" b="1" dirty="0">
                <a:solidFill>
                  <a:srgbClr val="FFFFFF"/>
                </a:solidFill>
                <a:latin typeface="Fira Sans" pitchFamily="34" charset="0"/>
                <a:ea typeface="Fira Sans" pitchFamily="34" charset="-122"/>
                <a:cs typeface="Fira Sans" pitchFamily="34" charset="-120"/>
              </a:rPr>
              <a:t>What does a carbon price do to the clearing price and to emissions?</a:t>
            </a:r>
            <a:endParaRPr lang="en-US" sz="1700" dirty="0"/>
          </a:p>
        </p:txBody>
      </p:sp>
      <p:sp>
        <p:nvSpPr>
          <p:cNvPr id="5" name="Shape 2"/>
          <p:cNvSpPr/>
          <p:nvPr/>
        </p:nvSpPr>
        <p:spPr>
          <a:xfrm>
            <a:off x="685800" y="1737360"/>
            <a:ext cx="4114800" cy="457200"/>
          </a:xfrm>
          <a:prstGeom prst="rect">
            <a:avLst/>
          </a:prstGeom>
          <a:solidFill>
            <a:srgbClr val="16191F"/>
          </a:solidFill>
          <a:ln w="9525">
            <a:solidFill>
              <a:srgbClr val="3E434E"/>
            </a:solidFill>
            <a:prstDash val="solid"/>
          </a:ln>
        </p:spPr>
      </p:sp>
      <p:sp>
        <p:nvSpPr>
          <p:cNvPr id="6" name="Shape 3"/>
          <p:cNvSpPr/>
          <p:nvPr/>
        </p:nvSpPr>
        <p:spPr>
          <a:xfrm>
            <a:off x="685800" y="1737360"/>
            <a:ext cx="4114800" cy="457200"/>
          </a:xfrm>
          <a:prstGeom prst="rect">
            <a:avLst/>
          </a:prstGeom>
          <a:solidFill>
            <a:srgbClr val="A5CF27">
              <a:alpha val="12000"/>
            </a:srgbClr>
          </a:solidFill>
          <a:ln w="12700">
            <a:solidFill>
              <a:srgbClr val="A5CF27"/>
            </a:solidFill>
            <a:prstDash val="solid"/>
          </a:ln>
        </p:spPr>
      </p:sp>
      <p:sp>
        <p:nvSpPr>
          <p:cNvPr id="7" name="Text 4"/>
          <p:cNvSpPr txBox="1"/>
          <p:nvPr/>
        </p:nvSpPr>
        <p:spPr>
          <a:xfrm>
            <a:off x="804672" y="1737360"/>
            <a:ext cx="3931920" cy="457200"/>
          </a:xfrm>
          <a:prstGeom prst="rect">
            <a:avLst/>
          </a:prstGeom>
          <a:noFill/>
          <a:ln/>
        </p:spPr>
        <p:txBody>
          <a:bodyPr wrap="square" lIns="0" tIns="0" rIns="0" bIns="0" rtlCol="0" anchor="ctr"/>
          <a:lstStyle/>
          <a:p>
            <a:pPr marL="0" indent="0">
              <a:buNone/>
            </a:pPr>
            <a:r>
              <a:rPr lang="en-US" sz="900" dirty="0">
                <a:solidFill>
                  <a:srgbClr val="E7E7E7"/>
                </a:solidFill>
                <a:latin typeface="Fira Code" pitchFamily="34" charset="0"/>
                <a:ea typeface="Fira Code" pitchFamily="34" charset="-122"/>
                <a:cs typeface="Fira Code" pitchFamily="34" charset="-120"/>
              </a:rPr>
              <a:t>carbon_price = </a:t>
            </a:r>
            <a:r>
              <a:rPr lang="en-US" sz="900" dirty="0">
                <a:solidFill>
                  <a:srgbClr val="A5CF27"/>
                </a:solidFill>
                <a:latin typeface="Fira Code" pitchFamily="34" charset="0"/>
                <a:ea typeface="Fira Code" pitchFamily="34" charset="-122"/>
                <a:cs typeface="Fira Code" pitchFamily="34" charset="-120"/>
              </a:rPr>
              <a:t>80</a:t>
            </a:r>
            <a:r>
              <a:rPr lang="en-US" sz="900" dirty="0">
                <a:solidFill>
                  <a:srgbClr val="707070"/>
                </a:solidFill>
                <a:latin typeface="Fira Code" pitchFamily="34" charset="0"/>
                <a:ea typeface="Fira Code" pitchFamily="34" charset="-122"/>
                <a:cs typeface="Fira Code" pitchFamily="34" charset="-120"/>
              </a:rPr>
              <a:t>   # £/tCO₂ ← the only line you change</a:t>
            </a:r>
            <a:endParaRPr lang="en-US" sz="900" dirty="0"/>
          </a:p>
        </p:txBody>
      </p:sp>
      <p:sp>
        <p:nvSpPr>
          <p:cNvPr id="8" name="Text 5"/>
          <p:cNvSpPr txBox="1"/>
          <p:nvPr/>
        </p:nvSpPr>
        <p:spPr>
          <a:xfrm>
            <a:off x="685800" y="2377440"/>
            <a:ext cx="4114800" cy="123444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Predict the effect of £80/tCO₂ (form question 5)</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Run at £0, then £80; record peak price and CO₂</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Say which unit sets the peak price, and why it changed</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Run your group scenario (5.6); the Reporter submits</a:t>
            </a:r>
            <a:endParaRPr lang="en-US" sz="1150" dirty="0"/>
          </a:p>
        </p:txBody>
      </p:sp>
      <p:sp>
        <p:nvSpPr>
          <p:cNvPr id="9" name="Text 6"/>
          <p:cNvSpPr txBox="1"/>
          <p:nvPr/>
        </p:nvSpPr>
        <p:spPr>
          <a:xfrm>
            <a:off x="685800" y="3931920"/>
            <a:ext cx="4206240" cy="411480"/>
          </a:xfrm>
          <a:prstGeom prst="rect">
            <a:avLst/>
          </a:prstGeom>
          <a:noFill/>
          <a:ln/>
        </p:spPr>
        <p:txBody>
          <a:bodyPr wrap="square" lIns="0" tIns="0" rIns="0" bIns="0" rtlCol="0" anchor="t"/>
          <a:lstStyle/>
          <a:p>
            <a:pPr marL="0" indent="0">
              <a:buNone/>
            </a:pPr>
            <a:r>
              <a:rPr lang="en-US" sz="850" dirty="0">
                <a:solidFill>
                  <a:srgbClr val="72D9F0"/>
                </a:solidFill>
                <a:latin typeface="Fira Code" pitchFamily="34" charset="0"/>
                <a:ea typeface="Fira Code" pitchFamily="34" charset="-122"/>
                <a:cs typeface="Fira Code" pitchFamily="34" charset="-120"/>
              </a:rPr>
              <a:t>time = </a:t>
            </a:r>
            <a:r>
              <a:rPr lang="en-US" sz="850" dirty="0" smtClean="0">
                <a:solidFill>
                  <a:srgbClr val="A5CF27"/>
                </a:solidFill>
                <a:latin typeface="Fira Code" pitchFamily="34" charset="0"/>
                <a:ea typeface="Fira Code" pitchFamily="34" charset="-122"/>
                <a:cs typeface="Fira Code" pitchFamily="34" charset="-120"/>
              </a:rPr>
              <a:t>15</a:t>
            </a:r>
            <a:r>
              <a:rPr lang="en-US" sz="850" dirty="0" smtClean="0">
                <a:solidFill>
                  <a:srgbClr val="707070"/>
                </a:solidFill>
                <a:latin typeface="Fira Code" pitchFamily="34" charset="0"/>
                <a:ea typeface="Fira Code" pitchFamily="34" charset="-122"/>
                <a:cs typeface="Fira Code" pitchFamily="34" charset="-120"/>
              </a:rPr>
              <a:t> </a:t>
            </a:r>
            <a:r>
              <a:rPr lang="en-US" sz="850" dirty="0">
                <a:solidFill>
                  <a:srgbClr val="707070"/>
                </a:solidFill>
                <a:latin typeface="Fira Code" pitchFamily="34" charset="0"/>
                <a:ea typeface="Fira Code" pitchFamily="34" charset="-122"/>
                <a:cs typeface="Fira Code" pitchFamily="34" charset="-120"/>
              </a:rPr>
              <a:t># minutes · stretch: find the coal-to-gas switch price</a:t>
            </a:r>
            <a:endParaRPr lang="en-US" sz="85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ma14="http://schemas.microsoft.com/office/mac/drawingml/2011/main" xmlns=""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19</a:t>
            </a:fld>
            <a:endParaRPr lang="en-US"/>
          </a:p>
        </p:txBody>
      </p:sp>
      <p:pic>
        <p:nvPicPr>
          <p:cNvPr id="12" name="Google Shape;315;p37"/>
          <p:cNvPicPr preferRelativeResize="0"/>
          <p:nvPr/>
        </p:nvPicPr>
        <p:blipFill rotWithShape="1">
          <a:blip r:embed="rId3">
            <a:alphaModFix/>
          </a:blip>
          <a:srcRect/>
          <a:stretch/>
        </p:blipFill>
        <p:spPr>
          <a:xfrm>
            <a:off x="5612296" y="667657"/>
            <a:ext cx="2435875" cy="3741057"/>
          </a:xfrm>
          <a:prstGeom prst="rect">
            <a:avLst/>
          </a:prstGeom>
          <a:noFill/>
          <a:ln>
            <a:noFill/>
          </a:ln>
          <a:effectLst>
            <a:outerShdw blurRad="128588" dist="19050" dir="5400000" algn="bl" rotWithShape="0">
              <a:schemeClr val="accent4"/>
            </a:outerShdw>
          </a:effectLst>
        </p:spPr>
      </p:pic>
    </p:spTree>
    <p:extLst>
      <p:ext uri="{BB962C8B-B14F-4D97-AF65-F5344CB8AC3E}">
        <p14:creationId xmlns:p14="http://schemas.microsoft.com/office/powerpoint/2010/main" val="4843989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merit_order</a:t>
            </a:r>
            <a:r>
              <a:rPr lang="en-US" sz="1100" dirty="0">
                <a:solidFill>
                  <a:srgbClr val="E7E7E7"/>
                </a:solidFill>
                <a:latin typeface="Fira Code" pitchFamily="34" charset="0"/>
                <a:ea typeface="Fira Code" pitchFamily="34" charset="-122"/>
                <a:cs typeface="Fira Code" pitchFamily="34" charset="-120"/>
              </a:rPr>
              <a:t>(</a:t>
            </a:r>
            <a:r>
              <a:rPr lang="en-US" sz="1100" dirty="0">
                <a:solidFill>
                  <a:srgbClr val="FCC642"/>
                </a:solidFill>
                <a:latin typeface="Fira Code" pitchFamily="34" charset="0"/>
                <a:ea typeface="Fira Code" pitchFamily="34" charset="-122"/>
                <a:cs typeface="Fira Code" pitchFamily="34" charset="-120"/>
              </a:rPr>
              <a:t>carbon_price</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749808"/>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An £</a:t>
            </a:r>
            <a:r>
              <a:rPr lang="en-US" sz="2200" b="1" dirty="0" smtClean="0">
                <a:solidFill>
                  <a:srgbClr val="FFFFFF"/>
                </a:solidFill>
                <a:latin typeface="Fira Sans" pitchFamily="34" charset="0"/>
                <a:ea typeface="Fira Sans" pitchFamily="34" charset="-122"/>
                <a:cs typeface="Fira Sans" pitchFamily="34" charset="-120"/>
              </a:rPr>
              <a:t>80/tCO</a:t>
            </a:r>
            <a:r>
              <a:rPr lang="en-US" dirty="0" smtClean="0"/>
              <a:t>2 </a:t>
            </a:r>
            <a:r>
              <a:rPr lang="en-US" sz="2200" b="1" dirty="0" smtClean="0">
                <a:solidFill>
                  <a:srgbClr val="FFFFFF"/>
                </a:solidFill>
                <a:latin typeface="Fira Sans" pitchFamily="34" charset="0"/>
                <a:ea typeface="Fira Sans" pitchFamily="34" charset="-122"/>
                <a:cs typeface="Fira Sans" pitchFamily="34" charset="-120"/>
              </a:rPr>
              <a:t>carbon </a:t>
            </a:r>
            <a:r>
              <a:rPr lang="en-US" sz="2200" b="1" dirty="0">
                <a:solidFill>
                  <a:srgbClr val="FFFFFF"/>
                </a:solidFill>
                <a:latin typeface="Fira Sans" pitchFamily="34" charset="0"/>
                <a:ea typeface="Fira Sans" pitchFamily="34" charset="-122"/>
                <a:cs typeface="Fira Sans" pitchFamily="34" charset="-120"/>
              </a:rPr>
              <a:t>price moves coal behind gas and lifts the clearing price</a:t>
            </a:r>
            <a:endParaRPr lang="en-US" sz="2200" dirty="0"/>
          </a:p>
        </p:txBody>
      </p:sp>
      <p:sp>
        <p:nvSpPr>
          <p:cNvPr id="4" name="Text 2"/>
          <p:cNvSpPr txBox="1"/>
          <p:nvPr/>
        </p:nvSpPr>
        <p:spPr>
          <a:xfrm>
            <a:off x="1005840" y="1627632"/>
            <a:ext cx="3474720" cy="237744"/>
          </a:xfrm>
          <a:prstGeom prst="rect">
            <a:avLst/>
          </a:prstGeom>
          <a:noFill/>
          <a:ln/>
        </p:spPr>
        <p:txBody>
          <a:bodyPr wrap="square" lIns="0" tIns="0" rIns="0" bIns="0" rtlCol="0" anchor="ctr"/>
          <a:lstStyle/>
          <a:p>
            <a:pPr marL="0" indent="0">
              <a:buNone/>
            </a:pPr>
            <a:r>
              <a:rPr lang="en-US" sz="950" dirty="0">
                <a:solidFill>
                  <a:srgbClr val="E7E7E7"/>
                </a:solidFill>
                <a:latin typeface="Fira Code" pitchFamily="34" charset="0"/>
                <a:ea typeface="Fira Code" pitchFamily="34" charset="-122"/>
                <a:cs typeface="Fira Code" pitchFamily="34" charset="-120"/>
              </a:rPr>
              <a:t>carbon_price = </a:t>
            </a:r>
            <a:r>
              <a:rPr lang="en-US" sz="950" dirty="0">
                <a:solidFill>
                  <a:srgbClr val="A5CF27"/>
                </a:solidFill>
                <a:latin typeface="Fira Code" pitchFamily="34" charset="0"/>
                <a:ea typeface="Fira Code" pitchFamily="34" charset="-122"/>
                <a:cs typeface="Fira Code" pitchFamily="34" charset="-120"/>
              </a:rPr>
              <a:t>0</a:t>
            </a:r>
            <a:r>
              <a:rPr lang="en-US" sz="950" dirty="0">
                <a:solidFill>
                  <a:srgbClr val="707070"/>
                </a:solidFill>
                <a:latin typeface="Fira Code" pitchFamily="34" charset="0"/>
                <a:ea typeface="Fira Code" pitchFamily="34" charset="-122"/>
                <a:cs typeface="Fira Code" pitchFamily="34" charset="-120"/>
              </a:rPr>
              <a:t>  # £/tCO₂</a:t>
            </a:r>
            <a:endParaRPr lang="en-US" sz="950" dirty="0"/>
          </a:p>
        </p:txBody>
      </p:sp>
      <p:sp>
        <p:nvSpPr>
          <p:cNvPr id="5" name="Shape 3"/>
          <p:cNvSpPr/>
          <p:nvPr/>
        </p:nvSpPr>
        <p:spPr>
          <a:xfrm>
            <a:off x="1005840" y="4069080"/>
            <a:ext cx="3429000" cy="0"/>
          </a:xfrm>
          <a:prstGeom prst="line">
            <a:avLst/>
          </a:prstGeom>
          <a:noFill/>
          <a:ln w="9525">
            <a:solidFill>
              <a:srgbClr val="A9AFBA"/>
            </a:solidFill>
            <a:prstDash val="solid"/>
          </a:ln>
        </p:spPr>
      </p:sp>
      <p:sp>
        <p:nvSpPr>
          <p:cNvPr id="6" name="Shape 4"/>
          <p:cNvSpPr/>
          <p:nvPr/>
        </p:nvSpPr>
        <p:spPr>
          <a:xfrm>
            <a:off x="1005840" y="1965960"/>
            <a:ext cx="0" cy="2103120"/>
          </a:xfrm>
          <a:prstGeom prst="line">
            <a:avLst/>
          </a:prstGeom>
          <a:noFill/>
          <a:ln w="9525">
            <a:solidFill>
              <a:srgbClr val="A9AFBA"/>
            </a:solidFill>
            <a:prstDash val="solid"/>
          </a:ln>
        </p:spPr>
      </p:sp>
      <p:sp>
        <p:nvSpPr>
          <p:cNvPr id="7" name="Text 5"/>
          <p:cNvSpPr txBox="1"/>
          <p:nvPr/>
        </p:nvSpPr>
        <p:spPr>
          <a:xfrm>
            <a:off x="594360" y="3977640"/>
            <a:ext cx="347472" cy="182880"/>
          </a:xfrm>
          <a:prstGeom prst="rect">
            <a:avLst/>
          </a:prstGeom>
          <a:noFill/>
          <a:ln/>
        </p:spPr>
        <p:txBody>
          <a:bodyPr wrap="square" lIns="0" tIns="0" rIns="0" bIns="0" rtlCol="0" anchor="ctr"/>
          <a:lstStyle/>
          <a:p>
            <a:pPr marL="0" indent="0" algn="r">
              <a:buNone/>
            </a:pPr>
            <a:r>
              <a:rPr lang="en-US" sz="750" dirty="0">
                <a:solidFill>
                  <a:srgbClr val="A9AFBA"/>
                </a:solidFill>
                <a:latin typeface="Fira Code" pitchFamily="34" charset="0"/>
                <a:ea typeface="Fira Code" pitchFamily="34" charset="-122"/>
                <a:cs typeface="Fira Code" pitchFamily="34" charset="-120"/>
              </a:rPr>
              <a:t>0</a:t>
            </a:r>
            <a:endParaRPr lang="en-US" sz="750" dirty="0"/>
          </a:p>
        </p:txBody>
      </p:sp>
      <p:sp>
        <p:nvSpPr>
          <p:cNvPr id="8" name="Text 6"/>
          <p:cNvSpPr txBox="1"/>
          <p:nvPr/>
        </p:nvSpPr>
        <p:spPr>
          <a:xfrm>
            <a:off x="594360" y="3276600"/>
            <a:ext cx="347472" cy="182880"/>
          </a:xfrm>
          <a:prstGeom prst="rect">
            <a:avLst/>
          </a:prstGeom>
          <a:noFill/>
          <a:ln/>
        </p:spPr>
        <p:txBody>
          <a:bodyPr wrap="square" lIns="0" tIns="0" rIns="0" bIns="0" rtlCol="0" anchor="ctr"/>
          <a:lstStyle/>
          <a:p>
            <a:pPr marL="0" indent="0" algn="r">
              <a:buNone/>
            </a:pPr>
            <a:r>
              <a:rPr lang="en-US" sz="750" dirty="0">
                <a:solidFill>
                  <a:srgbClr val="A9AFBA"/>
                </a:solidFill>
                <a:latin typeface="Fira Code" pitchFamily="34" charset="0"/>
                <a:ea typeface="Fira Code" pitchFamily="34" charset="-122"/>
                <a:cs typeface="Fira Code" pitchFamily="34" charset="-120"/>
              </a:rPr>
              <a:t>40</a:t>
            </a:r>
            <a:endParaRPr lang="en-US" sz="750" dirty="0"/>
          </a:p>
        </p:txBody>
      </p:sp>
      <p:sp>
        <p:nvSpPr>
          <p:cNvPr id="9" name="Text 7"/>
          <p:cNvSpPr txBox="1"/>
          <p:nvPr/>
        </p:nvSpPr>
        <p:spPr>
          <a:xfrm>
            <a:off x="594360" y="2575560"/>
            <a:ext cx="347472" cy="182880"/>
          </a:xfrm>
          <a:prstGeom prst="rect">
            <a:avLst/>
          </a:prstGeom>
          <a:noFill/>
          <a:ln/>
        </p:spPr>
        <p:txBody>
          <a:bodyPr wrap="square" lIns="0" tIns="0" rIns="0" bIns="0" rtlCol="0" anchor="ctr"/>
          <a:lstStyle/>
          <a:p>
            <a:pPr marL="0" indent="0" algn="r">
              <a:buNone/>
            </a:pPr>
            <a:r>
              <a:rPr lang="en-US" sz="750" dirty="0">
                <a:solidFill>
                  <a:srgbClr val="A9AFBA"/>
                </a:solidFill>
                <a:latin typeface="Fira Code" pitchFamily="34" charset="0"/>
                <a:ea typeface="Fira Code" pitchFamily="34" charset="-122"/>
                <a:cs typeface="Fira Code" pitchFamily="34" charset="-120"/>
              </a:rPr>
              <a:t>80</a:t>
            </a:r>
            <a:endParaRPr lang="en-US" sz="750" dirty="0"/>
          </a:p>
        </p:txBody>
      </p:sp>
      <p:sp>
        <p:nvSpPr>
          <p:cNvPr id="10" name="Text 8"/>
          <p:cNvSpPr txBox="1"/>
          <p:nvPr/>
        </p:nvSpPr>
        <p:spPr>
          <a:xfrm>
            <a:off x="594360" y="1874520"/>
            <a:ext cx="347472" cy="182880"/>
          </a:xfrm>
          <a:prstGeom prst="rect">
            <a:avLst/>
          </a:prstGeom>
          <a:noFill/>
          <a:ln/>
        </p:spPr>
        <p:txBody>
          <a:bodyPr wrap="square" lIns="0" tIns="0" rIns="0" bIns="0" rtlCol="0" anchor="ctr"/>
          <a:lstStyle/>
          <a:p>
            <a:pPr marL="0" indent="0" algn="r">
              <a:buNone/>
            </a:pPr>
            <a:r>
              <a:rPr lang="en-US" sz="750" dirty="0">
                <a:solidFill>
                  <a:srgbClr val="A9AFBA"/>
                </a:solidFill>
                <a:latin typeface="Fira Code" pitchFamily="34" charset="0"/>
                <a:ea typeface="Fira Code" pitchFamily="34" charset="-122"/>
                <a:cs typeface="Fira Code" pitchFamily="34" charset="-120"/>
              </a:rPr>
              <a:t>120</a:t>
            </a:r>
            <a:endParaRPr lang="en-US" sz="750" dirty="0"/>
          </a:p>
        </p:txBody>
      </p:sp>
      <p:sp>
        <p:nvSpPr>
          <p:cNvPr id="11" name="Text 9"/>
          <p:cNvSpPr txBox="1"/>
          <p:nvPr/>
        </p:nvSpPr>
        <p:spPr>
          <a:xfrm>
            <a:off x="822960" y="4105656"/>
            <a:ext cx="365760" cy="164592"/>
          </a:xfrm>
          <a:prstGeom prst="rect">
            <a:avLst/>
          </a:prstGeom>
          <a:noFill/>
          <a:ln/>
        </p:spPr>
        <p:txBody>
          <a:bodyPr wrap="square" lIns="0" tIns="0" rIns="0" bIns="0" rtlCol="0" anchor="ctr"/>
          <a:lstStyle/>
          <a:p>
            <a:pPr marL="0" indent="0" algn="ctr">
              <a:buNone/>
            </a:pPr>
            <a:r>
              <a:rPr lang="en-US" sz="750" dirty="0">
                <a:solidFill>
                  <a:srgbClr val="A9AFBA"/>
                </a:solidFill>
                <a:latin typeface="Fira Code" pitchFamily="34" charset="0"/>
                <a:ea typeface="Fira Code" pitchFamily="34" charset="-122"/>
                <a:cs typeface="Fira Code" pitchFamily="34" charset="-120"/>
              </a:rPr>
              <a:t>0</a:t>
            </a:r>
            <a:endParaRPr lang="en-US" sz="750" dirty="0"/>
          </a:p>
        </p:txBody>
      </p:sp>
      <p:sp>
        <p:nvSpPr>
          <p:cNvPr id="12" name="Text 10"/>
          <p:cNvSpPr txBox="1"/>
          <p:nvPr/>
        </p:nvSpPr>
        <p:spPr>
          <a:xfrm>
            <a:off x="1965960" y="4105656"/>
            <a:ext cx="365760" cy="164592"/>
          </a:xfrm>
          <a:prstGeom prst="rect">
            <a:avLst/>
          </a:prstGeom>
          <a:noFill/>
          <a:ln/>
        </p:spPr>
        <p:txBody>
          <a:bodyPr wrap="square" lIns="0" tIns="0" rIns="0" bIns="0" rtlCol="0" anchor="ctr"/>
          <a:lstStyle/>
          <a:p>
            <a:pPr marL="0" indent="0" algn="ctr">
              <a:buNone/>
            </a:pPr>
            <a:r>
              <a:rPr lang="en-US" sz="750" dirty="0">
                <a:solidFill>
                  <a:srgbClr val="A9AFBA"/>
                </a:solidFill>
                <a:latin typeface="Fira Code" pitchFamily="34" charset="0"/>
                <a:ea typeface="Fira Code" pitchFamily="34" charset="-122"/>
                <a:cs typeface="Fira Code" pitchFamily="34" charset="-120"/>
              </a:rPr>
              <a:t>20</a:t>
            </a:r>
            <a:endParaRPr lang="en-US" sz="750" dirty="0"/>
          </a:p>
        </p:txBody>
      </p:sp>
      <p:sp>
        <p:nvSpPr>
          <p:cNvPr id="13" name="Text 11"/>
          <p:cNvSpPr txBox="1"/>
          <p:nvPr/>
        </p:nvSpPr>
        <p:spPr>
          <a:xfrm>
            <a:off x="3108960" y="4105656"/>
            <a:ext cx="365760" cy="164592"/>
          </a:xfrm>
          <a:prstGeom prst="rect">
            <a:avLst/>
          </a:prstGeom>
          <a:noFill/>
          <a:ln/>
        </p:spPr>
        <p:txBody>
          <a:bodyPr wrap="square" lIns="0" tIns="0" rIns="0" bIns="0" rtlCol="0" anchor="ctr"/>
          <a:lstStyle/>
          <a:p>
            <a:pPr marL="0" indent="0" algn="ctr">
              <a:buNone/>
            </a:pPr>
            <a:r>
              <a:rPr lang="en-US" sz="750" dirty="0">
                <a:solidFill>
                  <a:srgbClr val="A9AFBA"/>
                </a:solidFill>
                <a:latin typeface="Fira Code" pitchFamily="34" charset="0"/>
                <a:ea typeface="Fira Code" pitchFamily="34" charset="-122"/>
                <a:cs typeface="Fira Code" pitchFamily="34" charset="-120"/>
              </a:rPr>
              <a:t>40</a:t>
            </a:r>
            <a:endParaRPr lang="en-US" sz="750" dirty="0"/>
          </a:p>
        </p:txBody>
      </p:sp>
      <p:sp>
        <p:nvSpPr>
          <p:cNvPr id="14" name="Text 12"/>
          <p:cNvSpPr txBox="1"/>
          <p:nvPr/>
        </p:nvSpPr>
        <p:spPr>
          <a:xfrm>
            <a:off x="4251960" y="4105656"/>
            <a:ext cx="365760" cy="164592"/>
          </a:xfrm>
          <a:prstGeom prst="rect">
            <a:avLst/>
          </a:prstGeom>
          <a:noFill/>
          <a:ln/>
        </p:spPr>
        <p:txBody>
          <a:bodyPr wrap="square" lIns="0" tIns="0" rIns="0" bIns="0" rtlCol="0" anchor="ctr"/>
          <a:lstStyle/>
          <a:p>
            <a:pPr marL="0" indent="0" algn="ctr">
              <a:buNone/>
            </a:pPr>
            <a:r>
              <a:rPr lang="en-US" sz="750" dirty="0">
                <a:solidFill>
                  <a:srgbClr val="A9AFBA"/>
                </a:solidFill>
                <a:latin typeface="Fira Code" pitchFamily="34" charset="0"/>
                <a:ea typeface="Fira Code" pitchFamily="34" charset="-122"/>
                <a:cs typeface="Fira Code" pitchFamily="34" charset="-120"/>
              </a:rPr>
              <a:t>60</a:t>
            </a:r>
            <a:endParaRPr lang="en-US" sz="750" dirty="0"/>
          </a:p>
        </p:txBody>
      </p:sp>
      <p:sp>
        <p:nvSpPr>
          <p:cNvPr id="15" name="Wind"/>
          <p:cNvSpPr/>
          <p:nvPr/>
        </p:nvSpPr>
        <p:spPr>
          <a:xfrm>
            <a:off x="1005840" y="4041648"/>
            <a:ext cx="843534" cy="27432"/>
          </a:xfrm>
          <a:prstGeom prst="rect">
            <a:avLst/>
          </a:prstGeom>
          <a:solidFill>
            <a:srgbClr val="72D9F0">
              <a:alpha val="85000"/>
            </a:srgbClr>
          </a:solidFill>
          <a:ln w="6350">
            <a:solidFill>
              <a:srgbClr val="2E323B"/>
            </a:solidFill>
            <a:prstDash val="solid"/>
          </a:ln>
        </p:spPr>
      </p:sp>
      <p:sp>
        <p:nvSpPr>
          <p:cNvPr id="16" name="Text 14"/>
          <p:cNvSpPr txBox="1"/>
          <p:nvPr/>
        </p:nvSpPr>
        <p:spPr>
          <a:xfrm>
            <a:off x="1005840" y="3867912"/>
            <a:ext cx="857250" cy="164592"/>
          </a:xfrm>
          <a:prstGeom prst="rect">
            <a:avLst/>
          </a:prstGeom>
          <a:noFill/>
          <a:ln/>
        </p:spPr>
        <p:txBody>
          <a:bodyPr wrap="square" lIns="0" tIns="0" rIns="0" bIns="0" rtlCol="0" anchor="ctr"/>
          <a:lstStyle/>
          <a:p>
            <a:pPr marL="0" indent="0" algn="ctr">
              <a:buNone/>
            </a:pPr>
            <a:r>
              <a:rPr lang="en-US" sz="750" b="1" dirty="0">
                <a:solidFill>
                  <a:srgbClr val="E7E7E7"/>
                </a:solidFill>
                <a:latin typeface="Fira Sans" pitchFamily="34" charset="0"/>
                <a:ea typeface="Fira Sans" pitchFamily="34" charset="-122"/>
                <a:cs typeface="Fira Sans" pitchFamily="34" charset="-120"/>
              </a:rPr>
              <a:t>Wind</a:t>
            </a:r>
            <a:endParaRPr lang="en-US" sz="750" dirty="0"/>
          </a:p>
        </p:txBody>
      </p:sp>
      <p:sp>
        <p:nvSpPr>
          <p:cNvPr id="17" name="Nuclear"/>
          <p:cNvSpPr/>
          <p:nvPr/>
        </p:nvSpPr>
        <p:spPr>
          <a:xfrm>
            <a:off x="1863090" y="3893820"/>
            <a:ext cx="443484" cy="175260"/>
          </a:xfrm>
          <a:prstGeom prst="rect">
            <a:avLst/>
          </a:prstGeom>
          <a:solidFill>
            <a:srgbClr val="DBA0DB">
              <a:alpha val="85000"/>
            </a:srgbClr>
          </a:solidFill>
          <a:ln w="6350">
            <a:solidFill>
              <a:srgbClr val="2E323B"/>
            </a:solidFill>
            <a:prstDash val="solid"/>
          </a:ln>
        </p:spPr>
      </p:sp>
      <p:sp>
        <p:nvSpPr>
          <p:cNvPr id="18" name="Text 16"/>
          <p:cNvSpPr txBox="1"/>
          <p:nvPr/>
        </p:nvSpPr>
        <p:spPr>
          <a:xfrm>
            <a:off x="1863090" y="3692652"/>
            <a:ext cx="457200" cy="164592"/>
          </a:xfrm>
          <a:prstGeom prst="rect">
            <a:avLst/>
          </a:prstGeom>
          <a:noFill/>
          <a:ln/>
        </p:spPr>
        <p:txBody>
          <a:bodyPr wrap="square" lIns="0" tIns="0" rIns="0" bIns="0" rtlCol="0" anchor="ctr"/>
          <a:lstStyle/>
          <a:p>
            <a:pPr marL="0" indent="0" algn="ctr">
              <a:buNone/>
            </a:pPr>
            <a:r>
              <a:rPr lang="en-US" sz="750" b="1" dirty="0">
                <a:solidFill>
                  <a:srgbClr val="E7E7E7"/>
                </a:solidFill>
                <a:latin typeface="Fira Sans" pitchFamily="34" charset="0"/>
                <a:ea typeface="Fira Sans" pitchFamily="34" charset="-122"/>
                <a:cs typeface="Fira Sans" pitchFamily="34" charset="-120"/>
              </a:rPr>
              <a:t>Nuclear</a:t>
            </a:r>
            <a:endParaRPr lang="en-US" sz="750" dirty="0"/>
          </a:p>
        </p:txBody>
      </p:sp>
      <p:sp>
        <p:nvSpPr>
          <p:cNvPr id="19" name="Coal"/>
          <p:cNvSpPr/>
          <p:nvPr/>
        </p:nvSpPr>
        <p:spPr>
          <a:xfrm>
            <a:off x="2320290" y="3455670"/>
            <a:ext cx="557784" cy="613410"/>
          </a:xfrm>
          <a:prstGeom prst="rect">
            <a:avLst/>
          </a:prstGeom>
          <a:solidFill>
            <a:srgbClr val="9AA0AA">
              <a:alpha val="85000"/>
            </a:srgbClr>
          </a:solidFill>
          <a:ln w="6350">
            <a:solidFill>
              <a:srgbClr val="2E323B"/>
            </a:solidFill>
            <a:prstDash val="solid"/>
          </a:ln>
        </p:spPr>
      </p:sp>
      <p:sp>
        <p:nvSpPr>
          <p:cNvPr id="20" name="Text 18"/>
          <p:cNvSpPr txBox="1"/>
          <p:nvPr/>
        </p:nvSpPr>
        <p:spPr>
          <a:xfrm>
            <a:off x="2320290" y="3849624"/>
            <a:ext cx="571500" cy="164592"/>
          </a:xfrm>
          <a:prstGeom prst="rect">
            <a:avLst/>
          </a:prstGeom>
          <a:noFill/>
          <a:ln/>
        </p:spPr>
        <p:txBody>
          <a:bodyPr wrap="square" lIns="0" tIns="0" rIns="0" bIns="0" rtlCol="0" anchor="ctr"/>
          <a:lstStyle/>
          <a:p>
            <a:pPr marL="0" indent="0" algn="ctr">
              <a:buNone/>
            </a:pPr>
            <a:r>
              <a:rPr lang="en-US" sz="750" b="1" dirty="0">
                <a:solidFill>
                  <a:srgbClr val="16191F"/>
                </a:solidFill>
                <a:latin typeface="Fira Sans" pitchFamily="34" charset="0"/>
                <a:ea typeface="Fira Sans" pitchFamily="34" charset="-122"/>
                <a:cs typeface="Fira Sans" pitchFamily="34" charset="-120"/>
              </a:rPr>
              <a:t>Coal</a:t>
            </a:r>
            <a:endParaRPr lang="en-US" sz="750" dirty="0"/>
          </a:p>
        </p:txBody>
      </p:sp>
      <p:sp>
        <p:nvSpPr>
          <p:cNvPr id="21" name="Gas"/>
          <p:cNvSpPr/>
          <p:nvPr/>
        </p:nvSpPr>
        <p:spPr>
          <a:xfrm>
            <a:off x="2891790" y="3017520"/>
            <a:ext cx="1415034" cy="1051560"/>
          </a:xfrm>
          <a:prstGeom prst="rect">
            <a:avLst/>
          </a:prstGeom>
          <a:solidFill>
            <a:srgbClr val="FF5858">
              <a:alpha val="85000"/>
            </a:srgbClr>
          </a:solidFill>
          <a:ln w="6350">
            <a:solidFill>
              <a:srgbClr val="2E323B"/>
            </a:solidFill>
            <a:prstDash val="solid"/>
          </a:ln>
        </p:spPr>
      </p:sp>
      <p:sp>
        <p:nvSpPr>
          <p:cNvPr id="22" name="Text 20"/>
          <p:cNvSpPr txBox="1"/>
          <p:nvPr/>
        </p:nvSpPr>
        <p:spPr>
          <a:xfrm>
            <a:off x="2983230" y="3849624"/>
            <a:ext cx="1428750" cy="164592"/>
          </a:xfrm>
          <a:prstGeom prst="rect">
            <a:avLst/>
          </a:prstGeom>
          <a:noFill/>
          <a:ln/>
        </p:spPr>
        <p:txBody>
          <a:bodyPr wrap="square" lIns="0" tIns="0" rIns="0" bIns="0" rtlCol="0" anchor="ctr"/>
          <a:lstStyle/>
          <a:p>
            <a:pPr marL="0" indent="0" algn="l">
              <a:buNone/>
            </a:pPr>
            <a:r>
              <a:rPr lang="en-US" sz="750" b="1" dirty="0">
                <a:solidFill>
                  <a:srgbClr val="16191F"/>
                </a:solidFill>
                <a:latin typeface="Fira Sans" pitchFamily="34" charset="0"/>
                <a:ea typeface="Fira Sans" pitchFamily="34" charset="-122"/>
                <a:cs typeface="Fira Sans" pitchFamily="34" charset="-120"/>
              </a:rPr>
              <a:t>Gas</a:t>
            </a:r>
            <a:endParaRPr lang="en-US" sz="750" dirty="0"/>
          </a:p>
        </p:txBody>
      </p:sp>
      <p:sp>
        <p:nvSpPr>
          <p:cNvPr id="23" name="Shape 21"/>
          <p:cNvSpPr/>
          <p:nvPr/>
        </p:nvSpPr>
        <p:spPr>
          <a:xfrm>
            <a:off x="3577590" y="1965960"/>
            <a:ext cx="0" cy="2103120"/>
          </a:xfrm>
          <a:prstGeom prst="line">
            <a:avLst/>
          </a:prstGeom>
          <a:noFill/>
          <a:ln w="12700">
            <a:solidFill>
              <a:srgbClr val="FFFFFF"/>
            </a:solidFill>
            <a:prstDash val="dash"/>
          </a:ln>
        </p:spPr>
      </p:sp>
      <p:sp>
        <p:nvSpPr>
          <p:cNvPr id="24" name="Text 22"/>
          <p:cNvSpPr txBox="1"/>
          <p:nvPr/>
        </p:nvSpPr>
        <p:spPr>
          <a:xfrm>
            <a:off x="2535174" y="1947672"/>
            <a:ext cx="1005840" cy="164592"/>
          </a:xfrm>
          <a:prstGeom prst="rect">
            <a:avLst/>
          </a:prstGeom>
          <a:noFill/>
          <a:ln/>
        </p:spPr>
        <p:txBody>
          <a:bodyPr wrap="square" lIns="0" tIns="0" rIns="0" bIns="0" rtlCol="0" anchor="ctr"/>
          <a:lstStyle/>
          <a:p>
            <a:pPr marL="0" indent="0" algn="r">
              <a:buNone/>
            </a:pPr>
            <a:r>
              <a:rPr lang="en-US" sz="750" dirty="0">
                <a:solidFill>
                  <a:srgbClr val="FFFFFF"/>
                </a:solidFill>
                <a:latin typeface="Fira Code" pitchFamily="34" charset="0"/>
                <a:ea typeface="Fira Code" pitchFamily="34" charset="-122"/>
                <a:cs typeface="Fira Code" pitchFamily="34" charset="-120"/>
              </a:rPr>
              <a:t>demand 45 GW</a:t>
            </a:r>
            <a:endParaRPr lang="en-US" sz="750" dirty="0"/>
          </a:p>
        </p:txBody>
      </p:sp>
      <p:sp>
        <p:nvSpPr>
          <p:cNvPr id="25" name="Shape 23"/>
          <p:cNvSpPr/>
          <p:nvPr/>
        </p:nvSpPr>
        <p:spPr>
          <a:xfrm>
            <a:off x="3522726" y="2962656"/>
            <a:ext cx="109728" cy="109728"/>
          </a:xfrm>
          <a:prstGeom prst="ellipse">
            <a:avLst/>
          </a:prstGeom>
          <a:solidFill>
            <a:srgbClr val="FCC642"/>
          </a:solidFill>
          <a:ln w="12700">
            <a:solidFill>
              <a:srgbClr val="16191F"/>
            </a:solidFill>
            <a:prstDash val="solid"/>
          </a:ln>
        </p:spPr>
      </p:sp>
      <p:sp>
        <p:nvSpPr>
          <p:cNvPr id="26" name="Text 24"/>
          <p:cNvSpPr txBox="1"/>
          <p:nvPr/>
        </p:nvSpPr>
        <p:spPr>
          <a:xfrm>
            <a:off x="2526030" y="2743200"/>
            <a:ext cx="987552" cy="182880"/>
          </a:xfrm>
          <a:prstGeom prst="rect">
            <a:avLst/>
          </a:prstGeom>
          <a:noFill/>
          <a:ln/>
        </p:spPr>
        <p:txBody>
          <a:bodyPr wrap="square" lIns="0" tIns="0" rIns="0" bIns="0" rtlCol="0" anchor="ctr"/>
          <a:lstStyle/>
          <a:p>
            <a:pPr marL="0" indent="0" algn="r">
              <a:buNone/>
            </a:pPr>
            <a:r>
              <a:rPr lang="en-US" sz="900" b="1" dirty="0">
                <a:solidFill>
                  <a:srgbClr val="FCC642"/>
                </a:solidFill>
                <a:latin typeface="Fira Code" pitchFamily="34" charset="0"/>
                <a:ea typeface="Fira Code" pitchFamily="34" charset="-122"/>
                <a:cs typeface="Fira Code" pitchFamily="34" charset="-120"/>
              </a:rPr>
              <a:t>£60/MWh</a:t>
            </a:r>
            <a:endParaRPr lang="en-US" sz="900" dirty="0"/>
          </a:p>
        </p:txBody>
      </p:sp>
      <p:sp>
        <p:nvSpPr>
          <p:cNvPr id="27" name="Text 25"/>
          <p:cNvSpPr txBox="1"/>
          <p:nvPr/>
        </p:nvSpPr>
        <p:spPr>
          <a:xfrm>
            <a:off x="5029200" y="1627632"/>
            <a:ext cx="3474720" cy="237744"/>
          </a:xfrm>
          <a:prstGeom prst="rect">
            <a:avLst/>
          </a:prstGeom>
          <a:noFill/>
          <a:ln/>
        </p:spPr>
        <p:txBody>
          <a:bodyPr wrap="square" lIns="0" tIns="0" rIns="0" bIns="0" rtlCol="0" anchor="ctr"/>
          <a:lstStyle/>
          <a:p>
            <a:pPr marL="0" indent="0">
              <a:buNone/>
            </a:pPr>
            <a:r>
              <a:rPr lang="en-US" sz="950" dirty="0">
                <a:solidFill>
                  <a:srgbClr val="E7E7E7"/>
                </a:solidFill>
                <a:latin typeface="Fira Code" pitchFamily="34" charset="0"/>
                <a:ea typeface="Fira Code" pitchFamily="34" charset="-122"/>
                <a:cs typeface="Fira Code" pitchFamily="34" charset="-120"/>
              </a:rPr>
              <a:t>carbon_price = </a:t>
            </a:r>
            <a:r>
              <a:rPr lang="en-US" sz="950" dirty="0">
                <a:solidFill>
                  <a:srgbClr val="A5CF27"/>
                </a:solidFill>
                <a:latin typeface="Fira Code" pitchFamily="34" charset="0"/>
                <a:ea typeface="Fira Code" pitchFamily="34" charset="-122"/>
                <a:cs typeface="Fira Code" pitchFamily="34" charset="-120"/>
              </a:rPr>
              <a:t>80</a:t>
            </a:r>
            <a:r>
              <a:rPr lang="en-US" sz="950" dirty="0">
                <a:solidFill>
                  <a:srgbClr val="707070"/>
                </a:solidFill>
                <a:latin typeface="Fira Code" pitchFamily="34" charset="0"/>
                <a:ea typeface="Fira Code" pitchFamily="34" charset="-122"/>
                <a:cs typeface="Fira Code" pitchFamily="34" charset="-120"/>
              </a:rPr>
              <a:t>  # £/tCO₂</a:t>
            </a:r>
            <a:endParaRPr lang="en-US" sz="950" dirty="0"/>
          </a:p>
        </p:txBody>
      </p:sp>
      <p:sp>
        <p:nvSpPr>
          <p:cNvPr id="28" name="Shape 26"/>
          <p:cNvSpPr/>
          <p:nvPr/>
        </p:nvSpPr>
        <p:spPr>
          <a:xfrm>
            <a:off x="5029200" y="4069080"/>
            <a:ext cx="3429000" cy="0"/>
          </a:xfrm>
          <a:prstGeom prst="line">
            <a:avLst/>
          </a:prstGeom>
          <a:noFill/>
          <a:ln w="9525">
            <a:solidFill>
              <a:srgbClr val="A9AFBA"/>
            </a:solidFill>
            <a:prstDash val="solid"/>
          </a:ln>
        </p:spPr>
      </p:sp>
      <p:sp>
        <p:nvSpPr>
          <p:cNvPr id="29" name="Shape 27"/>
          <p:cNvSpPr/>
          <p:nvPr/>
        </p:nvSpPr>
        <p:spPr>
          <a:xfrm>
            <a:off x="5029200" y="1965960"/>
            <a:ext cx="0" cy="2103120"/>
          </a:xfrm>
          <a:prstGeom prst="line">
            <a:avLst/>
          </a:prstGeom>
          <a:noFill/>
          <a:ln w="9525">
            <a:solidFill>
              <a:srgbClr val="A9AFBA"/>
            </a:solidFill>
            <a:prstDash val="solid"/>
          </a:ln>
        </p:spPr>
      </p:sp>
      <p:sp>
        <p:nvSpPr>
          <p:cNvPr id="30" name="Text 28"/>
          <p:cNvSpPr txBox="1"/>
          <p:nvPr/>
        </p:nvSpPr>
        <p:spPr>
          <a:xfrm>
            <a:off x="4617720" y="3977640"/>
            <a:ext cx="347472" cy="182880"/>
          </a:xfrm>
          <a:prstGeom prst="rect">
            <a:avLst/>
          </a:prstGeom>
          <a:noFill/>
          <a:ln/>
        </p:spPr>
        <p:txBody>
          <a:bodyPr wrap="square" lIns="0" tIns="0" rIns="0" bIns="0" rtlCol="0" anchor="ctr"/>
          <a:lstStyle/>
          <a:p>
            <a:pPr marL="0" indent="0" algn="r">
              <a:buNone/>
            </a:pPr>
            <a:r>
              <a:rPr lang="en-US" sz="750" dirty="0">
                <a:solidFill>
                  <a:srgbClr val="A9AFBA"/>
                </a:solidFill>
                <a:latin typeface="Fira Code" pitchFamily="34" charset="0"/>
                <a:ea typeface="Fira Code" pitchFamily="34" charset="-122"/>
                <a:cs typeface="Fira Code" pitchFamily="34" charset="-120"/>
              </a:rPr>
              <a:t>0</a:t>
            </a:r>
            <a:endParaRPr lang="en-US" sz="750" dirty="0"/>
          </a:p>
        </p:txBody>
      </p:sp>
      <p:sp>
        <p:nvSpPr>
          <p:cNvPr id="31" name="Text 29"/>
          <p:cNvSpPr txBox="1"/>
          <p:nvPr/>
        </p:nvSpPr>
        <p:spPr>
          <a:xfrm>
            <a:off x="4617720" y="3276600"/>
            <a:ext cx="347472" cy="182880"/>
          </a:xfrm>
          <a:prstGeom prst="rect">
            <a:avLst/>
          </a:prstGeom>
          <a:noFill/>
          <a:ln/>
        </p:spPr>
        <p:txBody>
          <a:bodyPr wrap="square" lIns="0" tIns="0" rIns="0" bIns="0" rtlCol="0" anchor="ctr"/>
          <a:lstStyle/>
          <a:p>
            <a:pPr marL="0" indent="0" algn="r">
              <a:buNone/>
            </a:pPr>
            <a:r>
              <a:rPr lang="en-US" sz="750" dirty="0">
                <a:solidFill>
                  <a:srgbClr val="A9AFBA"/>
                </a:solidFill>
                <a:latin typeface="Fira Code" pitchFamily="34" charset="0"/>
                <a:ea typeface="Fira Code" pitchFamily="34" charset="-122"/>
                <a:cs typeface="Fira Code" pitchFamily="34" charset="-120"/>
              </a:rPr>
              <a:t>40</a:t>
            </a:r>
            <a:endParaRPr lang="en-US" sz="750" dirty="0"/>
          </a:p>
        </p:txBody>
      </p:sp>
      <p:sp>
        <p:nvSpPr>
          <p:cNvPr id="32" name="Text 30"/>
          <p:cNvSpPr txBox="1"/>
          <p:nvPr/>
        </p:nvSpPr>
        <p:spPr>
          <a:xfrm>
            <a:off x="4617720" y="2575560"/>
            <a:ext cx="347472" cy="182880"/>
          </a:xfrm>
          <a:prstGeom prst="rect">
            <a:avLst/>
          </a:prstGeom>
          <a:noFill/>
          <a:ln/>
        </p:spPr>
        <p:txBody>
          <a:bodyPr wrap="square" lIns="0" tIns="0" rIns="0" bIns="0" rtlCol="0" anchor="ctr"/>
          <a:lstStyle/>
          <a:p>
            <a:pPr marL="0" indent="0" algn="r">
              <a:buNone/>
            </a:pPr>
            <a:r>
              <a:rPr lang="en-US" sz="750" dirty="0">
                <a:solidFill>
                  <a:srgbClr val="A9AFBA"/>
                </a:solidFill>
                <a:latin typeface="Fira Code" pitchFamily="34" charset="0"/>
                <a:ea typeface="Fira Code" pitchFamily="34" charset="-122"/>
                <a:cs typeface="Fira Code" pitchFamily="34" charset="-120"/>
              </a:rPr>
              <a:t>80</a:t>
            </a:r>
            <a:endParaRPr lang="en-US" sz="750" dirty="0"/>
          </a:p>
        </p:txBody>
      </p:sp>
      <p:sp>
        <p:nvSpPr>
          <p:cNvPr id="33" name="Text 31"/>
          <p:cNvSpPr txBox="1"/>
          <p:nvPr/>
        </p:nvSpPr>
        <p:spPr>
          <a:xfrm>
            <a:off x="4617720" y="1874520"/>
            <a:ext cx="347472" cy="182880"/>
          </a:xfrm>
          <a:prstGeom prst="rect">
            <a:avLst/>
          </a:prstGeom>
          <a:noFill/>
          <a:ln/>
        </p:spPr>
        <p:txBody>
          <a:bodyPr wrap="square" lIns="0" tIns="0" rIns="0" bIns="0" rtlCol="0" anchor="ctr"/>
          <a:lstStyle/>
          <a:p>
            <a:pPr marL="0" indent="0" algn="r">
              <a:buNone/>
            </a:pPr>
            <a:r>
              <a:rPr lang="en-US" sz="750" dirty="0">
                <a:solidFill>
                  <a:srgbClr val="A9AFBA"/>
                </a:solidFill>
                <a:latin typeface="Fira Code" pitchFamily="34" charset="0"/>
                <a:ea typeface="Fira Code" pitchFamily="34" charset="-122"/>
                <a:cs typeface="Fira Code" pitchFamily="34" charset="-120"/>
              </a:rPr>
              <a:t>120</a:t>
            </a:r>
            <a:endParaRPr lang="en-US" sz="750" dirty="0"/>
          </a:p>
        </p:txBody>
      </p:sp>
      <p:sp>
        <p:nvSpPr>
          <p:cNvPr id="34" name="Text 32"/>
          <p:cNvSpPr txBox="1"/>
          <p:nvPr/>
        </p:nvSpPr>
        <p:spPr>
          <a:xfrm>
            <a:off x="4846320" y="4105656"/>
            <a:ext cx="365760" cy="164592"/>
          </a:xfrm>
          <a:prstGeom prst="rect">
            <a:avLst/>
          </a:prstGeom>
          <a:noFill/>
          <a:ln/>
        </p:spPr>
        <p:txBody>
          <a:bodyPr wrap="square" lIns="0" tIns="0" rIns="0" bIns="0" rtlCol="0" anchor="ctr"/>
          <a:lstStyle/>
          <a:p>
            <a:pPr marL="0" indent="0" algn="ctr">
              <a:buNone/>
            </a:pPr>
            <a:r>
              <a:rPr lang="en-US" sz="750" dirty="0">
                <a:solidFill>
                  <a:srgbClr val="A9AFBA"/>
                </a:solidFill>
                <a:latin typeface="Fira Code" pitchFamily="34" charset="0"/>
                <a:ea typeface="Fira Code" pitchFamily="34" charset="-122"/>
                <a:cs typeface="Fira Code" pitchFamily="34" charset="-120"/>
              </a:rPr>
              <a:t>0</a:t>
            </a:r>
            <a:endParaRPr lang="en-US" sz="750" dirty="0"/>
          </a:p>
        </p:txBody>
      </p:sp>
      <p:sp>
        <p:nvSpPr>
          <p:cNvPr id="35" name="Text 33"/>
          <p:cNvSpPr txBox="1"/>
          <p:nvPr/>
        </p:nvSpPr>
        <p:spPr>
          <a:xfrm>
            <a:off x="5989320" y="4105656"/>
            <a:ext cx="365760" cy="164592"/>
          </a:xfrm>
          <a:prstGeom prst="rect">
            <a:avLst/>
          </a:prstGeom>
          <a:noFill/>
          <a:ln/>
        </p:spPr>
        <p:txBody>
          <a:bodyPr wrap="square" lIns="0" tIns="0" rIns="0" bIns="0" rtlCol="0" anchor="ctr"/>
          <a:lstStyle/>
          <a:p>
            <a:pPr marL="0" indent="0" algn="ctr">
              <a:buNone/>
            </a:pPr>
            <a:r>
              <a:rPr lang="en-US" sz="750" dirty="0">
                <a:solidFill>
                  <a:srgbClr val="A9AFBA"/>
                </a:solidFill>
                <a:latin typeface="Fira Code" pitchFamily="34" charset="0"/>
                <a:ea typeface="Fira Code" pitchFamily="34" charset="-122"/>
                <a:cs typeface="Fira Code" pitchFamily="34" charset="-120"/>
              </a:rPr>
              <a:t>20</a:t>
            </a:r>
            <a:endParaRPr lang="en-US" sz="750" dirty="0"/>
          </a:p>
        </p:txBody>
      </p:sp>
      <p:sp>
        <p:nvSpPr>
          <p:cNvPr id="36" name="Text 34"/>
          <p:cNvSpPr txBox="1"/>
          <p:nvPr/>
        </p:nvSpPr>
        <p:spPr>
          <a:xfrm>
            <a:off x="7132320" y="4105656"/>
            <a:ext cx="365760" cy="164592"/>
          </a:xfrm>
          <a:prstGeom prst="rect">
            <a:avLst/>
          </a:prstGeom>
          <a:noFill/>
          <a:ln/>
        </p:spPr>
        <p:txBody>
          <a:bodyPr wrap="square" lIns="0" tIns="0" rIns="0" bIns="0" rtlCol="0" anchor="ctr"/>
          <a:lstStyle/>
          <a:p>
            <a:pPr marL="0" indent="0" algn="ctr">
              <a:buNone/>
            </a:pPr>
            <a:r>
              <a:rPr lang="en-US" sz="750" dirty="0">
                <a:solidFill>
                  <a:srgbClr val="A9AFBA"/>
                </a:solidFill>
                <a:latin typeface="Fira Code" pitchFamily="34" charset="0"/>
                <a:ea typeface="Fira Code" pitchFamily="34" charset="-122"/>
                <a:cs typeface="Fira Code" pitchFamily="34" charset="-120"/>
              </a:rPr>
              <a:t>40</a:t>
            </a:r>
            <a:endParaRPr lang="en-US" sz="750" dirty="0"/>
          </a:p>
        </p:txBody>
      </p:sp>
      <p:sp>
        <p:nvSpPr>
          <p:cNvPr id="37" name="Text 35"/>
          <p:cNvSpPr txBox="1"/>
          <p:nvPr/>
        </p:nvSpPr>
        <p:spPr>
          <a:xfrm>
            <a:off x="8275320" y="4105656"/>
            <a:ext cx="365760" cy="164592"/>
          </a:xfrm>
          <a:prstGeom prst="rect">
            <a:avLst/>
          </a:prstGeom>
          <a:noFill/>
          <a:ln/>
        </p:spPr>
        <p:txBody>
          <a:bodyPr wrap="square" lIns="0" tIns="0" rIns="0" bIns="0" rtlCol="0" anchor="ctr"/>
          <a:lstStyle/>
          <a:p>
            <a:pPr marL="0" indent="0" algn="ctr">
              <a:buNone/>
            </a:pPr>
            <a:r>
              <a:rPr lang="en-US" sz="750" dirty="0">
                <a:solidFill>
                  <a:srgbClr val="A9AFBA"/>
                </a:solidFill>
                <a:latin typeface="Fira Code" pitchFamily="34" charset="0"/>
                <a:ea typeface="Fira Code" pitchFamily="34" charset="-122"/>
                <a:cs typeface="Fira Code" pitchFamily="34" charset="-120"/>
              </a:rPr>
              <a:t>60</a:t>
            </a:r>
            <a:endParaRPr lang="en-US" sz="750" dirty="0"/>
          </a:p>
        </p:txBody>
      </p:sp>
      <p:sp>
        <p:nvSpPr>
          <p:cNvPr id="38" name="Wind"/>
          <p:cNvSpPr/>
          <p:nvPr/>
        </p:nvSpPr>
        <p:spPr>
          <a:xfrm>
            <a:off x="5029200" y="4041648"/>
            <a:ext cx="843534" cy="27432"/>
          </a:xfrm>
          <a:prstGeom prst="rect">
            <a:avLst/>
          </a:prstGeom>
          <a:solidFill>
            <a:srgbClr val="72D9F0">
              <a:alpha val="85000"/>
            </a:srgbClr>
          </a:solidFill>
          <a:ln w="6350">
            <a:solidFill>
              <a:srgbClr val="2E323B"/>
            </a:solidFill>
            <a:prstDash val="solid"/>
          </a:ln>
        </p:spPr>
      </p:sp>
      <p:sp>
        <p:nvSpPr>
          <p:cNvPr id="39" name="Text 37"/>
          <p:cNvSpPr txBox="1"/>
          <p:nvPr/>
        </p:nvSpPr>
        <p:spPr>
          <a:xfrm>
            <a:off x="5029200" y="3867912"/>
            <a:ext cx="857250" cy="164592"/>
          </a:xfrm>
          <a:prstGeom prst="rect">
            <a:avLst/>
          </a:prstGeom>
          <a:noFill/>
          <a:ln/>
        </p:spPr>
        <p:txBody>
          <a:bodyPr wrap="square" lIns="0" tIns="0" rIns="0" bIns="0" rtlCol="0" anchor="ctr"/>
          <a:lstStyle/>
          <a:p>
            <a:pPr marL="0" indent="0" algn="ctr">
              <a:buNone/>
            </a:pPr>
            <a:r>
              <a:rPr lang="en-US" sz="750" b="1" dirty="0">
                <a:solidFill>
                  <a:srgbClr val="E7E7E7"/>
                </a:solidFill>
                <a:latin typeface="Fira Sans" pitchFamily="34" charset="0"/>
                <a:ea typeface="Fira Sans" pitchFamily="34" charset="-122"/>
                <a:cs typeface="Fira Sans" pitchFamily="34" charset="-120"/>
              </a:rPr>
              <a:t>Wind</a:t>
            </a:r>
            <a:endParaRPr lang="en-US" sz="750" dirty="0"/>
          </a:p>
        </p:txBody>
      </p:sp>
      <p:sp>
        <p:nvSpPr>
          <p:cNvPr id="40" name="Nuclear"/>
          <p:cNvSpPr/>
          <p:nvPr/>
        </p:nvSpPr>
        <p:spPr>
          <a:xfrm>
            <a:off x="5886450" y="3893820"/>
            <a:ext cx="443484" cy="175260"/>
          </a:xfrm>
          <a:prstGeom prst="rect">
            <a:avLst/>
          </a:prstGeom>
          <a:solidFill>
            <a:srgbClr val="DBA0DB">
              <a:alpha val="85000"/>
            </a:srgbClr>
          </a:solidFill>
          <a:ln w="6350">
            <a:solidFill>
              <a:srgbClr val="2E323B"/>
            </a:solidFill>
            <a:prstDash val="solid"/>
          </a:ln>
        </p:spPr>
      </p:sp>
      <p:sp>
        <p:nvSpPr>
          <p:cNvPr id="41" name="Text 39"/>
          <p:cNvSpPr txBox="1"/>
          <p:nvPr/>
        </p:nvSpPr>
        <p:spPr>
          <a:xfrm>
            <a:off x="5886450" y="3692652"/>
            <a:ext cx="457200" cy="164592"/>
          </a:xfrm>
          <a:prstGeom prst="rect">
            <a:avLst/>
          </a:prstGeom>
          <a:noFill/>
          <a:ln/>
        </p:spPr>
        <p:txBody>
          <a:bodyPr wrap="square" lIns="0" tIns="0" rIns="0" bIns="0" rtlCol="0" anchor="ctr"/>
          <a:lstStyle/>
          <a:p>
            <a:pPr marL="0" indent="0" algn="ctr">
              <a:buNone/>
            </a:pPr>
            <a:r>
              <a:rPr lang="en-US" sz="750" b="1" dirty="0">
                <a:solidFill>
                  <a:srgbClr val="E7E7E7"/>
                </a:solidFill>
                <a:latin typeface="Fira Sans" pitchFamily="34" charset="0"/>
                <a:ea typeface="Fira Sans" pitchFamily="34" charset="-122"/>
                <a:cs typeface="Fira Sans" pitchFamily="34" charset="-120"/>
              </a:rPr>
              <a:t>Nuclear</a:t>
            </a:r>
            <a:endParaRPr lang="en-US" sz="750" dirty="0"/>
          </a:p>
        </p:txBody>
      </p:sp>
      <p:sp>
        <p:nvSpPr>
          <p:cNvPr id="42" name="Gas"/>
          <p:cNvSpPr/>
          <p:nvPr/>
        </p:nvSpPr>
        <p:spPr>
          <a:xfrm>
            <a:off x="6343650" y="2491740"/>
            <a:ext cx="1415034" cy="1577340"/>
          </a:xfrm>
          <a:prstGeom prst="rect">
            <a:avLst/>
          </a:prstGeom>
          <a:solidFill>
            <a:srgbClr val="FF5858">
              <a:alpha val="85000"/>
            </a:srgbClr>
          </a:solidFill>
          <a:ln w="6350">
            <a:solidFill>
              <a:srgbClr val="2E323B"/>
            </a:solidFill>
            <a:prstDash val="solid"/>
          </a:ln>
        </p:spPr>
      </p:sp>
      <p:sp>
        <p:nvSpPr>
          <p:cNvPr id="43" name="Text 41"/>
          <p:cNvSpPr txBox="1"/>
          <p:nvPr/>
        </p:nvSpPr>
        <p:spPr>
          <a:xfrm>
            <a:off x="6435090" y="3849624"/>
            <a:ext cx="1428750" cy="164592"/>
          </a:xfrm>
          <a:prstGeom prst="rect">
            <a:avLst/>
          </a:prstGeom>
          <a:noFill/>
          <a:ln/>
        </p:spPr>
        <p:txBody>
          <a:bodyPr wrap="square" lIns="0" tIns="0" rIns="0" bIns="0" rtlCol="0" anchor="ctr"/>
          <a:lstStyle/>
          <a:p>
            <a:pPr marL="0" indent="0" algn="l">
              <a:buNone/>
            </a:pPr>
            <a:r>
              <a:rPr lang="en-US" sz="750" b="1" dirty="0">
                <a:solidFill>
                  <a:srgbClr val="16191F"/>
                </a:solidFill>
                <a:latin typeface="Fira Sans" pitchFamily="34" charset="0"/>
                <a:ea typeface="Fira Sans" pitchFamily="34" charset="-122"/>
                <a:cs typeface="Fira Sans" pitchFamily="34" charset="-120"/>
              </a:rPr>
              <a:t>Gas</a:t>
            </a:r>
            <a:endParaRPr lang="en-US" sz="750" dirty="0"/>
          </a:p>
        </p:txBody>
      </p:sp>
      <p:sp>
        <p:nvSpPr>
          <p:cNvPr id="44" name="Coal"/>
          <p:cNvSpPr/>
          <p:nvPr/>
        </p:nvSpPr>
        <p:spPr>
          <a:xfrm>
            <a:off x="7772400" y="2193798"/>
            <a:ext cx="557784" cy="1875282"/>
          </a:xfrm>
          <a:prstGeom prst="rect">
            <a:avLst/>
          </a:prstGeom>
          <a:solidFill>
            <a:srgbClr val="9AA0AA">
              <a:alpha val="85000"/>
            </a:srgbClr>
          </a:solidFill>
          <a:ln w="6350">
            <a:solidFill>
              <a:srgbClr val="2E323B"/>
            </a:solidFill>
            <a:prstDash val="solid"/>
          </a:ln>
        </p:spPr>
      </p:sp>
      <p:sp>
        <p:nvSpPr>
          <p:cNvPr id="45" name="Text 43"/>
          <p:cNvSpPr txBox="1"/>
          <p:nvPr/>
        </p:nvSpPr>
        <p:spPr>
          <a:xfrm>
            <a:off x="7772400" y="3849624"/>
            <a:ext cx="571500" cy="164592"/>
          </a:xfrm>
          <a:prstGeom prst="rect">
            <a:avLst/>
          </a:prstGeom>
          <a:noFill/>
          <a:ln/>
        </p:spPr>
        <p:txBody>
          <a:bodyPr wrap="square" lIns="0" tIns="0" rIns="0" bIns="0" rtlCol="0" anchor="ctr"/>
          <a:lstStyle/>
          <a:p>
            <a:pPr marL="0" indent="0" algn="ctr">
              <a:buNone/>
            </a:pPr>
            <a:r>
              <a:rPr lang="en-US" sz="750" b="1" dirty="0">
                <a:solidFill>
                  <a:srgbClr val="16191F"/>
                </a:solidFill>
                <a:latin typeface="Fira Sans" pitchFamily="34" charset="0"/>
                <a:ea typeface="Fira Sans" pitchFamily="34" charset="-122"/>
                <a:cs typeface="Fira Sans" pitchFamily="34" charset="-120"/>
              </a:rPr>
              <a:t>Coal</a:t>
            </a:r>
            <a:endParaRPr lang="en-US" sz="750" dirty="0"/>
          </a:p>
        </p:txBody>
      </p:sp>
      <p:sp>
        <p:nvSpPr>
          <p:cNvPr id="46" name="Shape 44"/>
          <p:cNvSpPr/>
          <p:nvPr/>
        </p:nvSpPr>
        <p:spPr>
          <a:xfrm>
            <a:off x="7600950" y="1965960"/>
            <a:ext cx="0" cy="2103120"/>
          </a:xfrm>
          <a:prstGeom prst="line">
            <a:avLst/>
          </a:prstGeom>
          <a:noFill/>
          <a:ln w="12700">
            <a:solidFill>
              <a:srgbClr val="FFFFFF"/>
            </a:solidFill>
            <a:prstDash val="dash"/>
          </a:ln>
        </p:spPr>
      </p:sp>
      <p:sp>
        <p:nvSpPr>
          <p:cNvPr id="47" name="Text 45"/>
          <p:cNvSpPr txBox="1"/>
          <p:nvPr/>
        </p:nvSpPr>
        <p:spPr>
          <a:xfrm>
            <a:off x="6558534" y="1947672"/>
            <a:ext cx="1005840" cy="164592"/>
          </a:xfrm>
          <a:prstGeom prst="rect">
            <a:avLst/>
          </a:prstGeom>
          <a:noFill/>
          <a:ln/>
        </p:spPr>
        <p:txBody>
          <a:bodyPr wrap="square" lIns="0" tIns="0" rIns="0" bIns="0" rtlCol="0" anchor="ctr"/>
          <a:lstStyle/>
          <a:p>
            <a:pPr marL="0" indent="0" algn="r">
              <a:buNone/>
            </a:pPr>
            <a:r>
              <a:rPr lang="en-US" sz="750" dirty="0">
                <a:solidFill>
                  <a:srgbClr val="FFFFFF"/>
                </a:solidFill>
                <a:latin typeface="Fira Code" pitchFamily="34" charset="0"/>
                <a:ea typeface="Fira Code" pitchFamily="34" charset="-122"/>
                <a:cs typeface="Fira Code" pitchFamily="34" charset="-120"/>
              </a:rPr>
              <a:t>demand 45 GW</a:t>
            </a:r>
            <a:endParaRPr lang="en-US" sz="750" dirty="0"/>
          </a:p>
        </p:txBody>
      </p:sp>
      <p:sp>
        <p:nvSpPr>
          <p:cNvPr id="48" name="Shape 46"/>
          <p:cNvSpPr/>
          <p:nvPr/>
        </p:nvSpPr>
        <p:spPr>
          <a:xfrm>
            <a:off x="7546086" y="2436876"/>
            <a:ext cx="109728" cy="109728"/>
          </a:xfrm>
          <a:prstGeom prst="ellipse">
            <a:avLst/>
          </a:prstGeom>
          <a:solidFill>
            <a:srgbClr val="FCC642"/>
          </a:solidFill>
          <a:ln w="12700">
            <a:solidFill>
              <a:srgbClr val="16191F"/>
            </a:solidFill>
            <a:prstDash val="solid"/>
          </a:ln>
        </p:spPr>
      </p:sp>
      <p:sp>
        <p:nvSpPr>
          <p:cNvPr id="49" name="Text 47"/>
          <p:cNvSpPr txBox="1"/>
          <p:nvPr/>
        </p:nvSpPr>
        <p:spPr>
          <a:xfrm>
            <a:off x="6549390" y="2217420"/>
            <a:ext cx="987552" cy="182880"/>
          </a:xfrm>
          <a:prstGeom prst="rect">
            <a:avLst/>
          </a:prstGeom>
          <a:noFill/>
          <a:ln/>
        </p:spPr>
        <p:txBody>
          <a:bodyPr wrap="square" lIns="0" tIns="0" rIns="0" bIns="0" rtlCol="0" anchor="ctr"/>
          <a:lstStyle/>
          <a:p>
            <a:pPr marL="0" indent="0" algn="r">
              <a:buNone/>
            </a:pPr>
            <a:r>
              <a:rPr lang="en-US" sz="900" b="1" dirty="0">
                <a:solidFill>
                  <a:srgbClr val="FCC642"/>
                </a:solidFill>
                <a:latin typeface="Fira Code" pitchFamily="34" charset="0"/>
                <a:ea typeface="Fira Code" pitchFamily="34" charset="-122"/>
                <a:cs typeface="Fira Code" pitchFamily="34" charset="-120"/>
              </a:rPr>
              <a:t>£90/MWh</a:t>
            </a:r>
            <a:endParaRPr lang="en-US" sz="900" dirty="0"/>
          </a:p>
        </p:txBody>
      </p:sp>
      <p:sp>
        <p:nvSpPr>
          <p:cNvPr id="50" name="Text 48"/>
          <p:cNvSpPr txBox="1"/>
          <p:nvPr/>
        </p:nvSpPr>
        <p:spPr>
          <a:xfrm>
            <a:off x="868680" y="4264251"/>
            <a:ext cx="7955280" cy="483870"/>
          </a:xfrm>
          <a:prstGeom prst="rect">
            <a:avLst/>
          </a:prstGeom>
          <a:noFill/>
          <a:ln/>
        </p:spPr>
        <p:txBody>
          <a:bodyPr wrap="square" lIns="0" tIns="0" rIns="0" bIns="0" rtlCol="0" anchor="ctr"/>
          <a:lstStyle/>
          <a:p>
            <a:r>
              <a:rPr lang="en-US" sz="800" dirty="0" smtClean="0">
                <a:solidFill>
                  <a:schemeClr val="accent6"/>
                </a:solidFill>
              </a:rPr>
              <a:t>x</a:t>
            </a:r>
            <a:r>
              <a:rPr lang="en-US" sz="800" dirty="0">
                <a:solidFill>
                  <a:schemeClr val="accent6"/>
                </a:solidFill>
              </a:rPr>
              <a:t>: cumulative capacity (GW) · y: marginal cost (£/</a:t>
            </a:r>
            <a:r>
              <a:rPr lang="en-US" sz="800" dirty="0" smtClean="0">
                <a:solidFill>
                  <a:schemeClr val="accent6"/>
                </a:solidFill>
              </a:rPr>
              <a:t>MWh)</a:t>
            </a:r>
          </a:p>
          <a:p>
            <a:r>
              <a:rPr lang="en-US" sz="800" dirty="0">
                <a:solidFill>
                  <a:schemeClr val="accent6"/>
                </a:solidFill>
              </a:rPr>
              <a:t>C</a:t>
            </a:r>
            <a:r>
              <a:rPr lang="en-US" sz="800" dirty="0" smtClean="0">
                <a:solidFill>
                  <a:schemeClr val="accent6"/>
                </a:solidFill>
              </a:rPr>
              <a:t>oal </a:t>
            </a:r>
            <a:r>
              <a:rPr lang="en-US" sz="800" dirty="0">
                <a:solidFill>
                  <a:schemeClr val="accent6"/>
                </a:solidFill>
              </a:rPr>
              <a:t>shown as a ‘what-if’ unit (GB closed its last coal plant in </a:t>
            </a:r>
            <a:r>
              <a:rPr lang="en-US" sz="800" dirty="0" smtClean="0">
                <a:solidFill>
                  <a:schemeClr val="accent6"/>
                </a:solidFill>
              </a:rPr>
              <a:t>2024)</a:t>
            </a:r>
          </a:p>
          <a:p>
            <a:r>
              <a:rPr lang="en-US" sz="800" dirty="0">
                <a:solidFill>
                  <a:schemeClr val="accent6"/>
                </a:solidFill>
              </a:rPr>
              <a:t>C</a:t>
            </a:r>
            <a:r>
              <a:rPr lang="en-US" sz="800" dirty="0" smtClean="0">
                <a:solidFill>
                  <a:schemeClr val="accent6"/>
                </a:solidFill>
              </a:rPr>
              <a:t>osts </a:t>
            </a:r>
            <a:r>
              <a:rPr lang="en-US" sz="800" dirty="0">
                <a:solidFill>
                  <a:schemeClr val="accent6"/>
                </a:solidFill>
              </a:rPr>
              <a:t>and emission factors illustrative, direct CO₂ only</a:t>
            </a:r>
          </a:p>
          <a:p>
            <a:endParaRPr lang="en-US" sz="800" dirty="0">
              <a:solidFill>
                <a:schemeClr val="accent6"/>
              </a:solidFill>
            </a:endParaRPr>
          </a:p>
        </p:txBody>
      </p:sp>
      <p:sp>
        <p:nvSpPr>
          <p:cNvPr id="51"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txBox="1"/>
          <p:nvPr/>
        </p:nvSpPr>
        <p:spPr>
          <a:xfrm>
            <a:off x="5257800" y="457200"/>
            <a:ext cx="3474720" cy="274320"/>
          </a:xfrm>
          <a:prstGeom prst="rect">
            <a:avLst/>
          </a:prstGeom>
          <a:noFill/>
          <a:ln/>
        </p:spPr>
        <p:txBody>
          <a:bodyPr wrap="square" lIns="0" tIns="0" rIns="0" bIns="0" rtlCol="0" anchor="t"/>
          <a:lstStyle/>
          <a:p>
            <a:pPr marL="0" indent="0">
              <a:buNone/>
            </a:pPr>
            <a:r>
              <a:rPr lang="en-US" sz="1100" dirty="0">
                <a:solidFill>
                  <a:srgbClr val="FF5858"/>
                </a:solidFill>
                <a:latin typeface="Fira Code" pitchFamily="34" charset="0"/>
                <a:ea typeface="Fira Code" pitchFamily="34" charset="-122"/>
                <a:cs typeface="Fira Code" pitchFamily="34" charset="-120"/>
              </a:rPr>
              <a:t>task_03</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4" name="Text 1"/>
          <p:cNvSpPr txBox="1"/>
          <p:nvPr/>
        </p:nvSpPr>
        <p:spPr>
          <a:xfrm>
            <a:off x="5257800" y="768096"/>
            <a:ext cx="3520440" cy="868680"/>
          </a:xfrm>
          <a:prstGeom prst="rect">
            <a:avLst/>
          </a:prstGeom>
          <a:noFill/>
          <a:ln/>
        </p:spPr>
        <p:txBody>
          <a:bodyPr wrap="square" lIns="0" tIns="0" rIns="0" bIns="0" rtlCol="0" anchor="t"/>
          <a:lstStyle/>
          <a:p>
            <a:pPr marL="0" indent="0">
              <a:buNone/>
            </a:pPr>
            <a:r>
              <a:rPr lang="en-US" sz="1700" b="1" dirty="0">
                <a:solidFill>
                  <a:srgbClr val="FFFFFF"/>
                </a:solidFill>
                <a:latin typeface="Fira Sans" pitchFamily="34" charset="0"/>
                <a:ea typeface="Fira Sans" pitchFamily="34" charset="-122"/>
                <a:cs typeface="Fira Sans" pitchFamily="34" charset="-120"/>
              </a:rPr>
              <a:t>How much of the Engineering building's electricity could rooftop solar supply?</a:t>
            </a:r>
            <a:endParaRPr lang="en-US" sz="1700" dirty="0"/>
          </a:p>
        </p:txBody>
      </p:sp>
      <p:sp>
        <p:nvSpPr>
          <p:cNvPr id="5" name="Text 2"/>
          <p:cNvSpPr txBox="1"/>
          <p:nvPr/>
        </p:nvSpPr>
        <p:spPr>
          <a:xfrm>
            <a:off x="5257800" y="1737360"/>
            <a:ext cx="3520440" cy="118872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Check the building's monthly data (2.1)</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Fill the one blank: solar used (4)</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Predict, then read the year's results (5)</a:t>
            </a:r>
            <a:endParaRPr lang="en-US" sz="1150" dirty="0"/>
          </a:p>
          <a:p>
            <a:pPr marL="342900" indent="-342900">
              <a:spcAft>
                <a:spcPts val="500"/>
              </a:spcAft>
              <a:buSzPct val="100000"/>
              <a:buFont typeface="+mj-lt"/>
              <a:buAutoNum type="arabicPeriod"/>
            </a:pPr>
            <a:r>
              <a:rPr lang="en-US" sz="1150" dirty="0">
                <a:solidFill>
                  <a:srgbClr val="E7E7E7"/>
                </a:solidFill>
                <a:ea typeface="Fira Sans" pitchFamily="34" charset="-122"/>
                <a:cs typeface="Fira Sans" pitchFamily="34" charset="-120"/>
              </a:rPr>
              <a:t>Run your scenario (6); compare in class</a:t>
            </a:r>
            <a:endParaRPr lang="en-US" sz="1150" dirty="0"/>
          </a:p>
        </p:txBody>
      </p:sp>
      <p:sp>
        <p:nvSpPr>
          <p:cNvPr id="6" name="Shape 3"/>
          <p:cNvSpPr/>
          <p:nvPr/>
        </p:nvSpPr>
        <p:spPr>
          <a:xfrm>
            <a:off x="5257800" y="3063240"/>
            <a:ext cx="3520440" cy="1188720"/>
          </a:xfrm>
          <a:prstGeom prst="rect">
            <a:avLst/>
          </a:prstGeom>
          <a:solidFill>
            <a:srgbClr val="16191F"/>
          </a:solidFill>
          <a:ln w="9525">
            <a:solidFill>
              <a:srgbClr val="3E434E"/>
            </a:solidFill>
            <a:prstDash val="solid"/>
          </a:ln>
        </p:spPr>
      </p:sp>
      <p:sp>
        <p:nvSpPr>
          <p:cNvPr id="7" name="Text 4"/>
          <p:cNvSpPr txBox="1"/>
          <p:nvPr/>
        </p:nvSpPr>
        <p:spPr>
          <a:xfrm>
            <a:off x="5376672" y="3154680"/>
            <a:ext cx="3337560" cy="1051560"/>
          </a:xfrm>
          <a:prstGeom prst="rect">
            <a:avLst/>
          </a:prstGeom>
          <a:noFill/>
          <a:ln/>
        </p:spPr>
        <p:txBody>
          <a:bodyPr wrap="square" lIns="0" tIns="0" rIns="0" bIns="0" rtlCol="0" anchor="t"/>
          <a:lstStyle/>
          <a:p>
            <a:pPr marL="0" indent="0">
              <a:lnSpc>
                <a:spcPts val="1350"/>
              </a:lnSpc>
              <a:buNone/>
            </a:pPr>
            <a:endParaRPr lang="en-US" sz="850" dirty="0"/>
          </a:p>
          <a:p>
            <a:pPr marL="0" indent="0">
              <a:lnSpc>
                <a:spcPts val="1350"/>
              </a:lnSpc>
              <a:buNone/>
            </a:pPr>
            <a:endParaRPr lang="en-US" sz="850" dirty="0" smtClean="0"/>
          </a:p>
          <a:p>
            <a:pPr marL="0" indent="0">
              <a:lnSpc>
                <a:spcPts val="1350"/>
              </a:lnSpc>
              <a:buNone/>
            </a:pPr>
            <a:endParaRPr lang="en-US" sz="850" dirty="0"/>
          </a:p>
          <a:p>
            <a:pPr marL="0" indent="0">
              <a:lnSpc>
                <a:spcPts val="1350"/>
              </a:lnSpc>
              <a:buNone/>
            </a:pPr>
            <a:endParaRPr lang="en-US" sz="850" dirty="0"/>
          </a:p>
          <a:p>
            <a:pPr marL="0" indent="0">
              <a:lnSpc>
                <a:spcPts val="1350"/>
              </a:lnSpc>
              <a:buNone/>
            </a:pPr>
            <a:endParaRPr lang="en-US" sz="85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ma14="http://schemas.microsoft.com/office/mac/drawingml/2011/main" xmlns=""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21</a:t>
            </a:fld>
            <a:endParaRPr lang="en-US"/>
          </a:p>
        </p:txBody>
      </p:sp>
      <p:pic>
        <p:nvPicPr>
          <p:cNvPr id="14" name="Google Shape;301;p36"/>
          <p:cNvPicPr preferRelativeResize="0"/>
          <p:nvPr/>
        </p:nvPicPr>
        <p:blipFill>
          <a:blip r:embed="rId3">
            <a:alphaModFix/>
          </a:blip>
          <a:srcRect l="6807" r="6807"/>
          <a:stretch>
            <a:fillRect/>
          </a:stretch>
        </p:blipFill>
        <p:spPr>
          <a:xfrm>
            <a:off x="1154174" y="777240"/>
            <a:ext cx="2452307" cy="3383280"/>
          </a:xfrm>
          <a:prstGeom prst="rect">
            <a:avLst/>
          </a:prstGeom>
          <a:noFill/>
          <a:ln>
            <a:noFill/>
          </a:ln>
          <a:effectLst>
            <a:outerShdw blurRad="128588" dist="19050" dir="5400000" algn="bl" rotWithShape="0">
              <a:schemeClr val="accent4"/>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result</a:t>
            </a:r>
            <a:r>
              <a:rPr lang="en-US" sz="1100" dirty="0">
                <a:solidFill>
                  <a:srgbClr val="E7E7E7"/>
                </a:solidFill>
                <a:latin typeface="Fira Code" pitchFamily="34" charset="0"/>
                <a:ea typeface="Fira Code" pitchFamily="34" charset="-122"/>
                <a:cs typeface="Fira Code" pitchFamily="34" charset="-120"/>
              </a:rPr>
              <a:t>(task_03):</a:t>
            </a:r>
            <a:endParaRPr lang="en-US" sz="1100" dirty="0"/>
          </a:p>
        </p:txBody>
      </p:sp>
      <p:sp>
        <p:nvSpPr>
          <p:cNvPr id="3" name="Text 22"/>
          <p:cNvSpPr>
            <a:spLocks noGrp="1"/>
          </p:cNvSpPr>
          <p:nvPr>
            <p:ph type="title" idx="123" hasCustomPrompt="1"/>
          </p:nvPr>
        </p:nvSpPr>
        <p:spPr>
          <a:xfrm>
            <a:off x="685800" y="768096"/>
            <a:ext cx="7863840" cy="749808"/>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100 kWp of rooftop solar could supply about a fifth of the building's electricity</a:t>
            </a:r>
            <a:endParaRPr lang="en-US" sz="2200" dirty="0"/>
          </a:p>
        </p:txBody>
      </p:sp>
      <p:sp>
        <p:nvSpPr>
          <p:cNvPr id="4" name="Text 2"/>
          <p:cNvSpPr txBox="1"/>
          <p:nvPr/>
        </p:nvSpPr>
        <p:spPr>
          <a:xfrm>
            <a:off x="731520" y="1965960"/>
            <a:ext cx="1920240" cy="731520"/>
          </a:xfrm>
          <a:prstGeom prst="rect">
            <a:avLst/>
          </a:prstGeom>
          <a:noFill/>
          <a:ln/>
        </p:spPr>
        <p:txBody>
          <a:bodyPr wrap="square" lIns="0" tIns="0" rIns="0" bIns="0" rtlCol="0" anchor="b"/>
          <a:lstStyle/>
          <a:p>
            <a:pPr marL="0" indent="0">
              <a:buNone/>
            </a:pPr>
            <a:r>
              <a:rPr lang="en-US" sz="3600" b="1" dirty="0">
                <a:solidFill>
                  <a:srgbClr val="FCC642"/>
                </a:solidFill>
                <a:latin typeface="Fira Code" pitchFamily="34" charset="0"/>
                <a:ea typeface="Fira Code" pitchFamily="34" charset="-122"/>
                <a:cs typeface="Fira Code" pitchFamily="34" charset="-120"/>
              </a:rPr>
              <a:t>22%</a:t>
            </a:r>
            <a:endParaRPr lang="en-US" sz="3600" dirty="0"/>
          </a:p>
        </p:txBody>
      </p:sp>
      <p:sp>
        <p:nvSpPr>
          <p:cNvPr id="5" name="Text 3"/>
          <p:cNvSpPr txBox="1"/>
          <p:nvPr/>
        </p:nvSpPr>
        <p:spPr>
          <a:xfrm>
            <a:off x="731520" y="2788920"/>
            <a:ext cx="1783080" cy="548640"/>
          </a:xfrm>
          <a:prstGeom prst="rect">
            <a:avLst/>
          </a:prstGeom>
          <a:noFill/>
          <a:ln/>
        </p:spPr>
        <p:txBody>
          <a:bodyPr wrap="square" lIns="0" tIns="0" rIns="0" bIns="0" rtlCol="0" anchor="t"/>
          <a:lstStyle/>
          <a:p>
            <a:pPr marL="0" indent="0">
              <a:buNone/>
            </a:pPr>
            <a:r>
              <a:rPr lang="en-US" sz="1100" dirty="0">
                <a:solidFill>
                  <a:srgbClr val="E7E7E7"/>
                </a:solidFill>
                <a:latin typeface="Fira Sans" pitchFamily="34" charset="0"/>
                <a:ea typeface="Fira Sans" pitchFamily="34" charset="-122"/>
                <a:cs typeface="Fira Sans" pitchFamily="34" charset="-120"/>
              </a:rPr>
              <a:t>of the building's demand, from 100 kWp</a:t>
            </a:r>
            <a:endParaRPr lang="en-US" sz="1100" dirty="0"/>
          </a:p>
        </p:txBody>
      </p:sp>
      <p:sp>
        <p:nvSpPr>
          <p:cNvPr id="6" name="Text 4"/>
          <p:cNvSpPr txBox="1"/>
          <p:nvPr/>
        </p:nvSpPr>
        <p:spPr>
          <a:xfrm>
            <a:off x="2743200" y="1965960"/>
            <a:ext cx="1920240" cy="731520"/>
          </a:xfrm>
          <a:prstGeom prst="rect">
            <a:avLst/>
          </a:prstGeom>
          <a:noFill/>
          <a:ln/>
        </p:spPr>
        <p:txBody>
          <a:bodyPr wrap="square" lIns="0" tIns="0" rIns="0" bIns="0" rtlCol="0" anchor="b"/>
          <a:lstStyle/>
          <a:p>
            <a:pPr marL="0" indent="0">
              <a:buNone/>
            </a:pPr>
            <a:r>
              <a:rPr lang="en-US" sz="3600" b="1" dirty="0">
                <a:solidFill>
                  <a:srgbClr val="A5CF27"/>
                </a:solidFill>
                <a:latin typeface="Fira Code" pitchFamily="34" charset="0"/>
                <a:ea typeface="Fira Code" pitchFamily="34" charset="-122"/>
                <a:cs typeface="Fira Code" pitchFamily="34" charset="-120"/>
              </a:rPr>
              <a:t>18.4 t</a:t>
            </a:r>
            <a:endParaRPr lang="en-US" sz="3600" dirty="0"/>
          </a:p>
        </p:txBody>
      </p:sp>
      <p:sp>
        <p:nvSpPr>
          <p:cNvPr id="7" name="Text 5"/>
          <p:cNvSpPr txBox="1"/>
          <p:nvPr/>
        </p:nvSpPr>
        <p:spPr>
          <a:xfrm>
            <a:off x="2743200" y="2788920"/>
            <a:ext cx="1783080" cy="548640"/>
          </a:xfrm>
          <a:prstGeom prst="rect">
            <a:avLst/>
          </a:prstGeom>
          <a:noFill/>
          <a:ln/>
        </p:spPr>
        <p:txBody>
          <a:bodyPr wrap="square" lIns="0" tIns="0" rIns="0" bIns="0" rtlCol="0" anchor="t"/>
          <a:lstStyle/>
          <a:p>
            <a:pPr marL="0" indent="0">
              <a:buNone/>
            </a:pPr>
            <a:r>
              <a:rPr lang="en-US" sz="1100" dirty="0" smtClean="0">
                <a:solidFill>
                  <a:srgbClr val="E7E7E7"/>
                </a:solidFill>
                <a:latin typeface="Fira Sans" pitchFamily="34" charset="0"/>
                <a:ea typeface="Fira Sans" pitchFamily="34" charset="-122"/>
                <a:cs typeface="Fira Sans" pitchFamily="34" charset="-120"/>
              </a:rPr>
              <a:t>CO2e saved per year</a:t>
            </a:r>
            <a:endParaRPr lang="en-US" sz="1100" dirty="0"/>
          </a:p>
        </p:txBody>
      </p:sp>
      <p:sp>
        <p:nvSpPr>
          <p:cNvPr id="8" name="Text 6"/>
          <p:cNvSpPr txBox="1"/>
          <p:nvPr/>
        </p:nvSpPr>
        <p:spPr>
          <a:xfrm>
            <a:off x="4754880" y="1965960"/>
            <a:ext cx="1920240" cy="731520"/>
          </a:xfrm>
          <a:prstGeom prst="rect">
            <a:avLst/>
          </a:prstGeom>
          <a:noFill/>
          <a:ln/>
        </p:spPr>
        <p:txBody>
          <a:bodyPr wrap="square" lIns="0" tIns="0" rIns="0" bIns="0" rtlCol="0" anchor="b"/>
          <a:lstStyle/>
          <a:p>
            <a:pPr marL="0" indent="0">
              <a:buNone/>
            </a:pPr>
            <a:r>
              <a:rPr lang="en-US" sz="3600" b="1" dirty="0">
                <a:solidFill>
                  <a:srgbClr val="72D9F0"/>
                </a:solidFill>
                <a:latin typeface="Fira Code" pitchFamily="34" charset="0"/>
                <a:ea typeface="Fira Code" pitchFamily="34" charset="-122"/>
                <a:cs typeface="Fira Code" pitchFamily="34" charset="-120"/>
              </a:rPr>
              <a:t>× 3.3</a:t>
            </a:r>
            <a:endParaRPr lang="en-US" sz="3600" dirty="0"/>
          </a:p>
        </p:txBody>
      </p:sp>
      <p:sp>
        <p:nvSpPr>
          <p:cNvPr id="9" name="Text 7"/>
          <p:cNvSpPr txBox="1"/>
          <p:nvPr/>
        </p:nvSpPr>
        <p:spPr>
          <a:xfrm>
            <a:off x="4754880" y="2788920"/>
            <a:ext cx="1783080" cy="548640"/>
          </a:xfrm>
          <a:prstGeom prst="rect">
            <a:avLst/>
          </a:prstGeom>
          <a:noFill/>
          <a:ln/>
        </p:spPr>
        <p:txBody>
          <a:bodyPr wrap="square" lIns="0" tIns="0" rIns="0" bIns="0" rtlCol="0" anchor="t"/>
          <a:lstStyle/>
          <a:p>
            <a:pPr marL="0" indent="0">
              <a:buNone/>
            </a:pPr>
            <a:r>
              <a:rPr lang="en-US" sz="1100" dirty="0">
                <a:solidFill>
                  <a:srgbClr val="E7E7E7"/>
                </a:solidFill>
                <a:latin typeface="Fira Sans" pitchFamily="34" charset="0"/>
                <a:ea typeface="Fira Sans" pitchFamily="34" charset="-122"/>
                <a:cs typeface="Fira Sans" pitchFamily="34" charset="-120"/>
              </a:rPr>
              <a:t>the CO2 saved by 4 × the solar (400 kWp), as exports grow</a:t>
            </a:r>
            <a:endParaRPr lang="en-US" sz="1100" dirty="0"/>
          </a:p>
        </p:txBody>
      </p:sp>
      <p:sp>
        <p:nvSpPr>
          <p:cNvPr id="10" name="Text 8"/>
          <p:cNvSpPr txBox="1"/>
          <p:nvPr/>
        </p:nvSpPr>
        <p:spPr>
          <a:xfrm>
            <a:off x="6766560" y="1965960"/>
            <a:ext cx="1920240" cy="731520"/>
          </a:xfrm>
          <a:prstGeom prst="rect">
            <a:avLst/>
          </a:prstGeom>
          <a:noFill/>
          <a:ln/>
        </p:spPr>
        <p:txBody>
          <a:bodyPr wrap="square" lIns="0" tIns="0" rIns="0" bIns="0" rtlCol="0" anchor="b"/>
          <a:lstStyle/>
          <a:p>
            <a:pPr marL="0" indent="0">
              <a:buNone/>
            </a:pPr>
            <a:r>
              <a:rPr lang="en-US" sz="3000" b="1" dirty="0">
                <a:solidFill>
                  <a:srgbClr val="FF5858"/>
                </a:solidFill>
                <a:latin typeface="Fira Code" pitchFamily="34" charset="0"/>
                <a:ea typeface="Fira Code" pitchFamily="34" charset="-122"/>
                <a:cs typeface="Fira Code" pitchFamily="34" charset="-120"/>
              </a:rPr>
              <a:t>76 kWp</a:t>
            </a:r>
            <a:endParaRPr lang="en-US" sz="3000" dirty="0"/>
          </a:p>
        </p:txBody>
      </p:sp>
      <p:sp>
        <p:nvSpPr>
          <p:cNvPr id="11" name="Text 9"/>
          <p:cNvSpPr txBox="1"/>
          <p:nvPr/>
        </p:nvSpPr>
        <p:spPr>
          <a:xfrm>
            <a:off x="6766560" y="2788920"/>
            <a:ext cx="1783080" cy="548640"/>
          </a:xfrm>
          <a:prstGeom prst="rect">
            <a:avLst/>
          </a:prstGeom>
          <a:noFill/>
          <a:ln/>
        </p:spPr>
        <p:txBody>
          <a:bodyPr wrap="square" lIns="0" tIns="0" rIns="0" bIns="0" rtlCol="0" anchor="t"/>
          <a:lstStyle/>
          <a:p>
            <a:pPr marL="0" indent="0">
              <a:buNone/>
            </a:pPr>
            <a:r>
              <a:rPr lang="en-US" sz="1100" dirty="0">
                <a:solidFill>
                  <a:srgbClr val="E7E7E7"/>
                </a:solidFill>
                <a:latin typeface="Fira Sans" pitchFamily="34" charset="0"/>
                <a:ea typeface="Fira Sans" pitchFamily="34" charset="-122"/>
                <a:cs typeface="Fira Sans" pitchFamily="34" charset="-120"/>
              </a:rPr>
              <a:t>largest size with no export, set by one doubtful month</a:t>
            </a:r>
            <a:endParaRPr lang="en-US" sz="1100" dirty="0"/>
          </a:p>
        </p:txBody>
      </p:sp>
      <p:sp>
        <p:nvSpPr>
          <p:cNvPr id="12" name="Text 10"/>
          <p:cNvSpPr txBox="1"/>
          <p:nvPr/>
        </p:nvSpPr>
        <p:spPr>
          <a:xfrm>
            <a:off x="731520" y="3931920"/>
            <a:ext cx="7680960" cy="274320"/>
          </a:xfrm>
          <a:prstGeom prst="rect">
            <a:avLst/>
          </a:prstGeom>
          <a:noFill/>
          <a:ln/>
        </p:spPr>
        <p:txBody>
          <a:bodyPr wrap="square" lIns="0" tIns="0" rIns="0" bIns="0" rtlCol="0" anchor="t"/>
          <a:lstStyle/>
          <a:p>
            <a:pPr marL="0" indent="0">
              <a:buNone/>
            </a:pPr>
            <a:r>
              <a:rPr lang="en-US" sz="1100" dirty="0">
                <a:solidFill>
                  <a:srgbClr val="707070"/>
                </a:solidFill>
                <a:latin typeface="Fira Code" pitchFamily="34" charset="0"/>
                <a:ea typeface="Fira Code" pitchFamily="34" charset="-122"/>
                <a:cs typeface="Fira Code" pitchFamily="34" charset="-120"/>
              </a:rPr>
              <a:t># monthly totals overstate on-site use: the real share is lower</a:t>
            </a:r>
            <a:endParaRPr lang="en-US" sz="11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2"/>
          <p:cNvSpPr>
            <a:spLocks noGrp="1"/>
          </p:cNvSpPr>
          <p:nvPr>
            <p:ph type="body" idx="122" hasCustomPrompt="1"/>
          </p:nvPr>
        </p:nvSpPr>
        <p:spPr>
          <a:xfrm>
            <a:off x="685800" y="457200"/>
            <a:ext cx="7772400" cy="292608"/>
          </a:xfrm>
          <a:prstGeom prst="rect">
            <a:avLst/>
          </a:prstGeom>
          <a:noFill/>
          <a:ln/>
        </p:spPr>
        <p:txBody>
          <a:bodyPr wrap="square" lIns="0" tIns="0" rIns="0" bIns="0" rtlCol="0" anchor="ctr"/>
          <a:lstStyle/>
          <a:p>
            <a:pPr marL="0" indent="0" algn="l">
              <a:buNone/>
            </a:pPr>
            <a:r>
              <a:rPr lang="en-US" sz="1100" dirty="0">
                <a:solidFill>
                  <a:srgbClr val="FF5858"/>
                </a:solidFill>
                <a:latin typeface="Fira Code" pitchFamily="34" charset="0"/>
                <a:ea typeface="Fira Code" pitchFamily="34" charset="-122"/>
                <a:cs typeface="Fira Code" pitchFamily="34" charset="-120"/>
              </a:rPr>
              <a:t>debrief</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3" name="Text 22"/>
          <p:cNvSpPr>
            <a:spLocks noGrp="1"/>
          </p:cNvSpPr>
          <p:nvPr>
            <p:ph type="title" idx="123" hasCustomPrompt="1"/>
          </p:nvPr>
        </p:nvSpPr>
        <p:spPr>
          <a:xfrm>
            <a:off x="685800" y="768096"/>
            <a:ext cx="7863840" cy="749808"/>
          </a:xfrm>
          <a:prstGeom prst="rect">
            <a:avLst/>
          </a:prstGeom>
          <a:noFill/>
          <a:ln/>
        </p:spPr>
        <p:txBody>
          <a:bodyPr wrap="square" lIns="0" tIns="0" rIns="0" bIns="0" rtlCol="0" anchor="t">
            <a:normAutofit/>
          </a:bodyPr>
          <a:lstStyle/>
          <a:p>
            <a:pPr marL="0" indent="0" algn="l">
              <a:buNone/>
            </a:pPr>
            <a:r>
              <a:rPr lang="en-US" sz="2200" b="1" dirty="0">
                <a:solidFill>
                  <a:srgbClr val="FFFFFF"/>
                </a:solidFill>
                <a:latin typeface="Fira Sans" pitchFamily="34" charset="0"/>
                <a:ea typeface="Fira Sans" pitchFamily="34" charset="-122"/>
                <a:cs typeface="Fira Sans" pitchFamily="34" charset="-120"/>
              </a:rPr>
              <a:t>Three things to take away, one from each task, then the </a:t>
            </a:r>
            <a:r>
              <a:rPr lang="en-US" sz="2200" b="1" dirty="0" smtClean="0">
                <a:solidFill>
                  <a:srgbClr val="FFFFFF"/>
                </a:solidFill>
                <a:latin typeface="Fira Sans" pitchFamily="34" charset="0"/>
                <a:ea typeface="Fira Sans" pitchFamily="34" charset="-122"/>
                <a:cs typeface="Fira Sans" pitchFamily="34" charset="-120"/>
              </a:rPr>
              <a:t>exit quiz </a:t>
            </a:r>
            <a:r>
              <a:rPr lang="en-US" sz="2200" b="1" dirty="0">
                <a:solidFill>
                  <a:srgbClr val="FFFFFF"/>
                </a:solidFill>
                <a:latin typeface="Fira Sans" pitchFamily="34" charset="0"/>
                <a:ea typeface="Fira Sans" pitchFamily="34" charset="-122"/>
                <a:cs typeface="Fira Sans" pitchFamily="34" charset="-120"/>
              </a:rPr>
              <a:t>and feedback</a:t>
            </a:r>
            <a:endParaRPr lang="en-US" sz="2200" dirty="0"/>
          </a:p>
        </p:txBody>
      </p:sp>
      <p:sp>
        <p:nvSpPr>
          <p:cNvPr id="4" name="Text 2"/>
          <p:cNvSpPr txBox="1"/>
          <p:nvPr/>
        </p:nvSpPr>
        <p:spPr>
          <a:xfrm>
            <a:off x="731520" y="1691640"/>
            <a:ext cx="640080" cy="457200"/>
          </a:xfrm>
          <a:prstGeom prst="rect">
            <a:avLst/>
          </a:prstGeom>
          <a:noFill/>
          <a:ln/>
        </p:spPr>
        <p:txBody>
          <a:bodyPr wrap="square" lIns="0" tIns="0" rIns="0" bIns="0" rtlCol="0" anchor="t"/>
          <a:lstStyle/>
          <a:p>
            <a:pPr marL="0" indent="0">
              <a:buNone/>
            </a:pPr>
            <a:r>
              <a:rPr lang="en-US" sz="2200" b="1" dirty="0">
                <a:solidFill>
                  <a:srgbClr val="FCC642"/>
                </a:solidFill>
                <a:latin typeface="Fira Code" pitchFamily="34" charset="0"/>
                <a:ea typeface="Fira Code" pitchFamily="34" charset="-122"/>
                <a:cs typeface="Fira Code" pitchFamily="34" charset="-120"/>
              </a:rPr>
              <a:t>01</a:t>
            </a:r>
            <a:endParaRPr lang="en-US" sz="2200" dirty="0"/>
          </a:p>
        </p:txBody>
      </p:sp>
      <p:sp>
        <p:nvSpPr>
          <p:cNvPr id="5" name="Text 3"/>
          <p:cNvSpPr txBox="1"/>
          <p:nvPr/>
        </p:nvSpPr>
        <p:spPr>
          <a:xfrm>
            <a:off x="1417320" y="1719072"/>
            <a:ext cx="4206240" cy="731520"/>
          </a:xfrm>
          <a:prstGeom prst="rect">
            <a:avLst/>
          </a:prstGeom>
          <a:noFill/>
          <a:ln/>
        </p:spPr>
        <p:txBody>
          <a:bodyPr wrap="square" lIns="0" tIns="0" rIns="0" bIns="0" rtlCol="0" anchor="t"/>
          <a:lstStyle/>
          <a:p>
            <a:pPr marL="0" indent="0">
              <a:buNone/>
            </a:pPr>
            <a:r>
              <a:rPr lang="en-US" sz="1300" dirty="0">
                <a:solidFill>
                  <a:srgbClr val="E7E7E7"/>
                </a:solidFill>
                <a:latin typeface="Fira Sans" pitchFamily="34" charset="0"/>
                <a:ea typeface="Fira Sans" pitchFamily="34" charset="-122"/>
                <a:cs typeface="Fira Sans" pitchFamily="34" charset="-120"/>
              </a:rPr>
              <a:t>Storage moves energy in time; its value depends on what it displaces.</a:t>
            </a:r>
            <a:endParaRPr lang="en-US" sz="1300" dirty="0"/>
          </a:p>
        </p:txBody>
      </p:sp>
      <p:sp>
        <p:nvSpPr>
          <p:cNvPr id="6" name="Text 4"/>
          <p:cNvSpPr txBox="1"/>
          <p:nvPr/>
        </p:nvSpPr>
        <p:spPr>
          <a:xfrm>
            <a:off x="731520" y="2560320"/>
            <a:ext cx="640080" cy="457200"/>
          </a:xfrm>
          <a:prstGeom prst="rect">
            <a:avLst/>
          </a:prstGeom>
          <a:noFill/>
          <a:ln/>
        </p:spPr>
        <p:txBody>
          <a:bodyPr wrap="square" lIns="0" tIns="0" rIns="0" bIns="0" rtlCol="0" anchor="t"/>
          <a:lstStyle/>
          <a:p>
            <a:pPr marL="0" indent="0">
              <a:buNone/>
            </a:pPr>
            <a:r>
              <a:rPr lang="en-US" sz="2200" b="1" dirty="0">
                <a:solidFill>
                  <a:srgbClr val="A5CF27"/>
                </a:solidFill>
                <a:latin typeface="Fira Code" pitchFamily="34" charset="0"/>
                <a:ea typeface="Fira Code" pitchFamily="34" charset="-122"/>
                <a:cs typeface="Fira Code" pitchFamily="34" charset="-120"/>
              </a:rPr>
              <a:t>02</a:t>
            </a:r>
            <a:endParaRPr lang="en-US" sz="2200" dirty="0"/>
          </a:p>
        </p:txBody>
      </p:sp>
      <p:sp>
        <p:nvSpPr>
          <p:cNvPr id="7" name="Text 5"/>
          <p:cNvSpPr txBox="1"/>
          <p:nvPr/>
        </p:nvSpPr>
        <p:spPr>
          <a:xfrm>
            <a:off x="1417320" y="2587752"/>
            <a:ext cx="4206240" cy="731520"/>
          </a:xfrm>
          <a:prstGeom prst="rect">
            <a:avLst/>
          </a:prstGeom>
          <a:noFill/>
          <a:ln/>
        </p:spPr>
        <p:txBody>
          <a:bodyPr wrap="square" lIns="0" tIns="0" rIns="0" bIns="0" rtlCol="0" anchor="t"/>
          <a:lstStyle/>
          <a:p>
            <a:pPr marL="0" indent="0">
              <a:buNone/>
            </a:pPr>
            <a:r>
              <a:rPr lang="en-US" sz="1300" dirty="0">
                <a:solidFill>
                  <a:srgbClr val="E7E7E7"/>
                </a:solidFill>
                <a:latin typeface="Fira Sans" pitchFamily="34" charset="0"/>
                <a:ea typeface="Fira Sans" pitchFamily="34" charset="-122"/>
                <a:cs typeface="Fira Sans" pitchFamily="34" charset="-120"/>
              </a:rPr>
              <a:t>A carbon price raises the clearing price through the unit that sets it; it cuts emissions when it pushes high-carbon units out of the merit order.</a:t>
            </a:r>
            <a:endParaRPr lang="en-US" sz="1300" dirty="0"/>
          </a:p>
        </p:txBody>
      </p:sp>
      <p:sp>
        <p:nvSpPr>
          <p:cNvPr id="8" name="Text 6"/>
          <p:cNvSpPr txBox="1"/>
          <p:nvPr/>
        </p:nvSpPr>
        <p:spPr>
          <a:xfrm>
            <a:off x="731520" y="3429000"/>
            <a:ext cx="640080" cy="457200"/>
          </a:xfrm>
          <a:prstGeom prst="rect">
            <a:avLst/>
          </a:prstGeom>
          <a:noFill/>
          <a:ln/>
        </p:spPr>
        <p:txBody>
          <a:bodyPr wrap="square" lIns="0" tIns="0" rIns="0" bIns="0" rtlCol="0" anchor="t"/>
          <a:lstStyle/>
          <a:p>
            <a:pPr marL="0" indent="0">
              <a:buNone/>
            </a:pPr>
            <a:r>
              <a:rPr lang="en-US" sz="2200" b="1" dirty="0">
                <a:solidFill>
                  <a:srgbClr val="FF5858"/>
                </a:solidFill>
                <a:latin typeface="Fira Code" pitchFamily="34" charset="0"/>
                <a:ea typeface="Fira Code" pitchFamily="34" charset="-122"/>
                <a:cs typeface="Fira Code" pitchFamily="34" charset="-120"/>
              </a:rPr>
              <a:t>03</a:t>
            </a:r>
            <a:endParaRPr lang="en-US" sz="2200" dirty="0"/>
          </a:p>
        </p:txBody>
      </p:sp>
      <p:sp>
        <p:nvSpPr>
          <p:cNvPr id="9" name="Text 7"/>
          <p:cNvSpPr txBox="1"/>
          <p:nvPr/>
        </p:nvSpPr>
        <p:spPr>
          <a:xfrm>
            <a:off x="1417320" y="3456432"/>
            <a:ext cx="4206240" cy="731520"/>
          </a:xfrm>
          <a:prstGeom prst="rect">
            <a:avLst/>
          </a:prstGeom>
          <a:noFill/>
          <a:ln/>
        </p:spPr>
        <p:txBody>
          <a:bodyPr wrap="square" lIns="0" tIns="0" rIns="0" bIns="0" rtlCol="0" anchor="t"/>
          <a:lstStyle/>
          <a:p>
            <a:r>
              <a:rPr lang="en-US" sz="1300" dirty="0" smtClean="0">
                <a:solidFill>
                  <a:srgbClr val="E7E7E7"/>
                </a:solidFill>
                <a:latin typeface="Fira Sans" pitchFamily="34" charset="0"/>
                <a:ea typeface="Fira Sans" pitchFamily="34" charset="-122"/>
                <a:cs typeface="Fira Sans" pitchFamily="34" charset="-120"/>
              </a:rPr>
              <a:t>Check the data before you trust a result: one doubtful month cut the largest solar size from about 200 kWp to 76 kWp.</a:t>
            </a:r>
            <a:endParaRPr lang="en-US" sz="1300" dirty="0"/>
          </a:p>
        </p:txBody>
      </p:sp>
      <p:sp>
        <p:nvSpPr>
          <p:cNvPr id="10" name="QR placeholder"/>
          <p:cNvSpPr/>
          <p:nvPr/>
        </p:nvSpPr>
        <p:spPr>
          <a:xfrm>
            <a:off x="6263640" y="1691640"/>
            <a:ext cx="2286000" cy="2286000"/>
          </a:xfrm>
          <a:prstGeom prst="rect">
            <a:avLst/>
          </a:prstGeom>
          <a:solidFill>
            <a:srgbClr val="16191F"/>
          </a:solidFill>
          <a:ln w="9525">
            <a:solidFill>
              <a:srgbClr val="3E434E"/>
            </a:solidFill>
            <a:prstDash val="dash"/>
          </a:ln>
        </p:spPr>
      </p:sp>
      <p:sp>
        <p:nvSpPr>
          <p:cNvPr id="11" name="Text 9"/>
          <p:cNvSpPr txBox="1"/>
          <p:nvPr/>
        </p:nvSpPr>
        <p:spPr>
          <a:xfrm>
            <a:off x="6263640" y="1691640"/>
            <a:ext cx="2286000" cy="2286000"/>
          </a:xfrm>
          <a:prstGeom prst="rect">
            <a:avLst/>
          </a:prstGeom>
          <a:noFill/>
          <a:ln/>
        </p:spPr>
        <p:txBody>
          <a:bodyPr wrap="square" lIns="0" tIns="0" rIns="0" bIns="0" rtlCol="0" anchor="ctr"/>
          <a:lstStyle/>
          <a:p>
            <a:pPr marL="0" indent="0" algn="ctr">
              <a:buNone/>
            </a:pPr>
            <a:r>
              <a:rPr lang="en-US" sz="1200" dirty="0">
                <a:solidFill>
                  <a:srgbClr val="FF5858"/>
                </a:solidFill>
                <a:latin typeface="Fira Code" pitchFamily="34" charset="0"/>
                <a:ea typeface="Fira Code" pitchFamily="34" charset="-122"/>
                <a:cs typeface="Fira Code" pitchFamily="34" charset="-120"/>
              </a:rPr>
              <a:t>quiz</a:t>
            </a:r>
            <a:r>
              <a:rPr lang="en-US" sz="1200" dirty="0">
                <a:solidFill>
                  <a:srgbClr val="E7E7E7"/>
                </a:solidFill>
                <a:latin typeface="Fira Code" pitchFamily="34" charset="0"/>
                <a:ea typeface="Fira Code" pitchFamily="34" charset="-122"/>
                <a:cs typeface="Fira Code" pitchFamily="34" charset="-120"/>
              </a:rPr>
              <a:t>()</a:t>
            </a:r>
            <a:endParaRPr lang="en-US" sz="1200" dirty="0"/>
          </a:p>
          <a:p>
            <a:pPr marL="0" indent="0" algn="ctr">
              <a:buNone/>
            </a:pPr>
            <a:r>
              <a:rPr lang="en-US" sz="1200" dirty="0">
                <a:solidFill>
                  <a:srgbClr val="707070"/>
                </a:solidFill>
                <a:latin typeface="Fira Code" pitchFamily="34" charset="0"/>
                <a:ea typeface="Fira Code" pitchFamily="34" charset="-122"/>
                <a:cs typeface="Fira Code" pitchFamily="34" charset="-120"/>
              </a:rPr>
              <a:t>[ QR code ]</a:t>
            </a:r>
            <a:endParaRPr lang="en-US" sz="1200" dirty="0"/>
          </a:p>
        </p:txBody>
      </p:sp>
      <p:sp>
        <p:nvSpPr>
          <p:cNvPr id="12" name="Text 10"/>
          <p:cNvSpPr txBox="1"/>
          <p:nvPr/>
        </p:nvSpPr>
        <p:spPr>
          <a:xfrm>
            <a:off x="6263640" y="4041648"/>
            <a:ext cx="2286000" cy="228600"/>
          </a:xfrm>
          <a:prstGeom prst="rect">
            <a:avLst/>
          </a:prstGeom>
          <a:noFill/>
          <a:ln/>
        </p:spPr>
        <p:txBody>
          <a:bodyPr wrap="square" lIns="0" tIns="0" rIns="0" bIns="0" rtlCol="0" anchor="ctr"/>
          <a:lstStyle/>
          <a:p>
            <a:pPr marL="0" indent="0" algn="ctr">
              <a:buNone/>
            </a:pPr>
            <a:r>
              <a:rPr lang="en-US" sz="950" dirty="0">
                <a:solidFill>
                  <a:srgbClr val="A9AFBA"/>
                </a:solidFill>
                <a:latin typeface="Fira Sans" pitchFamily="34" charset="0"/>
                <a:ea typeface="Fira Sans" pitchFamily="34" charset="-122"/>
                <a:cs typeface="Fira Sans" pitchFamily="34" charset="-120"/>
              </a:rPr>
              <a:t>Scan for the quiz and feedback form</a:t>
            </a:r>
            <a:endParaRPr lang="en-US" sz="95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ma14="http://schemas.microsoft.com/office/mac/drawingml/2011/main" xmlns=""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23</a:t>
            </a:fld>
            <a:endParaRPr lang="en-US"/>
          </a:p>
        </p:txBody>
      </p:sp>
      <p:pic>
        <p:nvPicPr>
          <p:cNvPr id="15" name="Picture 14"/>
          <p:cNvPicPr>
            <a:picLocks noChangeAspect="1"/>
          </p:cNvPicPr>
          <p:nvPr/>
        </p:nvPicPr>
        <p:blipFill>
          <a:blip r:embed="rId3"/>
          <a:stretch>
            <a:fillRect/>
          </a:stretch>
        </p:blipFill>
        <p:spPr>
          <a:xfrm>
            <a:off x="6263641" y="1691640"/>
            <a:ext cx="2286000" cy="2286000"/>
          </a:xfrm>
          <a:prstGeom prst="rect">
            <a:avLst/>
          </a:prstGeom>
        </p:spPr>
      </p:pic>
    </p:spTree>
    <p:extLst>
      <p:ext uri="{BB962C8B-B14F-4D97-AF65-F5344CB8AC3E}">
        <p14:creationId xmlns:p14="http://schemas.microsoft.com/office/powerpoint/2010/main" val="11765394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685800" y="548640"/>
            <a:ext cx="3657600" cy="274320"/>
          </a:xfrm>
          <a:prstGeom prst="rect">
            <a:avLst/>
          </a:prstGeom>
          <a:noFill/>
          <a:ln/>
        </p:spPr>
        <p:txBody>
          <a:bodyPr wrap="square" lIns="0" tIns="0" rIns="0" bIns="0" rtlCol="0" anchor="t"/>
          <a:lstStyle/>
          <a:p>
            <a:pPr marL="0" indent="0">
              <a:buNone/>
            </a:pPr>
            <a:r>
              <a:rPr lang="en-US" sz="1100" dirty="0">
                <a:solidFill>
                  <a:srgbClr val="FF5858"/>
                </a:solidFill>
                <a:latin typeface="Fira Code" pitchFamily="34" charset="0"/>
                <a:ea typeface="Fira Code" pitchFamily="34" charset="-122"/>
                <a:cs typeface="Fira Code" pitchFamily="34" charset="-120"/>
              </a:rPr>
              <a:t>next_steps</a:t>
            </a:r>
            <a:r>
              <a:rPr lang="en-US" sz="1100" dirty="0">
                <a:solidFill>
                  <a:srgbClr val="E7E7E7"/>
                </a:solidFill>
                <a:latin typeface="Fira Code" pitchFamily="34" charset="0"/>
                <a:ea typeface="Fira Code" pitchFamily="34" charset="-122"/>
                <a:cs typeface="Fira Code" pitchFamily="34" charset="-120"/>
              </a:rPr>
              <a:t>():</a:t>
            </a:r>
            <a:endParaRPr lang="en-US" sz="1100" dirty="0"/>
          </a:p>
        </p:txBody>
      </p:sp>
      <p:sp>
        <p:nvSpPr>
          <p:cNvPr id="4" name="Text 1"/>
          <p:cNvSpPr txBox="1"/>
          <p:nvPr/>
        </p:nvSpPr>
        <p:spPr>
          <a:xfrm>
            <a:off x="685800" y="868680"/>
            <a:ext cx="4480560" cy="868680"/>
          </a:xfrm>
          <a:prstGeom prst="rect">
            <a:avLst/>
          </a:prstGeom>
          <a:noFill/>
          <a:ln/>
        </p:spPr>
        <p:txBody>
          <a:bodyPr wrap="square" lIns="0" tIns="0" rIns="0" bIns="0" rtlCol="0" anchor="t"/>
          <a:lstStyle/>
          <a:p>
            <a:pPr marL="0" indent="0">
              <a:buNone/>
            </a:pPr>
            <a:r>
              <a:rPr lang="en-US" sz="1900" b="1" dirty="0">
                <a:solidFill>
                  <a:srgbClr val="FFFFFF"/>
                </a:solidFill>
                <a:latin typeface="Fira Sans" pitchFamily="34" charset="0"/>
                <a:ea typeface="Fira Sans" pitchFamily="34" charset="-122"/>
                <a:cs typeface="Fira Sans" pitchFamily="34" charset="-120"/>
              </a:rPr>
              <a:t>You can now build, solve and question a dispatch model. Next, scale it up.</a:t>
            </a:r>
            <a:endParaRPr lang="en-US" sz="1900" dirty="0"/>
          </a:p>
        </p:txBody>
      </p:sp>
      <p:sp>
        <p:nvSpPr>
          <p:cNvPr id="5" name="Shape 2"/>
          <p:cNvSpPr/>
          <p:nvPr/>
        </p:nvSpPr>
        <p:spPr>
          <a:xfrm>
            <a:off x="685800" y="1920240"/>
            <a:ext cx="4846320" cy="1417320"/>
          </a:xfrm>
          <a:prstGeom prst="rect">
            <a:avLst/>
          </a:prstGeom>
          <a:solidFill>
            <a:srgbClr val="16191F"/>
          </a:solidFill>
          <a:ln w="9525">
            <a:solidFill>
              <a:srgbClr val="3E434E"/>
            </a:solidFill>
            <a:prstDash val="solid"/>
          </a:ln>
        </p:spPr>
      </p:sp>
      <p:sp>
        <p:nvSpPr>
          <p:cNvPr id="6" name="Text 3"/>
          <p:cNvSpPr txBox="1"/>
          <p:nvPr/>
        </p:nvSpPr>
        <p:spPr>
          <a:xfrm>
            <a:off x="822960" y="2029968"/>
            <a:ext cx="4572000" cy="1234440"/>
          </a:xfrm>
          <a:prstGeom prst="rect">
            <a:avLst/>
          </a:prstGeom>
          <a:noFill/>
          <a:ln/>
        </p:spPr>
        <p:txBody>
          <a:bodyPr wrap="square" lIns="0" tIns="0" rIns="0" bIns="0" rtlCol="0" anchor="t"/>
          <a:lstStyle/>
          <a:p>
            <a:pPr>
              <a:lnSpc>
                <a:spcPts val="1500"/>
              </a:lnSpc>
            </a:pPr>
            <a:r>
              <a:rPr lang="en-US" sz="900" dirty="0">
                <a:solidFill>
                  <a:schemeClr val="accent2">
                    <a:lumMod val="75000"/>
                  </a:schemeClr>
                </a:solidFill>
                <a:latin typeface="Fira Code" pitchFamily="34" charset="0"/>
                <a:ea typeface="Fira Code" pitchFamily="34" charset="-122"/>
                <a:cs typeface="Fira Code" pitchFamily="34" charset="-120"/>
              </a:rPr>
              <a:t>learn</a:t>
            </a:r>
            <a:r>
              <a:rPr lang="en-US" sz="900" dirty="0">
                <a:solidFill>
                  <a:srgbClr val="72D9F0"/>
                </a:solidFill>
                <a:latin typeface="Fira Code" pitchFamily="34" charset="0"/>
                <a:ea typeface="Fira Code" pitchFamily="34" charset="-122"/>
                <a:cs typeface="Fira Code" pitchFamily="34" charset="-120"/>
              </a:rPr>
              <a:t> = [</a:t>
            </a:r>
          </a:p>
          <a:p>
            <a:pPr>
              <a:lnSpc>
                <a:spcPts val="1500"/>
              </a:lnSpc>
            </a:pPr>
            <a:r>
              <a:rPr lang="en-US" sz="900" dirty="0">
                <a:solidFill>
                  <a:srgbClr val="72D9F0"/>
                </a:solidFill>
                <a:latin typeface="Fira Code" pitchFamily="34" charset="0"/>
                <a:ea typeface="Fira Code" pitchFamily="34" charset="-122"/>
                <a:cs typeface="Fira Code" pitchFamily="34" charset="-120"/>
              </a:rPr>
              <a:t>    'github.com/</a:t>
            </a:r>
            <a:r>
              <a:rPr lang="en-US" sz="900" dirty="0" err="1">
                <a:solidFill>
                  <a:srgbClr val="72D9F0"/>
                </a:solidFill>
                <a:latin typeface="Fira Code" pitchFamily="34" charset="0"/>
                <a:ea typeface="Fira Code" pitchFamily="34" charset="-122"/>
                <a:cs typeface="Fira Code" pitchFamily="34" charset="-120"/>
              </a:rPr>
              <a:t>ammarahmedwafad</a:t>
            </a:r>
            <a:r>
              <a:rPr lang="en-US" sz="900" dirty="0">
                <a:solidFill>
                  <a:srgbClr val="72D9F0"/>
                </a:solidFill>
                <a:latin typeface="Fira Code" pitchFamily="34" charset="0"/>
                <a:ea typeface="Fira Code" pitchFamily="34" charset="-122"/>
                <a:cs typeface="Fira Code" pitchFamily="34" charset="-120"/>
              </a:rPr>
              <a:t>/</a:t>
            </a:r>
            <a:r>
              <a:rPr lang="en-US" sz="900" dirty="0" err="1">
                <a:solidFill>
                  <a:srgbClr val="72D9F0"/>
                </a:solidFill>
                <a:latin typeface="Fira Code" pitchFamily="34" charset="0"/>
                <a:ea typeface="Fira Code" pitchFamily="34" charset="-122"/>
                <a:cs typeface="Fira Code" pitchFamily="34" charset="-120"/>
              </a:rPr>
              <a:t>PyPSA</a:t>
            </a:r>
            <a:r>
              <a:rPr lang="en-US" sz="900" dirty="0">
                <a:solidFill>
                  <a:srgbClr val="72D9F0"/>
                </a:solidFill>
                <a:latin typeface="Fira Code" pitchFamily="34" charset="0"/>
                <a:ea typeface="Fira Code" pitchFamily="34" charset="-122"/>
                <a:cs typeface="Fira Code" pitchFamily="34" charset="-120"/>
              </a:rPr>
              <a:t>-energy-modelling-workshop',</a:t>
            </a:r>
          </a:p>
          <a:p>
            <a:pPr>
              <a:lnSpc>
                <a:spcPts val="1500"/>
              </a:lnSpc>
            </a:pPr>
            <a:r>
              <a:rPr lang="en-US" sz="900" dirty="0">
                <a:solidFill>
                  <a:srgbClr val="72D9F0"/>
                </a:solidFill>
                <a:latin typeface="Fira Code" pitchFamily="34" charset="0"/>
                <a:ea typeface="Fira Code" pitchFamily="34" charset="-122"/>
                <a:cs typeface="Fira Code" pitchFamily="34" charset="-120"/>
              </a:rPr>
              <a:t>    </a:t>
            </a:r>
            <a:r>
              <a:rPr lang="en-US" sz="900" dirty="0">
                <a:solidFill>
                  <a:schemeClr val="accent1"/>
                </a:solidFill>
                <a:latin typeface="Fira Code" pitchFamily="34" charset="0"/>
                <a:ea typeface="Fira Code" pitchFamily="34" charset="-122"/>
                <a:cs typeface="Fira Code" pitchFamily="34" charset="-120"/>
              </a:rPr>
              <a:t>'fneum.github.io/data-science-for-</a:t>
            </a:r>
            <a:r>
              <a:rPr lang="en-US" sz="900" dirty="0" err="1">
                <a:solidFill>
                  <a:schemeClr val="accent1"/>
                </a:solidFill>
                <a:latin typeface="Fira Code" pitchFamily="34" charset="0"/>
                <a:ea typeface="Fira Code" pitchFamily="34" charset="-122"/>
                <a:cs typeface="Fira Code" pitchFamily="34" charset="-120"/>
              </a:rPr>
              <a:t>esm</a:t>
            </a:r>
            <a:r>
              <a:rPr lang="en-US" sz="900" dirty="0">
                <a:solidFill>
                  <a:schemeClr val="accent1"/>
                </a:solidFill>
                <a:latin typeface="Fira Code" pitchFamily="34" charset="0"/>
                <a:ea typeface="Fira Code" pitchFamily="34" charset="-122"/>
                <a:cs typeface="Fira Code" pitchFamily="34" charset="-120"/>
              </a:rPr>
              <a:t>',</a:t>
            </a:r>
          </a:p>
          <a:p>
            <a:pPr>
              <a:lnSpc>
                <a:spcPts val="1500"/>
              </a:lnSpc>
            </a:pPr>
            <a:r>
              <a:rPr lang="en-US" sz="900" dirty="0">
                <a:solidFill>
                  <a:srgbClr val="72D9F0"/>
                </a:solidFill>
                <a:latin typeface="Fira Code" pitchFamily="34" charset="0"/>
                <a:ea typeface="Fira Code" pitchFamily="34" charset="-122"/>
                <a:cs typeface="Fira Code" pitchFamily="34" charset="-120"/>
              </a:rPr>
              <a:t>    </a:t>
            </a:r>
            <a:r>
              <a:rPr lang="en-US" sz="900" dirty="0">
                <a:solidFill>
                  <a:srgbClr val="FFFF00"/>
                </a:solidFill>
                <a:latin typeface="Fira Code" pitchFamily="34" charset="0"/>
                <a:ea typeface="Fira Code" pitchFamily="34" charset="-122"/>
                <a:cs typeface="Fira Code" pitchFamily="34" charset="-120"/>
              </a:rPr>
              <a:t>'docs.pypsa.org',</a:t>
            </a:r>
          </a:p>
          <a:p>
            <a:pPr>
              <a:lnSpc>
                <a:spcPts val="1500"/>
              </a:lnSpc>
            </a:pPr>
            <a:r>
              <a:rPr lang="en-US" sz="900" dirty="0">
                <a:solidFill>
                  <a:srgbClr val="72D9F0"/>
                </a:solidFill>
                <a:latin typeface="Fira Code" pitchFamily="34" charset="0"/>
                <a:ea typeface="Fira Code" pitchFamily="34" charset="-122"/>
                <a:cs typeface="Fira Code" pitchFamily="34" charset="-120"/>
              </a:rPr>
              <a:t>    </a:t>
            </a:r>
            <a:r>
              <a:rPr lang="en-US" sz="900" dirty="0">
                <a:solidFill>
                  <a:srgbClr val="92D050"/>
                </a:solidFill>
                <a:latin typeface="Fira Code" pitchFamily="34" charset="0"/>
                <a:ea typeface="Fira Code" pitchFamily="34" charset="-122"/>
                <a:cs typeface="Fira Code" pitchFamily="34" charset="-120"/>
              </a:rPr>
              <a:t>'github.com/</a:t>
            </a:r>
            <a:r>
              <a:rPr lang="en-US" sz="900" dirty="0" err="1">
                <a:solidFill>
                  <a:srgbClr val="92D050"/>
                </a:solidFill>
                <a:latin typeface="Fira Code" pitchFamily="34" charset="0"/>
                <a:ea typeface="Fira Code" pitchFamily="34" charset="-122"/>
                <a:cs typeface="Fira Code" pitchFamily="34" charset="-120"/>
              </a:rPr>
              <a:t>ammarahmedwafad</a:t>
            </a:r>
            <a:r>
              <a:rPr lang="en-US" sz="900" dirty="0">
                <a:solidFill>
                  <a:srgbClr val="92D050"/>
                </a:solidFill>
                <a:latin typeface="Fira Code" pitchFamily="34" charset="0"/>
                <a:ea typeface="Fira Code" pitchFamily="34" charset="-122"/>
                <a:cs typeface="Fira Code" pitchFamily="34" charset="-120"/>
              </a:rPr>
              <a:t>/</a:t>
            </a:r>
            <a:r>
              <a:rPr lang="en-US" sz="900" dirty="0" err="1">
                <a:solidFill>
                  <a:srgbClr val="92D050"/>
                </a:solidFill>
                <a:latin typeface="Fira Code" pitchFamily="34" charset="0"/>
                <a:ea typeface="Fira Code" pitchFamily="34" charset="-122"/>
                <a:cs typeface="Fira Code" pitchFamily="34" charset="-120"/>
              </a:rPr>
              <a:t>pypsa-img</a:t>
            </a:r>
            <a:r>
              <a:rPr lang="en-US" sz="900" dirty="0">
                <a:solidFill>
                  <a:srgbClr val="92D050"/>
                </a:solidFill>
                <a:latin typeface="Fira Code" pitchFamily="34" charset="0"/>
                <a:ea typeface="Fira Code" pitchFamily="34" charset="-122"/>
                <a:cs typeface="Fira Code" pitchFamily="34" charset="-120"/>
              </a:rPr>
              <a:t>',</a:t>
            </a:r>
          </a:p>
          <a:p>
            <a:pPr>
              <a:lnSpc>
                <a:spcPts val="1500"/>
              </a:lnSpc>
            </a:pPr>
            <a:r>
              <a:rPr lang="en-US" sz="900" dirty="0">
                <a:solidFill>
                  <a:srgbClr val="72D9F0"/>
                </a:solidFill>
                <a:latin typeface="Fira Code" pitchFamily="34" charset="0"/>
                <a:ea typeface="Fira Code" pitchFamily="34" charset="-122"/>
                <a:cs typeface="Fira Code" pitchFamily="34" charset="-120"/>
              </a:rPr>
              <a:t>]</a:t>
            </a:r>
            <a:endParaRPr lang="en-US" sz="900" dirty="0"/>
          </a:p>
        </p:txBody>
      </p:sp>
      <p:sp>
        <p:nvSpPr>
          <p:cNvPr id="7" name="Text 4"/>
          <p:cNvSpPr txBox="1"/>
          <p:nvPr/>
        </p:nvSpPr>
        <p:spPr>
          <a:xfrm>
            <a:off x="685800" y="3520440"/>
            <a:ext cx="4389120" cy="502920"/>
          </a:xfrm>
          <a:prstGeom prst="rect">
            <a:avLst/>
          </a:prstGeom>
          <a:noFill/>
          <a:ln/>
        </p:spPr>
        <p:txBody>
          <a:bodyPr wrap="square" lIns="0" tIns="0" rIns="0" bIns="0" rtlCol="0" anchor="t"/>
          <a:lstStyle/>
          <a:p>
            <a:pPr marL="0" indent="0">
              <a:buNone/>
            </a:pPr>
            <a:r>
              <a:rPr lang="en-US" sz="1100" b="1" dirty="0">
                <a:solidFill>
                  <a:srgbClr val="FFFFFF"/>
                </a:solidFill>
                <a:latin typeface="Fira Sans" pitchFamily="34" charset="0"/>
                <a:ea typeface="Fira Sans" pitchFamily="34" charset="-122"/>
                <a:cs typeface="Fira Sans" pitchFamily="34" charset="-120"/>
              </a:rPr>
              <a:t>Ammar Ahmed Wafad</a:t>
            </a:r>
            <a:endParaRPr lang="en-US" sz="1100" dirty="0"/>
          </a:p>
          <a:p>
            <a:r>
              <a:rPr lang="en-US" sz="1100" dirty="0" smtClean="0">
                <a:solidFill>
                  <a:srgbClr val="A9AFBA"/>
                </a:solidFill>
                <a:latin typeface="Fira Sans" pitchFamily="34" charset="0"/>
                <a:ea typeface="Fira Sans" pitchFamily="34" charset="-122"/>
                <a:cs typeface="Fira Sans" pitchFamily="34" charset="-120"/>
                <a:hlinkClick r:id="rId3"/>
              </a:rPr>
              <a:t>aawafad@nortum.co.uk</a:t>
            </a:r>
            <a:r>
              <a:rPr lang="en-US" sz="1100" dirty="0">
                <a:solidFill>
                  <a:srgbClr val="A9AFBA"/>
                </a:solidFill>
                <a:latin typeface="Fira Sans" pitchFamily="34" charset="0"/>
                <a:ea typeface="Fira Sans" pitchFamily="34" charset="-122"/>
                <a:cs typeface="Fira Sans" pitchFamily="34" charset="-120"/>
              </a:rPr>
              <a:t> </a:t>
            </a:r>
            <a:endParaRPr lang="en-US" sz="1100" dirty="0" smtClean="0">
              <a:solidFill>
                <a:srgbClr val="A9AFBA"/>
              </a:solidFill>
              <a:latin typeface="Fira Sans" pitchFamily="34" charset="0"/>
              <a:ea typeface="Fira Sans" pitchFamily="34" charset="-122"/>
              <a:cs typeface="Fira Sans" pitchFamily="34" charset="-120"/>
            </a:endParaRPr>
          </a:p>
          <a:p>
            <a:r>
              <a:rPr lang="en-GB" sz="1100" dirty="0" smtClean="0">
                <a:hlinkClick r:id="rId4"/>
              </a:rPr>
              <a:t>www.linkedin.com/in/ammar-ahmed-wafad-1921ab7b</a:t>
            </a:r>
            <a:endParaRPr lang="en-GB" sz="1100" dirty="0"/>
          </a:p>
          <a:p>
            <a:pPr marL="0" indent="0">
              <a:buNone/>
            </a:pPr>
            <a:endParaRPr lang="en-US" sz="1100" dirty="0"/>
          </a:p>
        </p:txBody>
      </p:sp>
      <p:sp>
        <p:nvSpPr>
          <p:cNvPr id="25" name="Slide Number Placeholder 0"/>
          <p:cNvSpPr>
            <a:spLocks noGrp="1"/>
          </p:cNvSpPr>
          <p:nvPr>
            <p:ph type="sldNum" sz="quarter" idx="4294967295"/>
          </p:nvPr>
        </p:nvSpPr>
        <p:spPr>
          <a:xfrm>
            <a:off x="8229600" y="4860036"/>
            <a:ext cx="54864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CC642"/>
                </a:solidFill>
                <a:latin typeface="Fira Code"/>
                <a:ea typeface="Fira Code"/>
                <a:cs typeface="Fira Code"/>
              </a:defRPr>
            </a:lvl1pPr>
          </a:lstStyle>
          <a:p>
            <a:pPr algn="r"/>
            <a:fld id="{F7021451-1387-4CA6-816F-3879F97B5CBC}" type="slidenum">
              <a:rPr lang="en-US" b="0"/>
              <a:t>24</a:t>
            </a:fld>
            <a:endParaRPr lang="en-US"/>
          </a:p>
        </p:txBody>
      </p:sp>
      <p:pic>
        <p:nvPicPr>
          <p:cNvPr id="10" name="Google Shape;509;p44"/>
          <p:cNvPicPr preferRelativeResize="0"/>
          <p:nvPr/>
        </p:nvPicPr>
        <p:blipFill rotWithShape="1">
          <a:blip r:embed="rId5">
            <a:alphaModFix/>
          </a:blip>
          <a:srcRect/>
          <a:stretch/>
        </p:blipFill>
        <p:spPr>
          <a:xfrm>
            <a:off x="5632174" y="1516856"/>
            <a:ext cx="2871746" cy="2003584"/>
          </a:xfrm>
          <a:prstGeom prst="rect">
            <a:avLst/>
          </a:prstGeom>
          <a:noFill/>
          <a:ln>
            <a:noFill/>
          </a:ln>
          <a:effectLst>
            <a:outerShdw blurRad="142875" dist="19050" dir="5400000" algn="bl" rotWithShape="0">
              <a:schemeClr val="accent4"/>
            </a:outerShdw>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Energy Editor">
  <a:themeElements>
    <a:clrScheme name="Energy Editor">
      <a:dk1>
        <a:srgbClr val="16191F"/>
      </a:dk1>
      <a:lt1>
        <a:srgbClr val="FFFFFF"/>
      </a:lt1>
      <a:dk2>
        <a:srgbClr val="2E323B"/>
      </a:dk2>
      <a:lt2>
        <a:srgbClr val="E7E7E7"/>
      </a:lt2>
      <a:accent1>
        <a:srgbClr val="FF5858"/>
      </a:accent1>
      <a:accent2>
        <a:srgbClr val="FCC642"/>
      </a:accent2>
      <a:accent3>
        <a:srgbClr val="72D9F0"/>
      </a:accent3>
      <a:accent4>
        <a:srgbClr val="A5CF27"/>
      </a:accent4>
      <a:accent5>
        <a:srgbClr val="DBA0DB"/>
      </a:accent5>
      <a:accent6>
        <a:srgbClr val="707070"/>
      </a:accent6>
      <a:hlink>
        <a:srgbClr val="72D9F0"/>
      </a:hlink>
      <a:folHlink>
        <a:srgbClr val="DBA0DB"/>
      </a:folHlink>
    </a:clrScheme>
    <a:fontScheme name="Energy Editor">
      <a:majorFont>
        <a:latin typeface="Fir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r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5584</Words>
  <Application>Microsoft Office PowerPoint</Application>
  <PresentationFormat>On-screen Show (16:9)</PresentationFormat>
  <Paragraphs>491</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Fira Code</vt:lpstr>
      <vt:lpstr>Fira Sans</vt:lpstr>
      <vt:lpstr>Energy Editor</vt:lpstr>
      <vt:lpstr>PowerPoint Presentation</vt:lpstr>
      <vt:lpstr>Four steps: the ideas, a short practice, three hands-on tasks, then what your results mean</vt:lpstr>
      <vt:lpstr>An energy system model is a simplified, testable description of how energy is supplied and used</vt:lpstr>
      <vt:lpstr>Open-source tools make energy models transparent, reusable and free to learn</vt:lpstr>
      <vt:lpstr>PowerPoint Presentation</vt:lpstr>
      <vt:lpstr>One household year is 8,760 hourly decisions, so scenarios quickly outgrow a spreadsheet</vt:lpstr>
      <vt:lpstr>A PyPSA model follows one pipeline: data, network, optimisation, results</vt:lpstr>
      <vt:lpstr>PowerPoint Presentation</vt:lpstr>
      <vt:lpstr>With PyPSA you can plan, operate and decarbonise energy systems, from one site to a continent</vt:lpstr>
      <vt:lpstr>Ten lines of PyPSA describe a household with solar, battery and grid</vt:lpstr>
      <vt:lpstr>JupyterLab: code, results and notes in one place</vt:lpstr>
      <vt:lpstr>Google Colab: the same notebook in your browser</vt:lpstr>
      <vt:lpstr>A notebook mixes text cells and code cells</vt:lpstr>
      <vt:lpstr>Five pieces of Python are all you need for Task 1</vt:lpstr>
      <vt:lpstr>PowerPoint Presentation</vt:lpstr>
      <vt:lpstr>PowerPoint Presentation</vt:lpstr>
      <vt:lpstr>Record your group's results as you go</vt:lpstr>
      <vt:lpstr>The battery shifts midday solar into the evening peak, cutting grid imports</vt:lpstr>
      <vt:lpstr>PowerPoint Presentation</vt:lpstr>
      <vt:lpstr>An £80/tCO2 carbon price moves coal behind gas and lifts the clearing price</vt:lpstr>
      <vt:lpstr>PowerPoint Presentation</vt:lpstr>
      <vt:lpstr>100 kWp of rooftop solar could supply about a fifth of the building's electricity</vt:lpstr>
      <vt:lpstr>Three things to take away, one from each task, then the exit quiz and feedback</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for Energy System Modelling</dc:title>
  <dc:subject>PptxGenJS Presentation</dc:subject>
  <dc:creator>Ammar Ahmed Wafad</dc:creator>
  <cp:lastModifiedBy>Ammar Ahmed Wafad</cp:lastModifiedBy>
  <cp:revision>49</cp:revision>
  <dcterms:created xsi:type="dcterms:W3CDTF">2026-10-16T21:44:12Z</dcterms:created>
  <dcterms:modified xsi:type="dcterms:W3CDTF">2026-10-22T14:04:48Z</dcterms:modified>
</cp:coreProperties>
</file>